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F431B6D-24E3-4539-B594-0B1759A3433B}"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CA92C4D1-7CD8-42EA-A79C-08E84965A35C}">
      <dgm:prSet/>
      <dgm:spPr/>
      <dgm:t>
        <a:bodyPr/>
        <a:lstStyle/>
        <a:p>
          <a:r>
            <a:rPr lang="en-IN"/>
            <a:t>Python: Primary programming language for data handling, modeling, and scripting.</a:t>
          </a:r>
          <a:endParaRPr lang="en-US"/>
        </a:p>
      </dgm:t>
    </dgm:pt>
    <dgm:pt modelId="{29D8B834-822B-4B6D-A9C0-230213566D00}" type="parTrans" cxnId="{21F20B1D-BA22-4E23-A87B-326EA6323D9E}">
      <dgm:prSet/>
      <dgm:spPr/>
      <dgm:t>
        <a:bodyPr/>
        <a:lstStyle/>
        <a:p>
          <a:endParaRPr lang="en-US"/>
        </a:p>
      </dgm:t>
    </dgm:pt>
    <dgm:pt modelId="{8B809922-0464-4917-B398-9F2C258A33C7}" type="sibTrans" cxnId="{21F20B1D-BA22-4E23-A87B-326EA6323D9E}">
      <dgm:prSet/>
      <dgm:spPr/>
      <dgm:t>
        <a:bodyPr/>
        <a:lstStyle/>
        <a:p>
          <a:endParaRPr lang="en-US"/>
        </a:p>
      </dgm:t>
    </dgm:pt>
    <dgm:pt modelId="{087AE4DD-B0C3-476A-B1E9-020644BFD5E9}">
      <dgm:prSet/>
      <dgm:spPr/>
      <dgm:t>
        <a:bodyPr/>
        <a:lstStyle/>
        <a:p>
          <a:r>
            <a:rPr lang="en-IN"/>
            <a:t>TensorFlow/PyTorch: Deep learning libraries used for building, training, and evaluating the hybrid model.</a:t>
          </a:r>
          <a:endParaRPr lang="en-US"/>
        </a:p>
      </dgm:t>
    </dgm:pt>
    <dgm:pt modelId="{36516B2E-FC1D-4559-9993-A154C63FA69E}" type="parTrans" cxnId="{43D9A201-AF35-4394-BBB0-5D801AC1C03F}">
      <dgm:prSet/>
      <dgm:spPr/>
      <dgm:t>
        <a:bodyPr/>
        <a:lstStyle/>
        <a:p>
          <a:endParaRPr lang="en-US"/>
        </a:p>
      </dgm:t>
    </dgm:pt>
    <dgm:pt modelId="{5F0FAFDF-2EE8-4986-A6D6-9AB76D805357}" type="sibTrans" cxnId="{43D9A201-AF35-4394-BBB0-5D801AC1C03F}">
      <dgm:prSet/>
      <dgm:spPr/>
      <dgm:t>
        <a:bodyPr/>
        <a:lstStyle/>
        <a:p>
          <a:endParaRPr lang="en-US"/>
        </a:p>
      </dgm:t>
    </dgm:pt>
    <dgm:pt modelId="{07A51C7A-0A1C-418D-8C1B-1FE6E573FE2B}">
      <dgm:prSet/>
      <dgm:spPr/>
      <dgm:t>
        <a:bodyPr/>
        <a:lstStyle/>
        <a:p>
          <a:r>
            <a:rPr lang="en-IN"/>
            <a:t>Pandas and NumPy: For efficient data preprocessing, transformation, and analysis.</a:t>
          </a:r>
          <a:endParaRPr lang="en-US"/>
        </a:p>
      </dgm:t>
    </dgm:pt>
    <dgm:pt modelId="{6B47E4C0-8B99-415F-AE19-1845635B5526}" type="parTrans" cxnId="{1F908223-B845-4D42-BFEF-7B3C8EF273BA}">
      <dgm:prSet/>
      <dgm:spPr/>
      <dgm:t>
        <a:bodyPr/>
        <a:lstStyle/>
        <a:p>
          <a:endParaRPr lang="en-US"/>
        </a:p>
      </dgm:t>
    </dgm:pt>
    <dgm:pt modelId="{B5862738-D9F0-4D2A-9B1E-0A515964B959}" type="sibTrans" cxnId="{1F908223-B845-4D42-BFEF-7B3C8EF273BA}">
      <dgm:prSet/>
      <dgm:spPr/>
      <dgm:t>
        <a:bodyPr/>
        <a:lstStyle/>
        <a:p>
          <a:endParaRPr lang="en-US"/>
        </a:p>
      </dgm:t>
    </dgm:pt>
    <dgm:pt modelId="{2C8F2CDB-86F2-4851-B359-EE209607D223}">
      <dgm:prSet/>
      <dgm:spPr/>
      <dgm:t>
        <a:bodyPr/>
        <a:lstStyle/>
        <a:p>
          <a:r>
            <a:rPr lang="en-IN"/>
            <a:t>Yahoo Finance and NewsAPI: For collecting historical stock data and real-time/news sentiment data.</a:t>
          </a:r>
          <a:endParaRPr lang="en-US"/>
        </a:p>
      </dgm:t>
    </dgm:pt>
    <dgm:pt modelId="{42413AA2-D975-49A5-9981-95DADE8A783E}" type="parTrans" cxnId="{4AC8316A-C36B-47AC-9542-BFCF8B575EDD}">
      <dgm:prSet/>
      <dgm:spPr/>
      <dgm:t>
        <a:bodyPr/>
        <a:lstStyle/>
        <a:p>
          <a:endParaRPr lang="en-US"/>
        </a:p>
      </dgm:t>
    </dgm:pt>
    <dgm:pt modelId="{6AA214E6-46CB-43DB-B784-00C37E8BF66F}" type="sibTrans" cxnId="{4AC8316A-C36B-47AC-9542-BFCF8B575EDD}">
      <dgm:prSet/>
      <dgm:spPr/>
      <dgm:t>
        <a:bodyPr/>
        <a:lstStyle/>
        <a:p>
          <a:endParaRPr lang="en-US"/>
        </a:p>
      </dgm:t>
    </dgm:pt>
    <dgm:pt modelId="{056B3ABE-1DC9-4419-9CA3-70C02971A94A}">
      <dgm:prSet/>
      <dgm:spPr/>
      <dgm:t>
        <a:bodyPr/>
        <a:lstStyle/>
        <a:p>
          <a:r>
            <a:rPr lang="en-IN"/>
            <a:t>Matplotlib/Plotly/SHAP: For visualizing model predictions and interpreting feature importance and attention weights.</a:t>
          </a:r>
          <a:endParaRPr lang="en-US"/>
        </a:p>
      </dgm:t>
    </dgm:pt>
    <dgm:pt modelId="{D2A05462-9DA1-47BB-AC7A-82C7AB9D68E5}" type="parTrans" cxnId="{8B065F3E-6EE9-423C-9F3B-162550270462}">
      <dgm:prSet/>
      <dgm:spPr/>
      <dgm:t>
        <a:bodyPr/>
        <a:lstStyle/>
        <a:p>
          <a:endParaRPr lang="en-US"/>
        </a:p>
      </dgm:t>
    </dgm:pt>
    <dgm:pt modelId="{A9C8750B-83C0-47EF-8083-2E51F1C87006}" type="sibTrans" cxnId="{8B065F3E-6EE9-423C-9F3B-162550270462}">
      <dgm:prSet/>
      <dgm:spPr/>
      <dgm:t>
        <a:bodyPr/>
        <a:lstStyle/>
        <a:p>
          <a:endParaRPr lang="en-US"/>
        </a:p>
      </dgm:t>
    </dgm:pt>
    <dgm:pt modelId="{E722D275-6E26-4F9C-95A9-3740B2F84382}" type="pres">
      <dgm:prSet presAssocID="{4F431B6D-24E3-4539-B594-0B1759A3433B}" presName="vert0" presStyleCnt="0">
        <dgm:presLayoutVars>
          <dgm:dir/>
          <dgm:animOne val="branch"/>
          <dgm:animLvl val="lvl"/>
        </dgm:presLayoutVars>
      </dgm:prSet>
      <dgm:spPr/>
    </dgm:pt>
    <dgm:pt modelId="{442D54B8-1B0B-4FC7-97AF-0A51797628BA}" type="pres">
      <dgm:prSet presAssocID="{CA92C4D1-7CD8-42EA-A79C-08E84965A35C}" presName="thickLine" presStyleLbl="alignNode1" presStyleIdx="0" presStyleCnt="5"/>
      <dgm:spPr/>
    </dgm:pt>
    <dgm:pt modelId="{B1942380-20C5-4D09-AB70-85F9AF27BD21}" type="pres">
      <dgm:prSet presAssocID="{CA92C4D1-7CD8-42EA-A79C-08E84965A35C}" presName="horz1" presStyleCnt="0"/>
      <dgm:spPr/>
    </dgm:pt>
    <dgm:pt modelId="{482A68E4-CE1C-4F0D-BFDE-F9DB218E9A99}" type="pres">
      <dgm:prSet presAssocID="{CA92C4D1-7CD8-42EA-A79C-08E84965A35C}" presName="tx1" presStyleLbl="revTx" presStyleIdx="0" presStyleCnt="5"/>
      <dgm:spPr/>
    </dgm:pt>
    <dgm:pt modelId="{DAFB4FF6-EF0C-4E69-B437-DF803AEC9D7A}" type="pres">
      <dgm:prSet presAssocID="{CA92C4D1-7CD8-42EA-A79C-08E84965A35C}" presName="vert1" presStyleCnt="0"/>
      <dgm:spPr/>
    </dgm:pt>
    <dgm:pt modelId="{60406766-14D1-40BB-9DC4-5A8E6C6470FA}" type="pres">
      <dgm:prSet presAssocID="{087AE4DD-B0C3-476A-B1E9-020644BFD5E9}" presName="thickLine" presStyleLbl="alignNode1" presStyleIdx="1" presStyleCnt="5"/>
      <dgm:spPr/>
    </dgm:pt>
    <dgm:pt modelId="{8C730033-CE57-48ED-8743-AE977FA14029}" type="pres">
      <dgm:prSet presAssocID="{087AE4DD-B0C3-476A-B1E9-020644BFD5E9}" presName="horz1" presStyleCnt="0"/>
      <dgm:spPr/>
    </dgm:pt>
    <dgm:pt modelId="{0522FE84-4F49-476E-9FE2-E19E6C27E746}" type="pres">
      <dgm:prSet presAssocID="{087AE4DD-B0C3-476A-B1E9-020644BFD5E9}" presName="tx1" presStyleLbl="revTx" presStyleIdx="1" presStyleCnt="5"/>
      <dgm:spPr/>
    </dgm:pt>
    <dgm:pt modelId="{AE13A5D3-82A8-4F6E-A115-8816D3BBFFCB}" type="pres">
      <dgm:prSet presAssocID="{087AE4DD-B0C3-476A-B1E9-020644BFD5E9}" presName="vert1" presStyleCnt="0"/>
      <dgm:spPr/>
    </dgm:pt>
    <dgm:pt modelId="{6BE1C146-B9EF-463A-BC96-B5D825D961CC}" type="pres">
      <dgm:prSet presAssocID="{07A51C7A-0A1C-418D-8C1B-1FE6E573FE2B}" presName="thickLine" presStyleLbl="alignNode1" presStyleIdx="2" presStyleCnt="5"/>
      <dgm:spPr/>
    </dgm:pt>
    <dgm:pt modelId="{5419E55E-0444-4AE8-98B7-BEBD3754F202}" type="pres">
      <dgm:prSet presAssocID="{07A51C7A-0A1C-418D-8C1B-1FE6E573FE2B}" presName="horz1" presStyleCnt="0"/>
      <dgm:spPr/>
    </dgm:pt>
    <dgm:pt modelId="{25DD1B38-F6BD-4AC8-8DD8-D70349356225}" type="pres">
      <dgm:prSet presAssocID="{07A51C7A-0A1C-418D-8C1B-1FE6E573FE2B}" presName="tx1" presStyleLbl="revTx" presStyleIdx="2" presStyleCnt="5"/>
      <dgm:spPr/>
    </dgm:pt>
    <dgm:pt modelId="{A4A3F37F-98A0-4C4B-81A7-3D8BA7CDCB25}" type="pres">
      <dgm:prSet presAssocID="{07A51C7A-0A1C-418D-8C1B-1FE6E573FE2B}" presName="vert1" presStyleCnt="0"/>
      <dgm:spPr/>
    </dgm:pt>
    <dgm:pt modelId="{2A6761C0-89C0-45C7-99BE-C58E2E65EB46}" type="pres">
      <dgm:prSet presAssocID="{2C8F2CDB-86F2-4851-B359-EE209607D223}" presName="thickLine" presStyleLbl="alignNode1" presStyleIdx="3" presStyleCnt="5"/>
      <dgm:spPr/>
    </dgm:pt>
    <dgm:pt modelId="{8C667F93-7BE9-4FA0-9FA1-41AC62472059}" type="pres">
      <dgm:prSet presAssocID="{2C8F2CDB-86F2-4851-B359-EE209607D223}" presName="horz1" presStyleCnt="0"/>
      <dgm:spPr/>
    </dgm:pt>
    <dgm:pt modelId="{FF3D490E-B134-46B4-B4C5-559DA79B95DF}" type="pres">
      <dgm:prSet presAssocID="{2C8F2CDB-86F2-4851-B359-EE209607D223}" presName="tx1" presStyleLbl="revTx" presStyleIdx="3" presStyleCnt="5"/>
      <dgm:spPr/>
    </dgm:pt>
    <dgm:pt modelId="{7CB46296-3C91-4C33-AB71-BC4E357968BB}" type="pres">
      <dgm:prSet presAssocID="{2C8F2CDB-86F2-4851-B359-EE209607D223}" presName="vert1" presStyleCnt="0"/>
      <dgm:spPr/>
    </dgm:pt>
    <dgm:pt modelId="{FBA592C8-9A0D-439D-B808-99F12D16DD3E}" type="pres">
      <dgm:prSet presAssocID="{056B3ABE-1DC9-4419-9CA3-70C02971A94A}" presName="thickLine" presStyleLbl="alignNode1" presStyleIdx="4" presStyleCnt="5"/>
      <dgm:spPr/>
    </dgm:pt>
    <dgm:pt modelId="{E12508F6-2C2A-440E-B20E-7823F07CFCDC}" type="pres">
      <dgm:prSet presAssocID="{056B3ABE-1DC9-4419-9CA3-70C02971A94A}" presName="horz1" presStyleCnt="0"/>
      <dgm:spPr/>
    </dgm:pt>
    <dgm:pt modelId="{855A1F4F-C5F6-4FED-832C-D76A8B1B1D04}" type="pres">
      <dgm:prSet presAssocID="{056B3ABE-1DC9-4419-9CA3-70C02971A94A}" presName="tx1" presStyleLbl="revTx" presStyleIdx="4" presStyleCnt="5"/>
      <dgm:spPr/>
    </dgm:pt>
    <dgm:pt modelId="{C0CCAAD5-8C45-4DC5-918A-8A50ABF10AAF}" type="pres">
      <dgm:prSet presAssocID="{056B3ABE-1DC9-4419-9CA3-70C02971A94A}" presName="vert1" presStyleCnt="0"/>
      <dgm:spPr/>
    </dgm:pt>
  </dgm:ptLst>
  <dgm:cxnLst>
    <dgm:cxn modelId="{43D9A201-AF35-4394-BBB0-5D801AC1C03F}" srcId="{4F431B6D-24E3-4539-B594-0B1759A3433B}" destId="{087AE4DD-B0C3-476A-B1E9-020644BFD5E9}" srcOrd="1" destOrd="0" parTransId="{36516B2E-FC1D-4559-9993-A154C63FA69E}" sibTransId="{5F0FAFDF-2EE8-4986-A6D6-9AB76D805357}"/>
    <dgm:cxn modelId="{21F20B1D-BA22-4E23-A87B-326EA6323D9E}" srcId="{4F431B6D-24E3-4539-B594-0B1759A3433B}" destId="{CA92C4D1-7CD8-42EA-A79C-08E84965A35C}" srcOrd="0" destOrd="0" parTransId="{29D8B834-822B-4B6D-A9C0-230213566D00}" sibTransId="{8B809922-0464-4917-B398-9F2C258A33C7}"/>
    <dgm:cxn modelId="{1F908223-B845-4D42-BFEF-7B3C8EF273BA}" srcId="{4F431B6D-24E3-4539-B594-0B1759A3433B}" destId="{07A51C7A-0A1C-418D-8C1B-1FE6E573FE2B}" srcOrd="2" destOrd="0" parTransId="{6B47E4C0-8B99-415F-AE19-1845635B5526}" sibTransId="{B5862738-D9F0-4D2A-9B1E-0A515964B959}"/>
    <dgm:cxn modelId="{3758053B-1D97-419A-9F65-F736DBBD1D98}" type="presOf" srcId="{2C8F2CDB-86F2-4851-B359-EE209607D223}" destId="{FF3D490E-B134-46B4-B4C5-559DA79B95DF}" srcOrd="0" destOrd="0" presId="urn:microsoft.com/office/officeart/2008/layout/LinedList"/>
    <dgm:cxn modelId="{8B065F3E-6EE9-423C-9F3B-162550270462}" srcId="{4F431B6D-24E3-4539-B594-0B1759A3433B}" destId="{056B3ABE-1DC9-4419-9CA3-70C02971A94A}" srcOrd="4" destOrd="0" parTransId="{D2A05462-9DA1-47BB-AC7A-82C7AB9D68E5}" sibTransId="{A9C8750B-83C0-47EF-8083-2E51F1C87006}"/>
    <dgm:cxn modelId="{4AC8316A-C36B-47AC-9542-BFCF8B575EDD}" srcId="{4F431B6D-24E3-4539-B594-0B1759A3433B}" destId="{2C8F2CDB-86F2-4851-B359-EE209607D223}" srcOrd="3" destOrd="0" parTransId="{42413AA2-D975-49A5-9981-95DADE8A783E}" sibTransId="{6AA214E6-46CB-43DB-B784-00C37E8BF66F}"/>
    <dgm:cxn modelId="{FD72676A-E4E6-49E8-B5B5-9AB9E75888E2}" type="presOf" srcId="{4F431B6D-24E3-4539-B594-0B1759A3433B}" destId="{E722D275-6E26-4F9C-95A9-3740B2F84382}" srcOrd="0" destOrd="0" presId="urn:microsoft.com/office/officeart/2008/layout/LinedList"/>
    <dgm:cxn modelId="{A2E46773-6081-4961-86E2-D870E0F00947}" type="presOf" srcId="{087AE4DD-B0C3-476A-B1E9-020644BFD5E9}" destId="{0522FE84-4F49-476E-9FE2-E19E6C27E746}" srcOrd="0" destOrd="0" presId="urn:microsoft.com/office/officeart/2008/layout/LinedList"/>
    <dgm:cxn modelId="{BAB5A67A-4896-45D2-A784-FEE6849BBB33}" type="presOf" srcId="{CA92C4D1-7CD8-42EA-A79C-08E84965A35C}" destId="{482A68E4-CE1C-4F0D-BFDE-F9DB218E9A99}" srcOrd="0" destOrd="0" presId="urn:microsoft.com/office/officeart/2008/layout/LinedList"/>
    <dgm:cxn modelId="{8D4F2186-4813-4A0F-A57A-FFF5D0A4B7CB}" type="presOf" srcId="{07A51C7A-0A1C-418D-8C1B-1FE6E573FE2B}" destId="{25DD1B38-F6BD-4AC8-8DD8-D70349356225}" srcOrd="0" destOrd="0" presId="urn:microsoft.com/office/officeart/2008/layout/LinedList"/>
    <dgm:cxn modelId="{AF5DAAFC-841A-45BD-B6A3-2C03EA050DC3}" type="presOf" srcId="{056B3ABE-1DC9-4419-9CA3-70C02971A94A}" destId="{855A1F4F-C5F6-4FED-832C-D76A8B1B1D04}" srcOrd="0" destOrd="0" presId="urn:microsoft.com/office/officeart/2008/layout/LinedList"/>
    <dgm:cxn modelId="{D104106E-A523-4884-8F44-CC4D4FF278CC}" type="presParOf" srcId="{E722D275-6E26-4F9C-95A9-3740B2F84382}" destId="{442D54B8-1B0B-4FC7-97AF-0A51797628BA}" srcOrd="0" destOrd="0" presId="urn:microsoft.com/office/officeart/2008/layout/LinedList"/>
    <dgm:cxn modelId="{850261A8-6C98-44C5-BC3A-2E2A2D04953A}" type="presParOf" srcId="{E722D275-6E26-4F9C-95A9-3740B2F84382}" destId="{B1942380-20C5-4D09-AB70-85F9AF27BD21}" srcOrd="1" destOrd="0" presId="urn:microsoft.com/office/officeart/2008/layout/LinedList"/>
    <dgm:cxn modelId="{F4C5B11F-AA6B-4579-A28A-B2A57C607260}" type="presParOf" srcId="{B1942380-20C5-4D09-AB70-85F9AF27BD21}" destId="{482A68E4-CE1C-4F0D-BFDE-F9DB218E9A99}" srcOrd="0" destOrd="0" presId="urn:microsoft.com/office/officeart/2008/layout/LinedList"/>
    <dgm:cxn modelId="{DD88E88B-F5EC-4F06-9360-3B6BCF40EC48}" type="presParOf" srcId="{B1942380-20C5-4D09-AB70-85F9AF27BD21}" destId="{DAFB4FF6-EF0C-4E69-B437-DF803AEC9D7A}" srcOrd="1" destOrd="0" presId="urn:microsoft.com/office/officeart/2008/layout/LinedList"/>
    <dgm:cxn modelId="{3DD49B05-59C4-4879-8F10-9987916F902C}" type="presParOf" srcId="{E722D275-6E26-4F9C-95A9-3740B2F84382}" destId="{60406766-14D1-40BB-9DC4-5A8E6C6470FA}" srcOrd="2" destOrd="0" presId="urn:microsoft.com/office/officeart/2008/layout/LinedList"/>
    <dgm:cxn modelId="{D08A3265-5B59-47CB-850A-14B258D393A9}" type="presParOf" srcId="{E722D275-6E26-4F9C-95A9-3740B2F84382}" destId="{8C730033-CE57-48ED-8743-AE977FA14029}" srcOrd="3" destOrd="0" presId="urn:microsoft.com/office/officeart/2008/layout/LinedList"/>
    <dgm:cxn modelId="{B3DCC8ED-813B-4910-83B6-5CB2FACD585F}" type="presParOf" srcId="{8C730033-CE57-48ED-8743-AE977FA14029}" destId="{0522FE84-4F49-476E-9FE2-E19E6C27E746}" srcOrd="0" destOrd="0" presId="urn:microsoft.com/office/officeart/2008/layout/LinedList"/>
    <dgm:cxn modelId="{F690D8DB-05D5-462B-A8A2-23E54A5AC47D}" type="presParOf" srcId="{8C730033-CE57-48ED-8743-AE977FA14029}" destId="{AE13A5D3-82A8-4F6E-A115-8816D3BBFFCB}" srcOrd="1" destOrd="0" presId="urn:microsoft.com/office/officeart/2008/layout/LinedList"/>
    <dgm:cxn modelId="{2D52B9C2-326D-4A4B-8688-BF782B16A08C}" type="presParOf" srcId="{E722D275-6E26-4F9C-95A9-3740B2F84382}" destId="{6BE1C146-B9EF-463A-BC96-B5D825D961CC}" srcOrd="4" destOrd="0" presId="urn:microsoft.com/office/officeart/2008/layout/LinedList"/>
    <dgm:cxn modelId="{1F46C27B-22F0-4FCA-ADA2-88FA97AC3BE0}" type="presParOf" srcId="{E722D275-6E26-4F9C-95A9-3740B2F84382}" destId="{5419E55E-0444-4AE8-98B7-BEBD3754F202}" srcOrd="5" destOrd="0" presId="urn:microsoft.com/office/officeart/2008/layout/LinedList"/>
    <dgm:cxn modelId="{B64EB2C6-E074-4B82-997E-857BEEC53B3C}" type="presParOf" srcId="{5419E55E-0444-4AE8-98B7-BEBD3754F202}" destId="{25DD1B38-F6BD-4AC8-8DD8-D70349356225}" srcOrd="0" destOrd="0" presId="urn:microsoft.com/office/officeart/2008/layout/LinedList"/>
    <dgm:cxn modelId="{BA168FDE-BCAE-4F11-9EFC-1C5D64C19D20}" type="presParOf" srcId="{5419E55E-0444-4AE8-98B7-BEBD3754F202}" destId="{A4A3F37F-98A0-4C4B-81A7-3D8BA7CDCB25}" srcOrd="1" destOrd="0" presId="urn:microsoft.com/office/officeart/2008/layout/LinedList"/>
    <dgm:cxn modelId="{3F433D16-FA77-4FC9-9F74-49194C138DFE}" type="presParOf" srcId="{E722D275-6E26-4F9C-95A9-3740B2F84382}" destId="{2A6761C0-89C0-45C7-99BE-C58E2E65EB46}" srcOrd="6" destOrd="0" presId="urn:microsoft.com/office/officeart/2008/layout/LinedList"/>
    <dgm:cxn modelId="{E924E77E-F9A3-4B33-AD06-EA66AC9FA259}" type="presParOf" srcId="{E722D275-6E26-4F9C-95A9-3740B2F84382}" destId="{8C667F93-7BE9-4FA0-9FA1-41AC62472059}" srcOrd="7" destOrd="0" presId="urn:microsoft.com/office/officeart/2008/layout/LinedList"/>
    <dgm:cxn modelId="{FFF87BEF-009E-46BF-B80F-4588078E7BED}" type="presParOf" srcId="{8C667F93-7BE9-4FA0-9FA1-41AC62472059}" destId="{FF3D490E-B134-46B4-B4C5-559DA79B95DF}" srcOrd="0" destOrd="0" presId="urn:microsoft.com/office/officeart/2008/layout/LinedList"/>
    <dgm:cxn modelId="{7ED3B436-87F2-4F27-9D03-D429B9EF4C93}" type="presParOf" srcId="{8C667F93-7BE9-4FA0-9FA1-41AC62472059}" destId="{7CB46296-3C91-4C33-AB71-BC4E357968BB}" srcOrd="1" destOrd="0" presId="urn:microsoft.com/office/officeart/2008/layout/LinedList"/>
    <dgm:cxn modelId="{331EF241-30F8-4079-813B-24853AA4D4F9}" type="presParOf" srcId="{E722D275-6E26-4F9C-95A9-3740B2F84382}" destId="{FBA592C8-9A0D-439D-B808-99F12D16DD3E}" srcOrd="8" destOrd="0" presId="urn:microsoft.com/office/officeart/2008/layout/LinedList"/>
    <dgm:cxn modelId="{C30816DA-4B14-475E-8EA2-E63D302BD5CF}" type="presParOf" srcId="{E722D275-6E26-4F9C-95A9-3740B2F84382}" destId="{E12508F6-2C2A-440E-B20E-7823F07CFCDC}" srcOrd="9" destOrd="0" presId="urn:microsoft.com/office/officeart/2008/layout/LinedList"/>
    <dgm:cxn modelId="{706328D9-5044-40BB-A4E8-743EA82BD9C7}" type="presParOf" srcId="{E12508F6-2C2A-440E-B20E-7823F07CFCDC}" destId="{855A1F4F-C5F6-4FED-832C-D76A8B1B1D04}" srcOrd="0" destOrd="0" presId="urn:microsoft.com/office/officeart/2008/layout/LinedList"/>
    <dgm:cxn modelId="{785DC99E-46B2-4BBE-BF8E-8BDCE4F3D1FA}" type="presParOf" srcId="{E12508F6-2C2A-440E-B20E-7823F07CFCDC}" destId="{C0CCAAD5-8C45-4DC5-918A-8A50ABF10AA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2D54B8-1B0B-4FC7-97AF-0A51797628BA}">
      <dsp:nvSpPr>
        <dsp:cNvPr id="0" name=""/>
        <dsp:cNvSpPr/>
      </dsp:nvSpPr>
      <dsp:spPr>
        <a:xfrm>
          <a:off x="0" y="706"/>
          <a:ext cx="694944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2A68E4-CE1C-4F0D-BFDE-F9DB218E9A99}">
      <dsp:nvSpPr>
        <dsp:cNvPr id="0" name=""/>
        <dsp:cNvSpPr/>
      </dsp:nvSpPr>
      <dsp:spPr>
        <a:xfrm>
          <a:off x="0" y="706"/>
          <a:ext cx="6949440" cy="1157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IN" sz="2300" kern="1200"/>
            <a:t>Python: Primary programming language for data handling, modeling, and scripting.</a:t>
          </a:r>
          <a:endParaRPr lang="en-US" sz="2300" kern="1200"/>
        </a:p>
      </dsp:txBody>
      <dsp:txXfrm>
        <a:off x="0" y="706"/>
        <a:ext cx="6949440" cy="1157045"/>
      </dsp:txXfrm>
    </dsp:sp>
    <dsp:sp modelId="{60406766-14D1-40BB-9DC4-5A8E6C6470FA}">
      <dsp:nvSpPr>
        <dsp:cNvPr id="0" name=""/>
        <dsp:cNvSpPr/>
      </dsp:nvSpPr>
      <dsp:spPr>
        <a:xfrm>
          <a:off x="0" y="1157751"/>
          <a:ext cx="6949440" cy="0"/>
        </a:xfrm>
        <a:prstGeom prst="line">
          <a:avLst/>
        </a:prstGeom>
        <a:solidFill>
          <a:schemeClr val="accent2">
            <a:hueOff val="-260332"/>
            <a:satOff val="-5408"/>
            <a:lumOff val="-1471"/>
            <a:alphaOff val="0"/>
          </a:schemeClr>
        </a:solidFill>
        <a:ln w="12700" cap="flat" cmpd="sng" algn="ctr">
          <a:solidFill>
            <a:schemeClr val="accent2">
              <a:hueOff val="-260332"/>
              <a:satOff val="-5408"/>
              <a:lumOff val="-147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22FE84-4F49-476E-9FE2-E19E6C27E746}">
      <dsp:nvSpPr>
        <dsp:cNvPr id="0" name=""/>
        <dsp:cNvSpPr/>
      </dsp:nvSpPr>
      <dsp:spPr>
        <a:xfrm>
          <a:off x="0" y="1157751"/>
          <a:ext cx="6949440" cy="1157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IN" sz="2300" kern="1200"/>
            <a:t>TensorFlow/PyTorch: Deep learning libraries used for building, training, and evaluating the hybrid model.</a:t>
          </a:r>
          <a:endParaRPr lang="en-US" sz="2300" kern="1200"/>
        </a:p>
      </dsp:txBody>
      <dsp:txXfrm>
        <a:off x="0" y="1157751"/>
        <a:ext cx="6949440" cy="1157045"/>
      </dsp:txXfrm>
    </dsp:sp>
    <dsp:sp modelId="{6BE1C146-B9EF-463A-BC96-B5D825D961CC}">
      <dsp:nvSpPr>
        <dsp:cNvPr id="0" name=""/>
        <dsp:cNvSpPr/>
      </dsp:nvSpPr>
      <dsp:spPr>
        <a:xfrm>
          <a:off x="0" y="2314796"/>
          <a:ext cx="6949440" cy="0"/>
        </a:xfrm>
        <a:prstGeom prst="line">
          <a:avLst/>
        </a:prstGeom>
        <a:solidFill>
          <a:schemeClr val="accent2">
            <a:hueOff val="-520665"/>
            <a:satOff val="-10816"/>
            <a:lumOff val="-2941"/>
            <a:alphaOff val="0"/>
          </a:schemeClr>
        </a:solidFill>
        <a:ln w="12700" cap="flat" cmpd="sng" algn="ctr">
          <a:solidFill>
            <a:schemeClr val="accent2">
              <a:hueOff val="-520665"/>
              <a:satOff val="-10816"/>
              <a:lumOff val="-294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DD1B38-F6BD-4AC8-8DD8-D70349356225}">
      <dsp:nvSpPr>
        <dsp:cNvPr id="0" name=""/>
        <dsp:cNvSpPr/>
      </dsp:nvSpPr>
      <dsp:spPr>
        <a:xfrm>
          <a:off x="0" y="2314796"/>
          <a:ext cx="6949440" cy="1157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IN" sz="2300" kern="1200"/>
            <a:t>Pandas and NumPy: For efficient data preprocessing, transformation, and analysis.</a:t>
          </a:r>
          <a:endParaRPr lang="en-US" sz="2300" kern="1200"/>
        </a:p>
      </dsp:txBody>
      <dsp:txXfrm>
        <a:off x="0" y="2314796"/>
        <a:ext cx="6949440" cy="1157045"/>
      </dsp:txXfrm>
    </dsp:sp>
    <dsp:sp modelId="{2A6761C0-89C0-45C7-99BE-C58E2E65EB46}">
      <dsp:nvSpPr>
        <dsp:cNvPr id="0" name=""/>
        <dsp:cNvSpPr/>
      </dsp:nvSpPr>
      <dsp:spPr>
        <a:xfrm>
          <a:off x="0" y="3471841"/>
          <a:ext cx="6949440" cy="0"/>
        </a:xfrm>
        <a:prstGeom prst="line">
          <a:avLst/>
        </a:prstGeom>
        <a:solidFill>
          <a:schemeClr val="accent2">
            <a:hueOff val="-780997"/>
            <a:satOff val="-16223"/>
            <a:lumOff val="-4412"/>
            <a:alphaOff val="0"/>
          </a:schemeClr>
        </a:solidFill>
        <a:ln w="12700" cap="flat" cmpd="sng" algn="ctr">
          <a:solidFill>
            <a:schemeClr val="accent2">
              <a:hueOff val="-780997"/>
              <a:satOff val="-16223"/>
              <a:lumOff val="-441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3D490E-B134-46B4-B4C5-559DA79B95DF}">
      <dsp:nvSpPr>
        <dsp:cNvPr id="0" name=""/>
        <dsp:cNvSpPr/>
      </dsp:nvSpPr>
      <dsp:spPr>
        <a:xfrm>
          <a:off x="0" y="3471841"/>
          <a:ext cx="6949440" cy="1157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IN" sz="2300" kern="1200"/>
            <a:t>Yahoo Finance and NewsAPI: For collecting historical stock data and real-time/news sentiment data.</a:t>
          </a:r>
          <a:endParaRPr lang="en-US" sz="2300" kern="1200"/>
        </a:p>
      </dsp:txBody>
      <dsp:txXfrm>
        <a:off x="0" y="3471841"/>
        <a:ext cx="6949440" cy="1157045"/>
      </dsp:txXfrm>
    </dsp:sp>
    <dsp:sp modelId="{FBA592C8-9A0D-439D-B808-99F12D16DD3E}">
      <dsp:nvSpPr>
        <dsp:cNvPr id="0" name=""/>
        <dsp:cNvSpPr/>
      </dsp:nvSpPr>
      <dsp:spPr>
        <a:xfrm>
          <a:off x="0" y="4628886"/>
          <a:ext cx="6949440" cy="0"/>
        </a:xfrm>
        <a:prstGeom prst="line">
          <a:avLst/>
        </a:prstGeom>
        <a:solidFill>
          <a:schemeClr val="accent2">
            <a:hueOff val="-1041329"/>
            <a:satOff val="-21631"/>
            <a:lumOff val="-5882"/>
            <a:alphaOff val="0"/>
          </a:schemeClr>
        </a:solidFill>
        <a:ln w="12700" cap="flat" cmpd="sng" algn="ctr">
          <a:solidFill>
            <a:schemeClr val="accent2">
              <a:hueOff val="-1041329"/>
              <a:satOff val="-21631"/>
              <a:lumOff val="-588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5A1F4F-C5F6-4FED-832C-D76A8B1B1D04}">
      <dsp:nvSpPr>
        <dsp:cNvPr id="0" name=""/>
        <dsp:cNvSpPr/>
      </dsp:nvSpPr>
      <dsp:spPr>
        <a:xfrm>
          <a:off x="0" y="4628886"/>
          <a:ext cx="6949440" cy="1157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IN" sz="2300" kern="1200"/>
            <a:t>Matplotlib/Plotly/SHAP: For visualizing model predictions and interpreting feature importance and attention weights.</a:t>
          </a:r>
          <a:endParaRPr lang="en-US" sz="2300" kern="1200"/>
        </a:p>
      </dsp:txBody>
      <dsp:txXfrm>
        <a:off x="0" y="4628886"/>
        <a:ext cx="6949440" cy="115704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10/11/2025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08910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10/11/2025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45040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10/11/2025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02458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10/11/2025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43946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10/11/2025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59288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10/11/2025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51097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10/11/2025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08439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10/11/2025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47742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10/11/2025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41042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10/11/2025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22044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10/11/2025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73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10/11/2025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68251575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8ED822-04BB-3FC8-BDFB-EC3925469C78}"/>
              </a:ext>
            </a:extLst>
          </p:cNvPr>
          <p:cNvSpPr>
            <a:spLocks noGrp="1"/>
          </p:cNvSpPr>
          <p:nvPr>
            <p:ph type="ctrTitle"/>
          </p:nvPr>
        </p:nvSpPr>
        <p:spPr>
          <a:xfrm>
            <a:off x="5568534" y="603504"/>
            <a:ext cx="5916169" cy="1527048"/>
          </a:xfrm>
        </p:spPr>
        <p:txBody>
          <a:bodyPr vert="horz" lIns="91440" tIns="45720" rIns="91440" bIns="45720" rtlCol="0" anchor="b">
            <a:normAutofit/>
          </a:bodyPr>
          <a:lstStyle/>
          <a:p>
            <a:pPr algn="l"/>
            <a:r>
              <a:rPr lang="en-US" sz="2500" b="1" kern="1200" dirty="0">
                <a:solidFill>
                  <a:schemeClr val="tx1"/>
                </a:solidFill>
                <a:latin typeface="+mj-lt"/>
                <a:ea typeface="+mj-ea"/>
                <a:cs typeface="+mj-cs"/>
              </a:rPr>
              <a:t>Enhancing Stock Market Prediction Using Multimodal Deep Learning and Explainable AI</a:t>
            </a:r>
          </a:p>
        </p:txBody>
      </p:sp>
      <p:pic>
        <p:nvPicPr>
          <p:cNvPr id="4" name="Picture 3" descr="Hand on a tablet with digital signs">
            <a:extLst>
              <a:ext uri="{FF2B5EF4-FFF2-40B4-BE49-F238E27FC236}">
                <a16:creationId xmlns:a16="http://schemas.microsoft.com/office/drawing/2014/main" id="{9B609FA7-3EFB-F762-00B3-0B7931AB925E}"/>
              </a:ext>
            </a:extLst>
          </p:cNvPr>
          <p:cNvPicPr>
            <a:picLocks noChangeAspect="1"/>
          </p:cNvPicPr>
          <p:nvPr/>
        </p:nvPicPr>
        <p:blipFill>
          <a:blip r:embed="rId2"/>
          <a:srcRect l="47598" r="4608" b="-1"/>
          <a:stretch>
            <a:fillRect/>
          </a:stretch>
        </p:blipFill>
        <p:spPr>
          <a:xfrm>
            <a:off x="20" y="10"/>
            <a:ext cx="4910308" cy="6857990"/>
          </a:xfrm>
          <a:prstGeom prst="rect">
            <a:avLst/>
          </a:prstGeom>
        </p:spPr>
      </p:pic>
      <p:sp>
        <p:nvSpPr>
          <p:cNvPr id="3" name="Subtitle 2">
            <a:extLst>
              <a:ext uri="{FF2B5EF4-FFF2-40B4-BE49-F238E27FC236}">
                <a16:creationId xmlns:a16="http://schemas.microsoft.com/office/drawing/2014/main" id="{CDF4348B-E0CF-DF88-9EC5-18D01A80746C}"/>
              </a:ext>
            </a:extLst>
          </p:cNvPr>
          <p:cNvSpPr>
            <a:spLocks noGrp="1"/>
          </p:cNvSpPr>
          <p:nvPr>
            <p:ph type="subTitle" idx="1"/>
          </p:nvPr>
        </p:nvSpPr>
        <p:spPr>
          <a:xfrm>
            <a:off x="5568533" y="2214282"/>
            <a:ext cx="5916169" cy="4095078"/>
          </a:xfrm>
        </p:spPr>
        <p:txBody>
          <a:bodyPr vert="horz" lIns="91440" tIns="45720" rIns="91440" bIns="45720" rtlCol="0">
            <a:normAutofit/>
          </a:bodyPr>
          <a:lstStyle/>
          <a:p>
            <a:pPr indent="-228600" algn="l">
              <a:buFont typeface="Arial" panose="020B0604020202020204" pitchFamily="34" charset="0"/>
              <a:buChar char="•"/>
            </a:pPr>
            <a:r>
              <a:rPr lang="en-US" dirty="0"/>
              <a:t>Internal Guide : Ms. </a:t>
            </a:r>
            <a:r>
              <a:rPr lang="en-US" dirty="0" err="1"/>
              <a:t>Soume</a:t>
            </a:r>
            <a:r>
              <a:rPr lang="en-US" dirty="0"/>
              <a:t> Sanyal</a:t>
            </a:r>
          </a:p>
          <a:p>
            <a:pPr indent="-228600" algn="l">
              <a:buFont typeface="Arial" panose="020B0604020202020204" pitchFamily="34" charset="0"/>
              <a:buChar char="•"/>
            </a:pPr>
            <a:r>
              <a:rPr lang="en-US" dirty="0"/>
              <a:t>Team No: C14</a:t>
            </a:r>
          </a:p>
          <a:p>
            <a:pPr indent="-228600" algn="l">
              <a:buFont typeface="Arial" panose="020B0604020202020204" pitchFamily="34" charset="0"/>
              <a:buChar char="•"/>
            </a:pPr>
            <a:r>
              <a:rPr lang="en-US" dirty="0"/>
              <a:t>Students: Anish Grandhe – 1602-22-737-133</a:t>
            </a:r>
          </a:p>
          <a:p>
            <a:pPr algn="l"/>
            <a:r>
              <a:rPr lang="en-US" dirty="0"/>
              <a:t>                     Karthik </a:t>
            </a:r>
            <a:r>
              <a:rPr lang="en-US" dirty="0" err="1"/>
              <a:t>Peetela</a:t>
            </a:r>
            <a:r>
              <a:rPr lang="en-US" dirty="0"/>
              <a:t> – 1602-22-737-317</a:t>
            </a:r>
          </a:p>
        </p:txBody>
      </p:sp>
    </p:spTree>
    <p:extLst>
      <p:ext uri="{BB962C8B-B14F-4D97-AF65-F5344CB8AC3E}">
        <p14:creationId xmlns:p14="http://schemas.microsoft.com/office/powerpoint/2010/main" val="4218902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F98E38-A7C7-D6A7-1E99-20A5D689DAE5}"/>
              </a:ext>
            </a:extLst>
          </p:cNvPr>
          <p:cNvSpPr>
            <a:spLocks noGrp="1"/>
          </p:cNvSpPr>
          <p:nvPr>
            <p:ph type="title"/>
          </p:nvPr>
        </p:nvSpPr>
        <p:spPr>
          <a:xfrm>
            <a:off x="612648" y="600074"/>
            <a:ext cx="6035040" cy="1529932"/>
          </a:xfrm>
        </p:spPr>
        <p:txBody>
          <a:bodyPr anchor="b">
            <a:normAutofit/>
          </a:bodyPr>
          <a:lstStyle/>
          <a:p>
            <a:r>
              <a:rPr lang="en-IN" b="0" dirty="0"/>
              <a:t>Problem Statement</a:t>
            </a:r>
            <a:br>
              <a:rPr lang="en-IN" b="0" dirty="0"/>
            </a:br>
            <a:endParaRPr lang="en-IN" dirty="0"/>
          </a:p>
        </p:txBody>
      </p:sp>
      <p:sp>
        <p:nvSpPr>
          <p:cNvPr id="3" name="Content Placeholder 2">
            <a:extLst>
              <a:ext uri="{FF2B5EF4-FFF2-40B4-BE49-F238E27FC236}">
                <a16:creationId xmlns:a16="http://schemas.microsoft.com/office/drawing/2014/main" id="{3BBF7C5E-624E-19AE-CFB2-7E5714E81F42}"/>
              </a:ext>
            </a:extLst>
          </p:cNvPr>
          <p:cNvSpPr>
            <a:spLocks noGrp="1"/>
          </p:cNvSpPr>
          <p:nvPr>
            <p:ph idx="1"/>
          </p:nvPr>
        </p:nvSpPr>
        <p:spPr>
          <a:xfrm>
            <a:off x="612647" y="2212848"/>
            <a:ext cx="6035041" cy="4096512"/>
          </a:xfrm>
        </p:spPr>
        <p:txBody>
          <a:bodyPr>
            <a:normAutofit/>
          </a:bodyPr>
          <a:lstStyle/>
          <a:p>
            <a:r>
              <a:rPr lang="en-US" sz="1700"/>
              <a:t>Predicting the stock market is one of the most demanding tasks in financial analytics due to the constant fluctuations and influence of a wide variety of factors. Standard models struggle to make sense of diverse data like prices, trading volumes, and external news events, which all interact to affect asset values.</a:t>
            </a:r>
          </a:p>
          <a:p>
            <a:r>
              <a:rPr lang="en-US" sz="1700"/>
              <a:t>Furthermore, existing approaches are often opaque, unable to show why a particular prediction was made or how the system responded to new information. This lack of clarity and adaptability makes it difficult for investors and regulators to trust or audit these models.</a:t>
            </a:r>
          </a:p>
          <a:p>
            <a:endParaRPr lang="en-IN" sz="1700"/>
          </a:p>
        </p:txBody>
      </p:sp>
      <p:pic>
        <p:nvPicPr>
          <p:cNvPr id="5" name="Picture 4" descr="Digital financial graph">
            <a:extLst>
              <a:ext uri="{FF2B5EF4-FFF2-40B4-BE49-F238E27FC236}">
                <a16:creationId xmlns:a16="http://schemas.microsoft.com/office/drawing/2014/main" id="{02AD03F1-EC2F-7A75-D633-42A32E3C5986}"/>
              </a:ext>
            </a:extLst>
          </p:cNvPr>
          <p:cNvPicPr>
            <a:picLocks noChangeAspect="1"/>
          </p:cNvPicPr>
          <p:nvPr/>
        </p:nvPicPr>
        <p:blipFill>
          <a:blip r:embed="rId2"/>
          <a:srcRect l="37768" r="22482"/>
          <a:stretch>
            <a:fillRect/>
          </a:stretch>
        </p:blipFill>
        <p:spPr>
          <a:xfrm>
            <a:off x="7345680" y="10"/>
            <a:ext cx="4846320" cy="6857990"/>
          </a:xfrm>
          <a:prstGeom prst="rect">
            <a:avLst/>
          </a:prstGeom>
        </p:spPr>
      </p:pic>
    </p:spTree>
    <p:extLst>
      <p:ext uri="{BB962C8B-B14F-4D97-AF65-F5344CB8AC3E}">
        <p14:creationId xmlns:p14="http://schemas.microsoft.com/office/powerpoint/2010/main" val="3877823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7A9788-2C27-EE36-1177-C6B9A1EDC894}"/>
              </a:ext>
            </a:extLst>
          </p:cNvPr>
          <p:cNvSpPr>
            <a:spLocks noGrp="1"/>
          </p:cNvSpPr>
          <p:nvPr>
            <p:ph type="title"/>
          </p:nvPr>
        </p:nvSpPr>
        <p:spPr>
          <a:xfrm>
            <a:off x="612648" y="600074"/>
            <a:ext cx="6035040" cy="1529932"/>
          </a:xfrm>
        </p:spPr>
        <p:txBody>
          <a:bodyPr anchor="b">
            <a:normAutofit/>
          </a:bodyPr>
          <a:lstStyle/>
          <a:p>
            <a:r>
              <a:rPr lang="en-IN" b="0" dirty="0"/>
              <a:t> Motivation </a:t>
            </a:r>
            <a:endParaRPr lang="en-IN" dirty="0"/>
          </a:p>
        </p:txBody>
      </p:sp>
      <p:sp>
        <p:nvSpPr>
          <p:cNvPr id="3" name="Content Placeholder 2">
            <a:extLst>
              <a:ext uri="{FF2B5EF4-FFF2-40B4-BE49-F238E27FC236}">
                <a16:creationId xmlns:a16="http://schemas.microsoft.com/office/drawing/2014/main" id="{6CD588B6-38F2-8396-3433-CA0A4C96CAF4}"/>
              </a:ext>
            </a:extLst>
          </p:cNvPr>
          <p:cNvSpPr>
            <a:spLocks noGrp="1"/>
          </p:cNvSpPr>
          <p:nvPr>
            <p:ph idx="1"/>
          </p:nvPr>
        </p:nvSpPr>
        <p:spPr>
          <a:xfrm>
            <a:off x="612647" y="2212848"/>
            <a:ext cx="6035041" cy="4096512"/>
          </a:xfrm>
        </p:spPr>
        <p:txBody>
          <a:bodyPr>
            <a:normAutofit/>
          </a:bodyPr>
          <a:lstStyle/>
          <a:p>
            <a:r>
              <a:rPr lang="en-US" sz="1700"/>
              <a:t>A truly effective prediction system could help investors anticipate major market moves, minimize risks, and respond more intelligently to ongoing changes. Such a tool would transform strategy and decision-making at all levels, from individual traders to regulatory authorities.</a:t>
            </a:r>
          </a:p>
          <a:p>
            <a:r>
              <a:rPr lang="en-US" sz="1700"/>
              <a:t>Despite powerful advances in artificial intelligence, there is still no widely deployed solution that can blend heterogeneous data sources, adapt to new markets, and produce transparent forecasts. Solving these challenges would mean a major leap forward for both financial research and real-world investment practice.</a:t>
            </a:r>
          </a:p>
          <a:p>
            <a:endParaRPr lang="en-IN" sz="1700"/>
          </a:p>
        </p:txBody>
      </p:sp>
      <p:pic>
        <p:nvPicPr>
          <p:cNvPr id="5" name="Picture 4" descr="Digital graphs and numbers in 3D">
            <a:extLst>
              <a:ext uri="{FF2B5EF4-FFF2-40B4-BE49-F238E27FC236}">
                <a16:creationId xmlns:a16="http://schemas.microsoft.com/office/drawing/2014/main" id="{875362E6-582A-920D-2AC8-16D0542F58B3}"/>
              </a:ext>
            </a:extLst>
          </p:cNvPr>
          <p:cNvPicPr>
            <a:picLocks noChangeAspect="1"/>
          </p:cNvPicPr>
          <p:nvPr/>
        </p:nvPicPr>
        <p:blipFill>
          <a:blip r:embed="rId2"/>
          <a:srcRect l="30935" r="21895"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3552031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65F7F7-2FCE-8F01-53DE-15C39342B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8CA0E5-EFB2-1CD4-C0BE-7B93A915F5BA}"/>
              </a:ext>
            </a:extLst>
          </p:cNvPr>
          <p:cNvSpPr>
            <a:spLocks noGrp="1"/>
          </p:cNvSpPr>
          <p:nvPr>
            <p:ph type="title"/>
          </p:nvPr>
        </p:nvSpPr>
        <p:spPr>
          <a:xfrm>
            <a:off x="1731821" y="501345"/>
            <a:ext cx="8728364" cy="689279"/>
          </a:xfrm>
        </p:spPr>
        <p:txBody>
          <a:bodyPr vert="horz" lIns="91440" tIns="45720" rIns="91440" bIns="45720" rtlCol="0" anchor="b">
            <a:normAutofit/>
          </a:bodyPr>
          <a:lstStyle/>
          <a:p>
            <a:pPr algn="ctr"/>
            <a:r>
              <a:rPr lang="en-US" dirty="0"/>
              <a:t>Literature Survey </a:t>
            </a:r>
          </a:p>
        </p:txBody>
      </p:sp>
      <p:graphicFrame>
        <p:nvGraphicFramePr>
          <p:cNvPr id="4" name="Content Placeholder 3">
            <a:extLst>
              <a:ext uri="{FF2B5EF4-FFF2-40B4-BE49-F238E27FC236}">
                <a16:creationId xmlns:a16="http://schemas.microsoft.com/office/drawing/2014/main" id="{74B5BF74-C47C-6EA8-F25F-41784EF4BDE6}"/>
              </a:ext>
            </a:extLst>
          </p:cNvPr>
          <p:cNvGraphicFramePr>
            <a:graphicFrameLocks noGrp="1"/>
          </p:cNvGraphicFramePr>
          <p:nvPr>
            <p:ph idx="1"/>
            <p:extLst>
              <p:ext uri="{D42A27DB-BD31-4B8C-83A1-F6EECF244321}">
                <p14:modId xmlns:p14="http://schemas.microsoft.com/office/powerpoint/2010/main" val="3875176108"/>
              </p:ext>
            </p:extLst>
          </p:nvPr>
        </p:nvGraphicFramePr>
        <p:xfrm>
          <a:off x="1994916" y="2170428"/>
          <a:ext cx="8202170" cy="3980399"/>
        </p:xfrm>
        <a:graphic>
          <a:graphicData uri="http://schemas.openxmlformats.org/drawingml/2006/table">
            <a:tbl>
              <a:tblPr firstRow="1" bandRow="1">
                <a:noFill/>
              </a:tblPr>
              <a:tblGrid>
                <a:gridCol w="2676859">
                  <a:extLst>
                    <a:ext uri="{9D8B030D-6E8A-4147-A177-3AD203B41FA5}">
                      <a16:colId xmlns:a16="http://schemas.microsoft.com/office/drawing/2014/main" val="1301427679"/>
                    </a:ext>
                  </a:extLst>
                </a:gridCol>
                <a:gridCol w="2752360">
                  <a:extLst>
                    <a:ext uri="{9D8B030D-6E8A-4147-A177-3AD203B41FA5}">
                      <a16:colId xmlns:a16="http://schemas.microsoft.com/office/drawing/2014/main" val="3984371021"/>
                    </a:ext>
                  </a:extLst>
                </a:gridCol>
                <a:gridCol w="2772951">
                  <a:extLst>
                    <a:ext uri="{9D8B030D-6E8A-4147-A177-3AD203B41FA5}">
                      <a16:colId xmlns:a16="http://schemas.microsoft.com/office/drawing/2014/main" val="751281170"/>
                    </a:ext>
                  </a:extLst>
                </a:gridCol>
              </a:tblGrid>
              <a:tr h="467833">
                <a:tc>
                  <a:txBody>
                    <a:bodyPr/>
                    <a:lstStyle/>
                    <a:p>
                      <a:pPr algn="l">
                        <a:buNone/>
                      </a:pPr>
                      <a:r>
                        <a:rPr lang="en-IN" sz="1700" b="0" cap="none" spc="60">
                          <a:solidFill>
                            <a:schemeClr val="bg1"/>
                          </a:solidFill>
                          <a:effectLst/>
                        </a:rPr>
                        <a:t>Model/Paper</a:t>
                      </a:r>
                    </a:p>
                  </a:txBody>
                  <a:tcPr marL="65892" marR="65892" marT="98838" marB="65892" anchor="ctr">
                    <a:lnL w="12700" cmpd="sng">
                      <a:noFill/>
                    </a:lnL>
                    <a:lnR w="12700" cmpd="sng">
                      <a:noFill/>
                    </a:lnR>
                    <a:lnT w="19050" cap="flat" cmpd="sng" algn="ctr">
                      <a:noFill/>
                      <a:prstDash val="solid"/>
                    </a:lnT>
                    <a:lnB w="38100" cmpd="sng">
                      <a:noFill/>
                    </a:lnB>
                    <a:solidFill>
                      <a:schemeClr val="accent1"/>
                    </a:solidFill>
                  </a:tcPr>
                </a:tc>
                <a:tc>
                  <a:txBody>
                    <a:bodyPr/>
                    <a:lstStyle/>
                    <a:p>
                      <a:pPr algn="l">
                        <a:buNone/>
                      </a:pPr>
                      <a:r>
                        <a:rPr lang="en-IN" sz="1700" b="0" cap="none" spc="60">
                          <a:solidFill>
                            <a:schemeClr val="bg1"/>
                          </a:solidFill>
                          <a:effectLst/>
                        </a:rPr>
                        <a:t>Contribution</a:t>
                      </a:r>
                    </a:p>
                  </a:txBody>
                  <a:tcPr marL="65892" marR="65892" marT="98838" marB="65892" anchor="ctr">
                    <a:lnL w="12700" cmpd="sng">
                      <a:noFill/>
                    </a:lnL>
                    <a:lnR w="12700" cmpd="sng">
                      <a:noFill/>
                    </a:lnR>
                    <a:lnT w="19050" cap="flat" cmpd="sng" algn="ctr">
                      <a:noFill/>
                      <a:prstDash val="solid"/>
                    </a:lnT>
                    <a:lnB w="38100" cmpd="sng">
                      <a:noFill/>
                    </a:lnB>
                    <a:solidFill>
                      <a:schemeClr val="accent1"/>
                    </a:solidFill>
                  </a:tcPr>
                </a:tc>
                <a:tc>
                  <a:txBody>
                    <a:bodyPr/>
                    <a:lstStyle/>
                    <a:p>
                      <a:pPr algn="l">
                        <a:buNone/>
                      </a:pPr>
                      <a:r>
                        <a:rPr lang="en-IN" sz="1700" b="0" cap="none" spc="60">
                          <a:solidFill>
                            <a:schemeClr val="bg1"/>
                          </a:solidFill>
                          <a:effectLst/>
                        </a:rPr>
                        <a:t>Limitation</a:t>
                      </a:r>
                    </a:p>
                  </a:txBody>
                  <a:tcPr marL="65892" marR="65892" marT="98838" marB="65892"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869242843"/>
                  </a:ext>
                </a:extLst>
              </a:tr>
              <a:tr h="665509">
                <a:tc>
                  <a:txBody>
                    <a:bodyPr/>
                    <a:lstStyle/>
                    <a:p>
                      <a:pPr algn="l">
                        <a:buNone/>
                      </a:pPr>
                      <a:r>
                        <a:rPr lang="en-IN" sz="1500" cap="none" spc="0">
                          <a:solidFill>
                            <a:schemeClr val="tx1"/>
                          </a:solidFill>
                          <a:effectLst/>
                        </a:rPr>
                        <a:t>Hybrid Multi-View SVM</a:t>
                      </a:r>
                    </a:p>
                  </a:txBody>
                  <a:tcPr marL="65892" marR="65892" marT="98838" marB="65892" anchor="ctr">
                    <a:lnL w="12700" cmpd="sng">
                      <a:noFill/>
                      <a:prstDash val="solid"/>
                    </a:lnL>
                    <a:lnR w="12700" cmpd="sng">
                      <a:noFill/>
                      <a:prstDash val="solid"/>
                    </a:lnR>
                    <a:lnT w="38100" cmpd="sng">
                      <a:noFill/>
                    </a:lnT>
                    <a:lnB w="12700" cap="flat" cmpd="sng" algn="ctr">
                      <a:noFill/>
                      <a:prstDash val="solid"/>
                    </a:lnB>
                    <a:noFill/>
                  </a:tcPr>
                </a:tc>
                <a:tc>
                  <a:txBody>
                    <a:bodyPr/>
                    <a:lstStyle/>
                    <a:p>
                      <a:pPr algn="l">
                        <a:buNone/>
                      </a:pPr>
                      <a:r>
                        <a:rPr lang="en-US" sz="1500" cap="none" spc="0">
                          <a:solidFill>
                            <a:schemeClr val="tx1"/>
                          </a:solidFill>
                          <a:effectLst/>
                        </a:rPr>
                        <a:t>Fuses market and news data for better information richness</a:t>
                      </a:r>
                    </a:p>
                  </a:txBody>
                  <a:tcPr marL="65892" marR="65892" marT="98838" marB="65892" anchor="ctr">
                    <a:lnL w="12700" cmpd="sng">
                      <a:noFill/>
                      <a:prstDash val="solid"/>
                    </a:lnL>
                    <a:lnR w="12700" cmpd="sng">
                      <a:noFill/>
                      <a:prstDash val="solid"/>
                    </a:lnR>
                    <a:lnT w="38100" cmpd="sng">
                      <a:noFill/>
                    </a:lnT>
                    <a:lnB w="12700" cap="flat" cmpd="sng" algn="ctr">
                      <a:noFill/>
                      <a:prstDash val="solid"/>
                    </a:lnB>
                    <a:noFill/>
                  </a:tcPr>
                </a:tc>
                <a:tc>
                  <a:txBody>
                    <a:bodyPr/>
                    <a:lstStyle/>
                    <a:p>
                      <a:pPr algn="l">
                        <a:buNone/>
                      </a:pPr>
                      <a:r>
                        <a:rPr lang="en-US" sz="1500" cap="none" spc="0">
                          <a:solidFill>
                            <a:schemeClr val="tx1"/>
                          </a:solidFill>
                          <a:effectLst/>
                        </a:rPr>
                        <a:t>Relies on linear methods only</a:t>
                      </a:r>
                    </a:p>
                  </a:txBody>
                  <a:tcPr marL="65892" marR="65892" marT="98838" marB="65892" anchor="ctr">
                    <a:lnL w="12700" cmpd="sng">
                      <a:noFill/>
                      <a:prstDash val="solid"/>
                    </a:lnL>
                    <a:lnR w="12700" cmpd="sng">
                      <a:noFill/>
                      <a:prstDash val="solid"/>
                    </a:lnR>
                    <a:lnT w="38100" cmpd="sng">
                      <a:noFill/>
                    </a:lnT>
                    <a:lnB w="12700" cap="flat" cmpd="sng" algn="ctr">
                      <a:noFill/>
                      <a:prstDash val="solid"/>
                    </a:lnB>
                    <a:noFill/>
                  </a:tcPr>
                </a:tc>
                <a:extLst>
                  <a:ext uri="{0D108BD9-81ED-4DB2-BD59-A6C34878D82A}">
                    <a16:rowId xmlns:a16="http://schemas.microsoft.com/office/drawing/2014/main" val="2742966565"/>
                  </a:ext>
                </a:extLst>
              </a:tr>
              <a:tr h="665509">
                <a:tc>
                  <a:txBody>
                    <a:bodyPr/>
                    <a:lstStyle/>
                    <a:p>
                      <a:pPr algn="l">
                        <a:buNone/>
                      </a:pPr>
                      <a:r>
                        <a:rPr lang="en-IN" sz="1500" cap="none" spc="0">
                          <a:solidFill>
                            <a:schemeClr val="tx1"/>
                          </a:solidFill>
                          <a:effectLst/>
                        </a:rPr>
                        <a:t>Robust LSTM-DNN</a:t>
                      </a:r>
                    </a:p>
                  </a:txBody>
                  <a:tcPr marL="65892" marR="65892" marT="98838" marB="6589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a:buNone/>
                      </a:pPr>
                      <a:r>
                        <a:rPr lang="en-US" sz="1500" cap="none" spc="0">
                          <a:solidFill>
                            <a:schemeClr val="tx1"/>
                          </a:solidFill>
                          <a:effectLst/>
                        </a:rPr>
                        <a:t>Hybrid deep learning tested on many stocks</a:t>
                      </a:r>
                    </a:p>
                  </a:txBody>
                  <a:tcPr marL="65892" marR="65892" marT="98838" marB="6589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a:buNone/>
                      </a:pPr>
                      <a:r>
                        <a:rPr lang="en-IN" sz="1500" cap="none" spc="0">
                          <a:solidFill>
                            <a:schemeClr val="tx1"/>
                          </a:solidFill>
                          <a:effectLst/>
                        </a:rPr>
                        <a:t>Weak generalization strategies</a:t>
                      </a:r>
                    </a:p>
                  </a:txBody>
                  <a:tcPr marL="65892" marR="65892" marT="98838" marB="6589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77341367"/>
                  </a:ext>
                </a:extLst>
              </a:tr>
              <a:tr h="665509">
                <a:tc>
                  <a:txBody>
                    <a:bodyPr/>
                    <a:lstStyle/>
                    <a:p>
                      <a:pPr algn="l">
                        <a:buNone/>
                      </a:pPr>
                      <a:r>
                        <a:rPr lang="en-IN" sz="1500" cap="none" spc="0">
                          <a:solidFill>
                            <a:schemeClr val="tx1"/>
                          </a:solidFill>
                          <a:effectLst/>
                        </a:rPr>
                        <a:t>CNN-BiLSTM-Attention</a:t>
                      </a:r>
                    </a:p>
                  </a:txBody>
                  <a:tcPr marL="65892" marR="65892" marT="98838" marB="65892"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a:buNone/>
                      </a:pPr>
                      <a:r>
                        <a:rPr lang="en-IN" sz="1500" cap="none" spc="0">
                          <a:solidFill>
                            <a:schemeClr val="tx1"/>
                          </a:solidFill>
                          <a:effectLst/>
                        </a:rPr>
                        <a:t>Uses attention for interpretability</a:t>
                      </a:r>
                    </a:p>
                  </a:txBody>
                  <a:tcPr marL="65892" marR="65892" marT="98838" marB="65892"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a:buNone/>
                      </a:pPr>
                      <a:r>
                        <a:rPr lang="en-IN" sz="1500" cap="none" spc="0">
                          <a:solidFill>
                            <a:schemeClr val="tx1"/>
                          </a:solidFill>
                          <a:effectLst/>
                        </a:rPr>
                        <a:t>Limited source integration</a:t>
                      </a:r>
                    </a:p>
                  </a:txBody>
                  <a:tcPr marL="65892" marR="65892" marT="98838" marB="65892"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4258772075"/>
                  </a:ext>
                </a:extLst>
              </a:tr>
              <a:tr h="665509">
                <a:tc>
                  <a:txBody>
                    <a:bodyPr/>
                    <a:lstStyle/>
                    <a:p>
                      <a:pPr algn="l">
                        <a:buNone/>
                      </a:pPr>
                      <a:r>
                        <a:rPr lang="en-IN" sz="1500" cap="none" spc="0">
                          <a:solidFill>
                            <a:schemeClr val="tx1"/>
                          </a:solidFill>
                          <a:effectLst/>
                        </a:rPr>
                        <a:t>HDLFE Feature Engineering</a:t>
                      </a:r>
                    </a:p>
                  </a:txBody>
                  <a:tcPr marL="65892" marR="65892" marT="98838" marB="6589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a:buNone/>
                      </a:pPr>
                      <a:r>
                        <a:rPr lang="en-US" sz="1500" cap="none" spc="0">
                          <a:solidFill>
                            <a:schemeClr val="tx1"/>
                          </a:solidFill>
                          <a:effectLst/>
                        </a:rPr>
                        <a:t>Integrates handcrafted and deep features</a:t>
                      </a:r>
                    </a:p>
                  </a:txBody>
                  <a:tcPr marL="65892" marR="65892" marT="98838" marB="6589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a:buNone/>
                      </a:pPr>
                      <a:r>
                        <a:rPr lang="en-IN" sz="1500" cap="none" spc="0">
                          <a:solidFill>
                            <a:schemeClr val="tx1"/>
                          </a:solidFill>
                          <a:effectLst/>
                        </a:rPr>
                        <a:t>Overfits with noisy data</a:t>
                      </a:r>
                    </a:p>
                  </a:txBody>
                  <a:tcPr marL="65892" marR="65892" marT="98838" marB="65892"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895719067"/>
                  </a:ext>
                </a:extLst>
              </a:tr>
              <a:tr h="665509">
                <a:tc>
                  <a:txBody>
                    <a:bodyPr/>
                    <a:lstStyle/>
                    <a:p>
                      <a:pPr algn="l">
                        <a:buNone/>
                      </a:pPr>
                      <a:r>
                        <a:rPr lang="en-IN" sz="1500" cap="none" spc="0">
                          <a:solidFill>
                            <a:schemeClr val="tx1"/>
                          </a:solidFill>
                          <a:effectLst/>
                        </a:rPr>
                        <a:t>RNN Sentiment Fusion</a:t>
                      </a:r>
                    </a:p>
                  </a:txBody>
                  <a:tcPr marL="65892" marR="65892" marT="98838" marB="65892"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a:buNone/>
                      </a:pPr>
                      <a:r>
                        <a:rPr lang="en-US" sz="1500" cap="none" spc="0">
                          <a:solidFill>
                            <a:schemeClr val="tx1"/>
                          </a:solidFill>
                          <a:effectLst/>
                        </a:rPr>
                        <a:t>Uses multiple news providers for prediction</a:t>
                      </a:r>
                    </a:p>
                  </a:txBody>
                  <a:tcPr marL="65892" marR="65892" marT="98838" marB="65892"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a:buNone/>
                      </a:pPr>
                      <a:r>
                        <a:rPr lang="en-US" sz="1500" cap="none" spc="0">
                          <a:solidFill>
                            <a:schemeClr val="tx1"/>
                          </a:solidFill>
                          <a:effectLst/>
                        </a:rPr>
                        <a:t>Not validated in real time</a:t>
                      </a:r>
                    </a:p>
                  </a:txBody>
                  <a:tcPr marL="65892" marR="65892" marT="98838" marB="6589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344900399"/>
                  </a:ext>
                </a:extLst>
              </a:tr>
            </a:tbl>
          </a:graphicData>
        </a:graphic>
      </p:graphicFrame>
    </p:spTree>
    <p:extLst>
      <p:ext uri="{BB962C8B-B14F-4D97-AF65-F5344CB8AC3E}">
        <p14:creationId xmlns:p14="http://schemas.microsoft.com/office/powerpoint/2010/main" val="226652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DFD07C-E27E-2ABE-DF8F-4D919356F8C3}"/>
              </a:ext>
            </a:extLst>
          </p:cNvPr>
          <p:cNvSpPr>
            <a:spLocks noGrp="1"/>
          </p:cNvSpPr>
          <p:nvPr>
            <p:ph type="title"/>
          </p:nvPr>
        </p:nvSpPr>
        <p:spPr>
          <a:xfrm>
            <a:off x="612648" y="600074"/>
            <a:ext cx="6035040" cy="1529932"/>
          </a:xfrm>
        </p:spPr>
        <p:txBody>
          <a:bodyPr anchor="b">
            <a:normAutofit/>
          </a:bodyPr>
          <a:lstStyle/>
          <a:p>
            <a:r>
              <a:rPr lang="en-IN" sz="3300" b="0"/>
              <a:t>Justification and Significance</a:t>
            </a:r>
            <a:br>
              <a:rPr lang="en-IN" sz="3300" b="0"/>
            </a:br>
            <a:endParaRPr lang="en-IN" sz="3300"/>
          </a:p>
        </p:txBody>
      </p:sp>
      <p:sp>
        <p:nvSpPr>
          <p:cNvPr id="3" name="Content Placeholder 2">
            <a:extLst>
              <a:ext uri="{FF2B5EF4-FFF2-40B4-BE49-F238E27FC236}">
                <a16:creationId xmlns:a16="http://schemas.microsoft.com/office/drawing/2014/main" id="{BFA70EC9-6B74-9967-0DFD-AA66E5C75B68}"/>
              </a:ext>
            </a:extLst>
          </p:cNvPr>
          <p:cNvSpPr>
            <a:spLocks noGrp="1"/>
          </p:cNvSpPr>
          <p:nvPr>
            <p:ph idx="1"/>
          </p:nvPr>
        </p:nvSpPr>
        <p:spPr>
          <a:xfrm>
            <a:off x="612647" y="2212848"/>
            <a:ext cx="6035041" cy="4096512"/>
          </a:xfrm>
        </p:spPr>
        <p:txBody>
          <a:bodyPr>
            <a:normAutofit/>
          </a:bodyPr>
          <a:lstStyle/>
          <a:p>
            <a:pPr>
              <a:lnSpc>
                <a:spcPct val="110000"/>
              </a:lnSpc>
            </a:pPr>
            <a:r>
              <a:rPr lang="en-US" sz="1400"/>
              <a:t>The proposed research is justified by the persistent limitations in existing stock market prediction models, which often fail to integrate the varied influences of market data and external information such as news sentiment. By developing a framework that can systematically fuse heterogeneous data streams, this work addresses a core gap in financial machine learning and sets the foundation for more accurate and context-aware predictions.​</a:t>
            </a:r>
          </a:p>
          <a:p>
            <a:pPr>
              <a:lnSpc>
                <a:spcPct val="110000"/>
              </a:lnSpc>
            </a:pPr>
            <a:r>
              <a:rPr lang="en-US" sz="1400"/>
              <a:t>Significantly, the model advances the field by prioritizing interpretability and transparency, making each prediction explainable and accountable—qualities crucial for investor trust and regulatory compliance. Its enhanced ability to generalize across different markets and adapt to new situations ensures practical value in real-world trading environments. By establishing rigorous benchmarking and open evalution practices, this work aims to set new standards for fairness, reproducibility, and ethical deployment in financial AI.</a:t>
            </a:r>
          </a:p>
          <a:p>
            <a:pPr>
              <a:lnSpc>
                <a:spcPct val="110000"/>
              </a:lnSpc>
            </a:pPr>
            <a:endParaRPr lang="en-IN" sz="1400"/>
          </a:p>
        </p:txBody>
      </p:sp>
      <p:pic>
        <p:nvPicPr>
          <p:cNvPr id="5" name="Picture 4" descr="Magnifying glass showing decling performance">
            <a:extLst>
              <a:ext uri="{FF2B5EF4-FFF2-40B4-BE49-F238E27FC236}">
                <a16:creationId xmlns:a16="http://schemas.microsoft.com/office/drawing/2014/main" id="{A818ED8D-7BCF-FEF3-C58B-22B16512680D}"/>
              </a:ext>
            </a:extLst>
          </p:cNvPr>
          <p:cNvPicPr>
            <a:picLocks noChangeAspect="1"/>
          </p:cNvPicPr>
          <p:nvPr/>
        </p:nvPicPr>
        <p:blipFill>
          <a:blip r:embed="rId2"/>
          <a:srcRect l="19855" r="32975"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1559571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2DB0D9-81CE-CEED-AF07-5BF442B1ABE6}"/>
              </a:ext>
            </a:extLst>
          </p:cNvPr>
          <p:cNvSpPr>
            <a:spLocks noGrp="1"/>
          </p:cNvSpPr>
          <p:nvPr>
            <p:ph type="title"/>
          </p:nvPr>
        </p:nvSpPr>
        <p:spPr>
          <a:xfrm>
            <a:off x="612648" y="600074"/>
            <a:ext cx="6035040" cy="1529932"/>
          </a:xfrm>
        </p:spPr>
        <p:txBody>
          <a:bodyPr anchor="b">
            <a:normAutofit/>
          </a:bodyPr>
          <a:lstStyle/>
          <a:p>
            <a:r>
              <a:rPr lang="en-IN" sz="3300" b="0" dirty="0"/>
              <a:t>Research Gaps Stock Market</a:t>
            </a:r>
            <a:br>
              <a:rPr lang="en-IN" sz="3300" b="0" dirty="0"/>
            </a:br>
            <a:endParaRPr lang="en-IN" sz="3300" dirty="0"/>
          </a:p>
        </p:txBody>
      </p:sp>
      <p:sp>
        <p:nvSpPr>
          <p:cNvPr id="3" name="Content Placeholder 2">
            <a:extLst>
              <a:ext uri="{FF2B5EF4-FFF2-40B4-BE49-F238E27FC236}">
                <a16:creationId xmlns:a16="http://schemas.microsoft.com/office/drawing/2014/main" id="{10D9FC2C-1FB1-3DF3-0749-19802E558240}"/>
              </a:ext>
            </a:extLst>
          </p:cNvPr>
          <p:cNvSpPr>
            <a:spLocks noGrp="1"/>
          </p:cNvSpPr>
          <p:nvPr>
            <p:ph idx="1"/>
          </p:nvPr>
        </p:nvSpPr>
        <p:spPr>
          <a:xfrm>
            <a:off x="612647" y="2212848"/>
            <a:ext cx="6035041" cy="4096512"/>
          </a:xfrm>
        </p:spPr>
        <p:txBody>
          <a:bodyPr>
            <a:normAutofit/>
          </a:bodyPr>
          <a:lstStyle/>
          <a:p>
            <a:pPr>
              <a:lnSpc>
                <a:spcPct val="110000"/>
              </a:lnSpc>
            </a:pPr>
            <a:r>
              <a:rPr lang="en-US" sz="1800"/>
              <a:t>Despite advances in deep learning, key gaps remain. Current models lack effective integration of heterogeneous data, limiting their predictive power. Many operate as black boxes with poor interpretability. They often fail to generalize across different markets or adapt to new financial environments. Ethical considerations and benchmarking standards are seldom addressed, restricting real-world trust and adoption.</a:t>
            </a:r>
          </a:p>
          <a:p>
            <a:pPr>
              <a:lnSpc>
                <a:spcPct val="110000"/>
              </a:lnSpc>
            </a:pPr>
            <a:r>
              <a:rPr lang="en-US" sz="1800"/>
              <a:t>Addressing these gaps is vital for progressing from theoretical models to practical, transparent, and reliable stock market forecasting tools.</a:t>
            </a:r>
          </a:p>
          <a:p>
            <a:pPr>
              <a:lnSpc>
                <a:spcPct val="110000"/>
              </a:lnSpc>
            </a:pPr>
            <a:endParaRPr lang="en-IN" sz="1800"/>
          </a:p>
        </p:txBody>
      </p:sp>
      <p:pic>
        <p:nvPicPr>
          <p:cNvPr id="5" name="Picture 4" descr="Digital graph of stock market">
            <a:extLst>
              <a:ext uri="{FF2B5EF4-FFF2-40B4-BE49-F238E27FC236}">
                <a16:creationId xmlns:a16="http://schemas.microsoft.com/office/drawing/2014/main" id="{336A2F4A-9F7A-B23D-39E9-6550984ECBC6}"/>
              </a:ext>
            </a:extLst>
          </p:cNvPr>
          <p:cNvPicPr>
            <a:picLocks noChangeAspect="1"/>
          </p:cNvPicPr>
          <p:nvPr/>
        </p:nvPicPr>
        <p:blipFill>
          <a:blip r:embed="rId2"/>
          <a:srcRect l="15889" r="31111"/>
          <a:stretch>
            <a:fillRect/>
          </a:stretch>
        </p:blipFill>
        <p:spPr>
          <a:xfrm>
            <a:off x="7345680" y="10"/>
            <a:ext cx="4846320" cy="6857990"/>
          </a:xfrm>
          <a:prstGeom prst="rect">
            <a:avLst/>
          </a:prstGeom>
        </p:spPr>
      </p:pic>
    </p:spTree>
    <p:extLst>
      <p:ext uri="{BB962C8B-B14F-4D97-AF65-F5344CB8AC3E}">
        <p14:creationId xmlns:p14="http://schemas.microsoft.com/office/powerpoint/2010/main" val="2168872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20420A-1BC6-A4B0-0990-D59FE83ABA75}"/>
              </a:ext>
            </a:extLst>
          </p:cNvPr>
          <p:cNvSpPr>
            <a:spLocks noGrp="1"/>
          </p:cNvSpPr>
          <p:nvPr>
            <p:ph type="title"/>
          </p:nvPr>
        </p:nvSpPr>
        <p:spPr>
          <a:xfrm>
            <a:off x="612648" y="600074"/>
            <a:ext cx="6035040" cy="1529932"/>
          </a:xfrm>
        </p:spPr>
        <p:txBody>
          <a:bodyPr anchor="b">
            <a:normAutofit/>
          </a:bodyPr>
          <a:lstStyle/>
          <a:p>
            <a:r>
              <a:rPr lang="en-IN" dirty="0"/>
              <a:t>Outline of Proposed Solution </a:t>
            </a:r>
          </a:p>
        </p:txBody>
      </p:sp>
      <p:sp>
        <p:nvSpPr>
          <p:cNvPr id="3" name="Content Placeholder 2">
            <a:extLst>
              <a:ext uri="{FF2B5EF4-FFF2-40B4-BE49-F238E27FC236}">
                <a16:creationId xmlns:a16="http://schemas.microsoft.com/office/drawing/2014/main" id="{5FFF69EF-BAF6-0935-46F1-39C4937C5408}"/>
              </a:ext>
            </a:extLst>
          </p:cNvPr>
          <p:cNvSpPr>
            <a:spLocks noGrp="1"/>
          </p:cNvSpPr>
          <p:nvPr>
            <p:ph idx="1"/>
          </p:nvPr>
        </p:nvSpPr>
        <p:spPr>
          <a:xfrm>
            <a:off x="612647" y="2212848"/>
            <a:ext cx="6035041" cy="4096512"/>
          </a:xfrm>
        </p:spPr>
        <p:txBody>
          <a:bodyPr>
            <a:normAutofit/>
          </a:bodyPr>
          <a:lstStyle/>
          <a:p>
            <a:pPr>
              <a:lnSpc>
                <a:spcPct val="110000"/>
              </a:lnSpc>
            </a:pPr>
            <a:r>
              <a:rPr lang="en-US" sz="1500"/>
              <a:t>Objective 1: Design a multimodal data integration pipeline that collects, preprocesses, and fuses stock prices, technical indicators, and news sentiment, enabling comprehensive feature extraction for robust prediction.</a:t>
            </a:r>
          </a:p>
          <a:p>
            <a:pPr>
              <a:lnSpc>
                <a:spcPct val="110000"/>
              </a:lnSpc>
            </a:pPr>
            <a:r>
              <a:rPr lang="en-US" sz="1500"/>
              <a:t>Objective 2: Develop a hybrid neural network model—combining CNN, BiLSTM, and attention layers—that adaptively captures short-term and long-term market trends, learns from diverse data, and produces transparent, interpretable predictions.</a:t>
            </a:r>
          </a:p>
          <a:p>
            <a:pPr>
              <a:lnSpc>
                <a:spcPct val="110000"/>
              </a:lnSpc>
            </a:pPr>
            <a:r>
              <a:rPr lang="en-US" sz="1500"/>
              <a:t>Objective 3: Implement built-in benchmarking, explainability, and compliance modules to assess model performance across multiple markets while supporting fairness audits and regulatory reporting.</a:t>
            </a:r>
          </a:p>
          <a:p>
            <a:pPr>
              <a:lnSpc>
                <a:spcPct val="110000"/>
              </a:lnSpc>
            </a:pPr>
            <a:endParaRPr lang="en-IN" sz="1500"/>
          </a:p>
        </p:txBody>
      </p:sp>
      <p:pic>
        <p:nvPicPr>
          <p:cNvPr id="5" name="Picture 4" descr="Graph">
            <a:extLst>
              <a:ext uri="{FF2B5EF4-FFF2-40B4-BE49-F238E27FC236}">
                <a16:creationId xmlns:a16="http://schemas.microsoft.com/office/drawing/2014/main" id="{92A611F9-F451-00F4-051F-45AC44252CD9}"/>
              </a:ext>
            </a:extLst>
          </p:cNvPr>
          <p:cNvPicPr>
            <a:picLocks noChangeAspect="1"/>
          </p:cNvPicPr>
          <p:nvPr/>
        </p:nvPicPr>
        <p:blipFill>
          <a:blip r:embed="rId2"/>
          <a:srcRect l="22284" r="33550"/>
          <a:stretch>
            <a:fillRect/>
          </a:stretch>
        </p:blipFill>
        <p:spPr>
          <a:xfrm>
            <a:off x="7345680" y="10"/>
            <a:ext cx="4846320" cy="6857990"/>
          </a:xfrm>
          <a:prstGeom prst="rect">
            <a:avLst/>
          </a:prstGeom>
        </p:spPr>
      </p:pic>
    </p:spTree>
    <p:extLst>
      <p:ext uri="{BB962C8B-B14F-4D97-AF65-F5344CB8AC3E}">
        <p14:creationId xmlns:p14="http://schemas.microsoft.com/office/powerpoint/2010/main" val="1189229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749D35-D042-DB0A-B069-F1E88F3A542B}"/>
              </a:ext>
            </a:extLst>
          </p:cNvPr>
          <p:cNvSpPr>
            <a:spLocks noGrp="1"/>
          </p:cNvSpPr>
          <p:nvPr>
            <p:ph type="title"/>
          </p:nvPr>
        </p:nvSpPr>
        <p:spPr>
          <a:xfrm>
            <a:off x="612648" y="600074"/>
            <a:ext cx="6035040" cy="1529932"/>
          </a:xfrm>
        </p:spPr>
        <p:txBody>
          <a:bodyPr anchor="b">
            <a:normAutofit/>
          </a:bodyPr>
          <a:lstStyle/>
          <a:p>
            <a:r>
              <a:rPr lang="en-IN" dirty="0"/>
              <a:t>Dataset Plan</a:t>
            </a:r>
          </a:p>
        </p:txBody>
      </p:sp>
      <p:sp>
        <p:nvSpPr>
          <p:cNvPr id="3" name="Content Placeholder 2">
            <a:extLst>
              <a:ext uri="{FF2B5EF4-FFF2-40B4-BE49-F238E27FC236}">
                <a16:creationId xmlns:a16="http://schemas.microsoft.com/office/drawing/2014/main" id="{A6D869FE-717E-406B-0AEC-316042B4F407}"/>
              </a:ext>
            </a:extLst>
          </p:cNvPr>
          <p:cNvSpPr>
            <a:spLocks noGrp="1"/>
          </p:cNvSpPr>
          <p:nvPr>
            <p:ph idx="1"/>
          </p:nvPr>
        </p:nvSpPr>
        <p:spPr>
          <a:xfrm>
            <a:off x="612647" y="2212848"/>
            <a:ext cx="6035041" cy="4096512"/>
          </a:xfrm>
        </p:spPr>
        <p:txBody>
          <a:bodyPr>
            <a:normAutofit/>
          </a:bodyPr>
          <a:lstStyle/>
          <a:p>
            <a:r>
              <a:rPr lang="en-US" sz="1800"/>
              <a:t>Historical stock data and technical indicators will be sourced from public APIs (such as Yahoo Finance and Alpha Vantage) for leading indices and major stocks. News sentiment data will be accessed using free or academic-access news APIs.</a:t>
            </a:r>
          </a:p>
          <a:p>
            <a:r>
              <a:rPr lang="en-US" sz="1800"/>
              <a:t>The plan is to synchronize all datasets by trading date, preprocess them for missing values and outliers, and merge into a unified format suitable for time-series analysis and model training. This approach ensures diverse, high-quality data for robust model development and evaluation.</a:t>
            </a:r>
          </a:p>
          <a:p>
            <a:endParaRPr lang="en-IN" sz="1800"/>
          </a:p>
        </p:txBody>
      </p:sp>
      <p:pic>
        <p:nvPicPr>
          <p:cNvPr id="5" name="Picture 4" descr="Digital financial graph">
            <a:extLst>
              <a:ext uri="{FF2B5EF4-FFF2-40B4-BE49-F238E27FC236}">
                <a16:creationId xmlns:a16="http://schemas.microsoft.com/office/drawing/2014/main" id="{437A8DF0-1D04-17D6-C268-B933CA939C30}"/>
              </a:ext>
            </a:extLst>
          </p:cNvPr>
          <p:cNvPicPr>
            <a:picLocks noChangeAspect="1"/>
          </p:cNvPicPr>
          <p:nvPr/>
        </p:nvPicPr>
        <p:blipFill>
          <a:blip r:embed="rId2"/>
          <a:srcRect l="37768" r="22482"/>
          <a:stretch>
            <a:fillRect/>
          </a:stretch>
        </p:blipFill>
        <p:spPr>
          <a:xfrm>
            <a:off x="7345680" y="10"/>
            <a:ext cx="4846320" cy="6857990"/>
          </a:xfrm>
          <a:prstGeom prst="rect">
            <a:avLst/>
          </a:prstGeom>
        </p:spPr>
      </p:pic>
    </p:spTree>
    <p:extLst>
      <p:ext uri="{BB962C8B-B14F-4D97-AF65-F5344CB8AC3E}">
        <p14:creationId xmlns:p14="http://schemas.microsoft.com/office/powerpoint/2010/main" val="173395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AF5779-4B93-117D-D7A7-563674818DC4}"/>
              </a:ext>
            </a:extLst>
          </p:cNvPr>
          <p:cNvSpPr>
            <a:spLocks noGrp="1"/>
          </p:cNvSpPr>
          <p:nvPr>
            <p:ph type="title"/>
          </p:nvPr>
        </p:nvSpPr>
        <p:spPr>
          <a:xfrm>
            <a:off x="612649" y="548638"/>
            <a:ext cx="3493008" cy="5788152"/>
          </a:xfrm>
        </p:spPr>
        <p:txBody>
          <a:bodyPr anchor="ctr">
            <a:normAutofit/>
          </a:bodyPr>
          <a:lstStyle/>
          <a:p>
            <a:pPr algn="ctr"/>
            <a:r>
              <a:rPr lang="en-IN" sz="3400" dirty="0"/>
              <a:t>Implementation Tools</a:t>
            </a:r>
          </a:p>
        </p:txBody>
      </p:sp>
      <p:graphicFrame>
        <p:nvGraphicFramePr>
          <p:cNvPr id="5" name="Content Placeholder 2">
            <a:extLst>
              <a:ext uri="{FF2B5EF4-FFF2-40B4-BE49-F238E27FC236}">
                <a16:creationId xmlns:a16="http://schemas.microsoft.com/office/drawing/2014/main" id="{7CE2826F-474D-6E22-4915-0ED9BEDBFCA0}"/>
              </a:ext>
            </a:extLst>
          </p:cNvPr>
          <p:cNvGraphicFramePr>
            <a:graphicFrameLocks noGrp="1"/>
          </p:cNvGraphicFramePr>
          <p:nvPr>
            <p:ph idx="1"/>
            <p:extLst>
              <p:ext uri="{D42A27DB-BD31-4B8C-83A1-F6EECF244321}">
                <p14:modId xmlns:p14="http://schemas.microsoft.com/office/powerpoint/2010/main" val="3182900073"/>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65613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87B4472A-332B-71E5-8009-33841E7C3F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B087C3-90B6-6A3A-03C6-D336682B9B71}"/>
              </a:ext>
            </a:extLst>
          </p:cNvPr>
          <p:cNvSpPr>
            <a:spLocks noGrp="1"/>
          </p:cNvSpPr>
          <p:nvPr>
            <p:ph type="title"/>
          </p:nvPr>
        </p:nvSpPr>
        <p:spPr>
          <a:xfrm>
            <a:off x="510074" y="1635260"/>
            <a:ext cx="3348297" cy="2241755"/>
          </a:xfrm>
        </p:spPr>
        <p:txBody>
          <a:bodyPr vert="horz" lIns="91440" tIns="45720" rIns="91440" bIns="45720" rtlCol="0" anchor="b">
            <a:normAutofit/>
          </a:bodyPr>
          <a:lstStyle/>
          <a:p>
            <a:r>
              <a:rPr lang="en-US" sz="4000"/>
              <a:t>Architecture Diagram</a:t>
            </a:r>
          </a:p>
        </p:txBody>
      </p:sp>
      <p:pic>
        <p:nvPicPr>
          <p:cNvPr id="2050" name="Picture 2">
            <a:extLst>
              <a:ext uri="{FF2B5EF4-FFF2-40B4-BE49-F238E27FC236}">
                <a16:creationId xmlns:a16="http://schemas.microsoft.com/office/drawing/2014/main" id="{80A1D975-B64E-8C8E-3DE7-0978197D4C0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486132" y="394504"/>
            <a:ext cx="3106741" cy="60619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6650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4D02DC-86D0-86A9-4404-26B11AF64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8639D7-3AFF-8710-526B-0C5AAA9B3824}"/>
              </a:ext>
            </a:extLst>
          </p:cNvPr>
          <p:cNvSpPr>
            <a:spLocks noGrp="1"/>
          </p:cNvSpPr>
          <p:nvPr>
            <p:ph type="title"/>
          </p:nvPr>
        </p:nvSpPr>
        <p:spPr>
          <a:xfrm>
            <a:off x="2494392" y="1791147"/>
            <a:ext cx="7202862" cy="1952369"/>
          </a:xfrm>
        </p:spPr>
        <p:txBody>
          <a:bodyPr vert="horz" lIns="91440" tIns="45720" rIns="91440" bIns="45720" rtlCol="0" anchor="b">
            <a:normAutofit/>
          </a:bodyPr>
          <a:lstStyle/>
          <a:p>
            <a:pPr algn="ctr"/>
            <a:r>
              <a:rPr lang="en-US" sz="4800"/>
              <a:t>THANK YOU</a:t>
            </a:r>
          </a:p>
        </p:txBody>
      </p:sp>
    </p:spTree>
    <p:extLst>
      <p:ext uri="{BB962C8B-B14F-4D97-AF65-F5344CB8AC3E}">
        <p14:creationId xmlns:p14="http://schemas.microsoft.com/office/powerpoint/2010/main" val="3155592419"/>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27</TotalTime>
  <Words>826</Words>
  <Application>Microsoft Office PowerPoint</Application>
  <PresentationFormat>Widescreen</PresentationFormat>
  <Paragraphs>51</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Neue Haas Grotesk Text Pro</vt:lpstr>
      <vt:lpstr>VanillaVTI</vt:lpstr>
      <vt:lpstr>Enhancing Stock Market Prediction Using Multimodal Deep Learning and Explainable AI</vt:lpstr>
      <vt:lpstr>Problem Statement </vt:lpstr>
      <vt:lpstr> Motivation </vt:lpstr>
      <vt:lpstr>Literature Survey </vt:lpstr>
      <vt:lpstr>Justification and Significance </vt:lpstr>
      <vt:lpstr>Research Gaps Stock Market </vt:lpstr>
      <vt:lpstr>Outline of Proposed Solution </vt:lpstr>
      <vt:lpstr>Dataset Plan</vt:lpstr>
      <vt:lpstr>Implementation Tools</vt:lpstr>
      <vt:lpstr>Architecture Diagram</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22-737-133_GRANDHE_ANISH</dc:creator>
  <cp:lastModifiedBy>22-737-133_GRANDHE_ANISH</cp:lastModifiedBy>
  <cp:revision>1</cp:revision>
  <dcterms:created xsi:type="dcterms:W3CDTF">2025-10-11T02:21:54Z</dcterms:created>
  <dcterms:modified xsi:type="dcterms:W3CDTF">2025-10-11T02:49:44Z</dcterms:modified>
</cp:coreProperties>
</file>