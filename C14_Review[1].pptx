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431B6D-24E3-4539-B594-0B1759A3433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A92C4D1-7CD8-42EA-A79C-08E84965A35C}">
      <dgm:prSet/>
      <dgm:spPr/>
      <dgm:t>
        <a:bodyPr/>
        <a:lstStyle/>
        <a:p>
          <a:r>
            <a:rPr lang="en-IN"/>
            <a:t>Python: Primary programming language for data handling, modeling, and scripting.</a:t>
          </a:r>
          <a:endParaRPr lang="en-US"/>
        </a:p>
      </dgm:t>
    </dgm:pt>
    <dgm:pt modelId="{29D8B834-822B-4B6D-A9C0-230213566D00}" type="parTrans" cxnId="{21F20B1D-BA22-4E23-A87B-326EA6323D9E}">
      <dgm:prSet/>
      <dgm:spPr/>
      <dgm:t>
        <a:bodyPr/>
        <a:lstStyle/>
        <a:p>
          <a:endParaRPr lang="en-US"/>
        </a:p>
      </dgm:t>
    </dgm:pt>
    <dgm:pt modelId="{8B809922-0464-4917-B398-9F2C258A33C7}" type="sibTrans" cxnId="{21F20B1D-BA22-4E23-A87B-326EA6323D9E}">
      <dgm:prSet/>
      <dgm:spPr/>
      <dgm:t>
        <a:bodyPr/>
        <a:lstStyle/>
        <a:p>
          <a:endParaRPr lang="en-US"/>
        </a:p>
      </dgm:t>
    </dgm:pt>
    <dgm:pt modelId="{087AE4DD-B0C3-476A-B1E9-020644BFD5E9}">
      <dgm:prSet/>
      <dgm:spPr/>
      <dgm:t>
        <a:bodyPr/>
        <a:lstStyle/>
        <a:p>
          <a:r>
            <a:rPr lang="en-IN"/>
            <a:t>TensorFlow/PyTorch: Deep learning libraries used for building, training, and evaluating the hybrid model.</a:t>
          </a:r>
          <a:endParaRPr lang="en-US"/>
        </a:p>
      </dgm:t>
    </dgm:pt>
    <dgm:pt modelId="{36516B2E-FC1D-4559-9993-A154C63FA69E}" type="parTrans" cxnId="{43D9A201-AF35-4394-BBB0-5D801AC1C03F}">
      <dgm:prSet/>
      <dgm:spPr/>
      <dgm:t>
        <a:bodyPr/>
        <a:lstStyle/>
        <a:p>
          <a:endParaRPr lang="en-US"/>
        </a:p>
      </dgm:t>
    </dgm:pt>
    <dgm:pt modelId="{5F0FAFDF-2EE8-4986-A6D6-9AB76D805357}" type="sibTrans" cxnId="{43D9A201-AF35-4394-BBB0-5D801AC1C03F}">
      <dgm:prSet/>
      <dgm:spPr/>
      <dgm:t>
        <a:bodyPr/>
        <a:lstStyle/>
        <a:p>
          <a:endParaRPr lang="en-US"/>
        </a:p>
      </dgm:t>
    </dgm:pt>
    <dgm:pt modelId="{07A51C7A-0A1C-418D-8C1B-1FE6E573FE2B}">
      <dgm:prSet/>
      <dgm:spPr/>
      <dgm:t>
        <a:bodyPr/>
        <a:lstStyle/>
        <a:p>
          <a:r>
            <a:rPr lang="en-IN"/>
            <a:t>Pandas and NumPy: For efficient data preprocessing, transformation, and analysis.</a:t>
          </a:r>
          <a:endParaRPr lang="en-US"/>
        </a:p>
      </dgm:t>
    </dgm:pt>
    <dgm:pt modelId="{6B47E4C0-8B99-415F-AE19-1845635B5526}" type="parTrans" cxnId="{1F908223-B845-4D42-BFEF-7B3C8EF273BA}">
      <dgm:prSet/>
      <dgm:spPr/>
      <dgm:t>
        <a:bodyPr/>
        <a:lstStyle/>
        <a:p>
          <a:endParaRPr lang="en-US"/>
        </a:p>
      </dgm:t>
    </dgm:pt>
    <dgm:pt modelId="{B5862738-D9F0-4D2A-9B1E-0A515964B959}" type="sibTrans" cxnId="{1F908223-B845-4D42-BFEF-7B3C8EF273BA}">
      <dgm:prSet/>
      <dgm:spPr/>
      <dgm:t>
        <a:bodyPr/>
        <a:lstStyle/>
        <a:p>
          <a:endParaRPr lang="en-US"/>
        </a:p>
      </dgm:t>
    </dgm:pt>
    <dgm:pt modelId="{2C8F2CDB-86F2-4851-B359-EE209607D223}">
      <dgm:prSet/>
      <dgm:spPr/>
      <dgm:t>
        <a:bodyPr/>
        <a:lstStyle/>
        <a:p>
          <a:r>
            <a:rPr lang="en-IN"/>
            <a:t>Yahoo Finance and NewsAPI: For collecting historical stock data and real-time/news sentiment data.</a:t>
          </a:r>
          <a:endParaRPr lang="en-US"/>
        </a:p>
      </dgm:t>
    </dgm:pt>
    <dgm:pt modelId="{42413AA2-D975-49A5-9981-95DADE8A783E}" type="parTrans" cxnId="{4AC8316A-C36B-47AC-9542-BFCF8B575EDD}">
      <dgm:prSet/>
      <dgm:spPr/>
      <dgm:t>
        <a:bodyPr/>
        <a:lstStyle/>
        <a:p>
          <a:endParaRPr lang="en-US"/>
        </a:p>
      </dgm:t>
    </dgm:pt>
    <dgm:pt modelId="{6AA214E6-46CB-43DB-B784-00C37E8BF66F}" type="sibTrans" cxnId="{4AC8316A-C36B-47AC-9542-BFCF8B575EDD}">
      <dgm:prSet/>
      <dgm:spPr/>
      <dgm:t>
        <a:bodyPr/>
        <a:lstStyle/>
        <a:p>
          <a:endParaRPr lang="en-US"/>
        </a:p>
      </dgm:t>
    </dgm:pt>
    <dgm:pt modelId="{056B3ABE-1DC9-4419-9CA3-70C02971A94A}">
      <dgm:prSet/>
      <dgm:spPr/>
      <dgm:t>
        <a:bodyPr/>
        <a:lstStyle/>
        <a:p>
          <a:r>
            <a:rPr lang="en-IN"/>
            <a:t>Matplotlib/Plotly/SHAP: For visualizing model predictions and interpreting feature importance and attention weights.</a:t>
          </a:r>
          <a:endParaRPr lang="en-US"/>
        </a:p>
      </dgm:t>
    </dgm:pt>
    <dgm:pt modelId="{D2A05462-9DA1-47BB-AC7A-82C7AB9D68E5}" type="parTrans" cxnId="{8B065F3E-6EE9-423C-9F3B-162550270462}">
      <dgm:prSet/>
      <dgm:spPr/>
      <dgm:t>
        <a:bodyPr/>
        <a:lstStyle/>
        <a:p>
          <a:endParaRPr lang="en-US"/>
        </a:p>
      </dgm:t>
    </dgm:pt>
    <dgm:pt modelId="{A9C8750B-83C0-47EF-8083-2E51F1C87006}" type="sibTrans" cxnId="{8B065F3E-6EE9-423C-9F3B-162550270462}">
      <dgm:prSet/>
      <dgm:spPr/>
      <dgm:t>
        <a:bodyPr/>
        <a:lstStyle/>
        <a:p>
          <a:endParaRPr lang="en-US"/>
        </a:p>
      </dgm:t>
    </dgm:pt>
    <dgm:pt modelId="{E722D275-6E26-4F9C-95A9-3740B2F84382}" type="pres">
      <dgm:prSet presAssocID="{4F431B6D-24E3-4539-B594-0B1759A3433B}" presName="vert0" presStyleCnt="0">
        <dgm:presLayoutVars>
          <dgm:dir/>
          <dgm:animOne val="branch"/>
          <dgm:animLvl val="lvl"/>
        </dgm:presLayoutVars>
      </dgm:prSet>
      <dgm:spPr/>
    </dgm:pt>
    <dgm:pt modelId="{442D54B8-1B0B-4FC7-97AF-0A51797628BA}" type="pres">
      <dgm:prSet presAssocID="{CA92C4D1-7CD8-42EA-A79C-08E84965A35C}" presName="thickLine" presStyleLbl="alignNode1" presStyleIdx="0" presStyleCnt="5"/>
      <dgm:spPr/>
    </dgm:pt>
    <dgm:pt modelId="{B1942380-20C5-4D09-AB70-85F9AF27BD21}" type="pres">
      <dgm:prSet presAssocID="{CA92C4D1-7CD8-42EA-A79C-08E84965A35C}" presName="horz1" presStyleCnt="0"/>
      <dgm:spPr/>
    </dgm:pt>
    <dgm:pt modelId="{482A68E4-CE1C-4F0D-BFDE-F9DB218E9A99}" type="pres">
      <dgm:prSet presAssocID="{CA92C4D1-7CD8-42EA-A79C-08E84965A35C}" presName="tx1" presStyleLbl="revTx" presStyleIdx="0" presStyleCnt="5"/>
      <dgm:spPr/>
    </dgm:pt>
    <dgm:pt modelId="{DAFB4FF6-EF0C-4E69-B437-DF803AEC9D7A}" type="pres">
      <dgm:prSet presAssocID="{CA92C4D1-7CD8-42EA-A79C-08E84965A35C}" presName="vert1" presStyleCnt="0"/>
      <dgm:spPr/>
    </dgm:pt>
    <dgm:pt modelId="{60406766-14D1-40BB-9DC4-5A8E6C6470FA}" type="pres">
      <dgm:prSet presAssocID="{087AE4DD-B0C3-476A-B1E9-020644BFD5E9}" presName="thickLine" presStyleLbl="alignNode1" presStyleIdx="1" presStyleCnt="5"/>
      <dgm:spPr/>
    </dgm:pt>
    <dgm:pt modelId="{8C730033-CE57-48ED-8743-AE977FA14029}" type="pres">
      <dgm:prSet presAssocID="{087AE4DD-B0C3-476A-B1E9-020644BFD5E9}" presName="horz1" presStyleCnt="0"/>
      <dgm:spPr/>
    </dgm:pt>
    <dgm:pt modelId="{0522FE84-4F49-476E-9FE2-E19E6C27E746}" type="pres">
      <dgm:prSet presAssocID="{087AE4DD-B0C3-476A-B1E9-020644BFD5E9}" presName="tx1" presStyleLbl="revTx" presStyleIdx="1" presStyleCnt="5"/>
      <dgm:spPr/>
    </dgm:pt>
    <dgm:pt modelId="{AE13A5D3-82A8-4F6E-A115-8816D3BBFFCB}" type="pres">
      <dgm:prSet presAssocID="{087AE4DD-B0C3-476A-B1E9-020644BFD5E9}" presName="vert1" presStyleCnt="0"/>
      <dgm:spPr/>
    </dgm:pt>
    <dgm:pt modelId="{6BE1C146-B9EF-463A-BC96-B5D825D961CC}" type="pres">
      <dgm:prSet presAssocID="{07A51C7A-0A1C-418D-8C1B-1FE6E573FE2B}" presName="thickLine" presStyleLbl="alignNode1" presStyleIdx="2" presStyleCnt="5"/>
      <dgm:spPr/>
    </dgm:pt>
    <dgm:pt modelId="{5419E55E-0444-4AE8-98B7-BEBD3754F202}" type="pres">
      <dgm:prSet presAssocID="{07A51C7A-0A1C-418D-8C1B-1FE6E573FE2B}" presName="horz1" presStyleCnt="0"/>
      <dgm:spPr/>
    </dgm:pt>
    <dgm:pt modelId="{25DD1B38-F6BD-4AC8-8DD8-D70349356225}" type="pres">
      <dgm:prSet presAssocID="{07A51C7A-0A1C-418D-8C1B-1FE6E573FE2B}" presName="tx1" presStyleLbl="revTx" presStyleIdx="2" presStyleCnt="5"/>
      <dgm:spPr/>
    </dgm:pt>
    <dgm:pt modelId="{A4A3F37F-98A0-4C4B-81A7-3D8BA7CDCB25}" type="pres">
      <dgm:prSet presAssocID="{07A51C7A-0A1C-418D-8C1B-1FE6E573FE2B}" presName="vert1" presStyleCnt="0"/>
      <dgm:spPr/>
    </dgm:pt>
    <dgm:pt modelId="{2A6761C0-89C0-45C7-99BE-C58E2E65EB46}" type="pres">
      <dgm:prSet presAssocID="{2C8F2CDB-86F2-4851-B359-EE209607D223}" presName="thickLine" presStyleLbl="alignNode1" presStyleIdx="3" presStyleCnt="5"/>
      <dgm:spPr/>
    </dgm:pt>
    <dgm:pt modelId="{8C667F93-7BE9-4FA0-9FA1-41AC62472059}" type="pres">
      <dgm:prSet presAssocID="{2C8F2CDB-86F2-4851-B359-EE209607D223}" presName="horz1" presStyleCnt="0"/>
      <dgm:spPr/>
    </dgm:pt>
    <dgm:pt modelId="{FF3D490E-B134-46B4-B4C5-559DA79B95DF}" type="pres">
      <dgm:prSet presAssocID="{2C8F2CDB-86F2-4851-B359-EE209607D223}" presName="tx1" presStyleLbl="revTx" presStyleIdx="3" presStyleCnt="5"/>
      <dgm:spPr/>
    </dgm:pt>
    <dgm:pt modelId="{7CB46296-3C91-4C33-AB71-BC4E357968BB}" type="pres">
      <dgm:prSet presAssocID="{2C8F2CDB-86F2-4851-B359-EE209607D223}" presName="vert1" presStyleCnt="0"/>
      <dgm:spPr/>
    </dgm:pt>
    <dgm:pt modelId="{FBA592C8-9A0D-439D-B808-99F12D16DD3E}" type="pres">
      <dgm:prSet presAssocID="{056B3ABE-1DC9-4419-9CA3-70C02971A94A}" presName="thickLine" presStyleLbl="alignNode1" presStyleIdx="4" presStyleCnt="5"/>
      <dgm:spPr/>
    </dgm:pt>
    <dgm:pt modelId="{E12508F6-2C2A-440E-B20E-7823F07CFCDC}" type="pres">
      <dgm:prSet presAssocID="{056B3ABE-1DC9-4419-9CA3-70C02971A94A}" presName="horz1" presStyleCnt="0"/>
      <dgm:spPr/>
    </dgm:pt>
    <dgm:pt modelId="{855A1F4F-C5F6-4FED-832C-D76A8B1B1D04}" type="pres">
      <dgm:prSet presAssocID="{056B3ABE-1DC9-4419-9CA3-70C02971A94A}" presName="tx1" presStyleLbl="revTx" presStyleIdx="4" presStyleCnt="5"/>
      <dgm:spPr/>
    </dgm:pt>
    <dgm:pt modelId="{C0CCAAD5-8C45-4DC5-918A-8A50ABF10AAF}" type="pres">
      <dgm:prSet presAssocID="{056B3ABE-1DC9-4419-9CA3-70C02971A94A}" presName="vert1" presStyleCnt="0"/>
      <dgm:spPr/>
    </dgm:pt>
  </dgm:ptLst>
  <dgm:cxnLst>
    <dgm:cxn modelId="{43D9A201-AF35-4394-BBB0-5D801AC1C03F}" srcId="{4F431B6D-24E3-4539-B594-0B1759A3433B}" destId="{087AE4DD-B0C3-476A-B1E9-020644BFD5E9}" srcOrd="1" destOrd="0" parTransId="{36516B2E-FC1D-4559-9993-A154C63FA69E}" sibTransId="{5F0FAFDF-2EE8-4986-A6D6-9AB76D805357}"/>
    <dgm:cxn modelId="{21F20B1D-BA22-4E23-A87B-326EA6323D9E}" srcId="{4F431B6D-24E3-4539-B594-0B1759A3433B}" destId="{CA92C4D1-7CD8-42EA-A79C-08E84965A35C}" srcOrd="0" destOrd="0" parTransId="{29D8B834-822B-4B6D-A9C0-230213566D00}" sibTransId="{8B809922-0464-4917-B398-9F2C258A33C7}"/>
    <dgm:cxn modelId="{1F908223-B845-4D42-BFEF-7B3C8EF273BA}" srcId="{4F431B6D-24E3-4539-B594-0B1759A3433B}" destId="{07A51C7A-0A1C-418D-8C1B-1FE6E573FE2B}" srcOrd="2" destOrd="0" parTransId="{6B47E4C0-8B99-415F-AE19-1845635B5526}" sibTransId="{B5862738-D9F0-4D2A-9B1E-0A515964B959}"/>
    <dgm:cxn modelId="{3758053B-1D97-419A-9F65-F736DBBD1D98}" type="presOf" srcId="{2C8F2CDB-86F2-4851-B359-EE209607D223}" destId="{FF3D490E-B134-46B4-B4C5-559DA79B95DF}" srcOrd="0" destOrd="0" presId="urn:microsoft.com/office/officeart/2008/layout/LinedList"/>
    <dgm:cxn modelId="{8B065F3E-6EE9-423C-9F3B-162550270462}" srcId="{4F431B6D-24E3-4539-B594-0B1759A3433B}" destId="{056B3ABE-1DC9-4419-9CA3-70C02971A94A}" srcOrd="4" destOrd="0" parTransId="{D2A05462-9DA1-47BB-AC7A-82C7AB9D68E5}" sibTransId="{A9C8750B-83C0-47EF-8083-2E51F1C87006}"/>
    <dgm:cxn modelId="{4AC8316A-C36B-47AC-9542-BFCF8B575EDD}" srcId="{4F431B6D-24E3-4539-B594-0B1759A3433B}" destId="{2C8F2CDB-86F2-4851-B359-EE209607D223}" srcOrd="3" destOrd="0" parTransId="{42413AA2-D975-49A5-9981-95DADE8A783E}" sibTransId="{6AA214E6-46CB-43DB-B784-00C37E8BF66F}"/>
    <dgm:cxn modelId="{FD72676A-E4E6-49E8-B5B5-9AB9E75888E2}" type="presOf" srcId="{4F431B6D-24E3-4539-B594-0B1759A3433B}" destId="{E722D275-6E26-4F9C-95A9-3740B2F84382}" srcOrd="0" destOrd="0" presId="urn:microsoft.com/office/officeart/2008/layout/LinedList"/>
    <dgm:cxn modelId="{A2E46773-6081-4961-86E2-D870E0F00947}" type="presOf" srcId="{087AE4DD-B0C3-476A-B1E9-020644BFD5E9}" destId="{0522FE84-4F49-476E-9FE2-E19E6C27E746}" srcOrd="0" destOrd="0" presId="urn:microsoft.com/office/officeart/2008/layout/LinedList"/>
    <dgm:cxn modelId="{BAB5A67A-4896-45D2-A784-FEE6849BBB33}" type="presOf" srcId="{CA92C4D1-7CD8-42EA-A79C-08E84965A35C}" destId="{482A68E4-CE1C-4F0D-BFDE-F9DB218E9A99}" srcOrd="0" destOrd="0" presId="urn:microsoft.com/office/officeart/2008/layout/LinedList"/>
    <dgm:cxn modelId="{8D4F2186-4813-4A0F-A57A-FFF5D0A4B7CB}" type="presOf" srcId="{07A51C7A-0A1C-418D-8C1B-1FE6E573FE2B}" destId="{25DD1B38-F6BD-4AC8-8DD8-D70349356225}" srcOrd="0" destOrd="0" presId="urn:microsoft.com/office/officeart/2008/layout/LinedList"/>
    <dgm:cxn modelId="{AF5DAAFC-841A-45BD-B6A3-2C03EA050DC3}" type="presOf" srcId="{056B3ABE-1DC9-4419-9CA3-70C02971A94A}" destId="{855A1F4F-C5F6-4FED-832C-D76A8B1B1D04}" srcOrd="0" destOrd="0" presId="urn:microsoft.com/office/officeart/2008/layout/LinedList"/>
    <dgm:cxn modelId="{D104106E-A523-4884-8F44-CC4D4FF278CC}" type="presParOf" srcId="{E722D275-6E26-4F9C-95A9-3740B2F84382}" destId="{442D54B8-1B0B-4FC7-97AF-0A51797628BA}" srcOrd="0" destOrd="0" presId="urn:microsoft.com/office/officeart/2008/layout/LinedList"/>
    <dgm:cxn modelId="{850261A8-6C98-44C5-BC3A-2E2A2D04953A}" type="presParOf" srcId="{E722D275-6E26-4F9C-95A9-3740B2F84382}" destId="{B1942380-20C5-4D09-AB70-85F9AF27BD21}" srcOrd="1" destOrd="0" presId="urn:microsoft.com/office/officeart/2008/layout/LinedList"/>
    <dgm:cxn modelId="{F4C5B11F-AA6B-4579-A28A-B2A57C607260}" type="presParOf" srcId="{B1942380-20C5-4D09-AB70-85F9AF27BD21}" destId="{482A68E4-CE1C-4F0D-BFDE-F9DB218E9A99}" srcOrd="0" destOrd="0" presId="urn:microsoft.com/office/officeart/2008/layout/LinedList"/>
    <dgm:cxn modelId="{DD88E88B-F5EC-4F06-9360-3B6BCF40EC48}" type="presParOf" srcId="{B1942380-20C5-4D09-AB70-85F9AF27BD21}" destId="{DAFB4FF6-EF0C-4E69-B437-DF803AEC9D7A}" srcOrd="1" destOrd="0" presId="urn:microsoft.com/office/officeart/2008/layout/LinedList"/>
    <dgm:cxn modelId="{3DD49B05-59C4-4879-8F10-9987916F902C}" type="presParOf" srcId="{E722D275-6E26-4F9C-95A9-3740B2F84382}" destId="{60406766-14D1-40BB-9DC4-5A8E6C6470FA}" srcOrd="2" destOrd="0" presId="urn:microsoft.com/office/officeart/2008/layout/LinedList"/>
    <dgm:cxn modelId="{D08A3265-5B59-47CB-850A-14B258D393A9}" type="presParOf" srcId="{E722D275-6E26-4F9C-95A9-3740B2F84382}" destId="{8C730033-CE57-48ED-8743-AE977FA14029}" srcOrd="3" destOrd="0" presId="urn:microsoft.com/office/officeart/2008/layout/LinedList"/>
    <dgm:cxn modelId="{B3DCC8ED-813B-4910-83B6-5CB2FACD585F}" type="presParOf" srcId="{8C730033-CE57-48ED-8743-AE977FA14029}" destId="{0522FE84-4F49-476E-9FE2-E19E6C27E746}" srcOrd="0" destOrd="0" presId="urn:microsoft.com/office/officeart/2008/layout/LinedList"/>
    <dgm:cxn modelId="{F690D8DB-05D5-462B-A8A2-23E54A5AC47D}" type="presParOf" srcId="{8C730033-CE57-48ED-8743-AE977FA14029}" destId="{AE13A5D3-82A8-4F6E-A115-8816D3BBFFCB}" srcOrd="1" destOrd="0" presId="urn:microsoft.com/office/officeart/2008/layout/LinedList"/>
    <dgm:cxn modelId="{2D52B9C2-326D-4A4B-8688-BF782B16A08C}" type="presParOf" srcId="{E722D275-6E26-4F9C-95A9-3740B2F84382}" destId="{6BE1C146-B9EF-463A-BC96-B5D825D961CC}" srcOrd="4" destOrd="0" presId="urn:microsoft.com/office/officeart/2008/layout/LinedList"/>
    <dgm:cxn modelId="{1F46C27B-22F0-4FCA-ADA2-88FA97AC3BE0}" type="presParOf" srcId="{E722D275-6E26-4F9C-95A9-3740B2F84382}" destId="{5419E55E-0444-4AE8-98B7-BEBD3754F202}" srcOrd="5" destOrd="0" presId="urn:microsoft.com/office/officeart/2008/layout/LinedList"/>
    <dgm:cxn modelId="{B64EB2C6-E074-4B82-997E-857BEEC53B3C}" type="presParOf" srcId="{5419E55E-0444-4AE8-98B7-BEBD3754F202}" destId="{25DD1B38-F6BD-4AC8-8DD8-D70349356225}" srcOrd="0" destOrd="0" presId="urn:microsoft.com/office/officeart/2008/layout/LinedList"/>
    <dgm:cxn modelId="{BA168FDE-BCAE-4F11-9EFC-1C5D64C19D20}" type="presParOf" srcId="{5419E55E-0444-4AE8-98B7-BEBD3754F202}" destId="{A4A3F37F-98A0-4C4B-81A7-3D8BA7CDCB25}" srcOrd="1" destOrd="0" presId="urn:microsoft.com/office/officeart/2008/layout/LinedList"/>
    <dgm:cxn modelId="{3F433D16-FA77-4FC9-9F74-49194C138DFE}" type="presParOf" srcId="{E722D275-6E26-4F9C-95A9-3740B2F84382}" destId="{2A6761C0-89C0-45C7-99BE-C58E2E65EB46}" srcOrd="6" destOrd="0" presId="urn:microsoft.com/office/officeart/2008/layout/LinedList"/>
    <dgm:cxn modelId="{E924E77E-F9A3-4B33-AD06-EA66AC9FA259}" type="presParOf" srcId="{E722D275-6E26-4F9C-95A9-3740B2F84382}" destId="{8C667F93-7BE9-4FA0-9FA1-41AC62472059}" srcOrd="7" destOrd="0" presId="urn:microsoft.com/office/officeart/2008/layout/LinedList"/>
    <dgm:cxn modelId="{FFF87BEF-009E-46BF-B80F-4588078E7BED}" type="presParOf" srcId="{8C667F93-7BE9-4FA0-9FA1-41AC62472059}" destId="{FF3D490E-B134-46B4-B4C5-559DA79B95DF}" srcOrd="0" destOrd="0" presId="urn:microsoft.com/office/officeart/2008/layout/LinedList"/>
    <dgm:cxn modelId="{7ED3B436-87F2-4F27-9D03-D429B9EF4C93}" type="presParOf" srcId="{8C667F93-7BE9-4FA0-9FA1-41AC62472059}" destId="{7CB46296-3C91-4C33-AB71-BC4E357968BB}" srcOrd="1" destOrd="0" presId="urn:microsoft.com/office/officeart/2008/layout/LinedList"/>
    <dgm:cxn modelId="{331EF241-30F8-4079-813B-24853AA4D4F9}" type="presParOf" srcId="{E722D275-6E26-4F9C-95A9-3740B2F84382}" destId="{FBA592C8-9A0D-439D-B808-99F12D16DD3E}" srcOrd="8" destOrd="0" presId="urn:microsoft.com/office/officeart/2008/layout/LinedList"/>
    <dgm:cxn modelId="{C30816DA-4B14-475E-8EA2-E63D302BD5CF}" type="presParOf" srcId="{E722D275-6E26-4F9C-95A9-3740B2F84382}" destId="{E12508F6-2C2A-440E-B20E-7823F07CFCDC}" srcOrd="9" destOrd="0" presId="urn:microsoft.com/office/officeart/2008/layout/LinedList"/>
    <dgm:cxn modelId="{706328D9-5044-40BB-A4E8-743EA82BD9C7}" type="presParOf" srcId="{E12508F6-2C2A-440E-B20E-7823F07CFCDC}" destId="{855A1F4F-C5F6-4FED-832C-D76A8B1B1D04}" srcOrd="0" destOrd="0" presId="urn:microsoft.com/office/officeart/2008/layout/LinedList"/>
    <dgm:cxn modelId="{785DC99E-46B2-4BBE-BF8E-8BDCE4F3D1FA}" type="presParOf" srcId="{E12508F6-2C2A-440E-B20E-7823F07CFCDC}" destId="{C0CCAAD5-8C45-4DC5-918A-8A50ABF10AA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D54B8-1B0B-4FC7-97AF-0A51797628BA}">
      <dsp:nvSpPr>
        <dsp:cNvPr id="0" name=""/>
        <dsp:cNvSpPr/>
      </dsp:nvSpPr>
      <dsp:spPr>
        <a:xfrm>
          <a:off x="0" y="706"/>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2A68E4-CE1C-4F0D-BFDE-F9DB218E9A99}">
      <dsp:nvSpPr>
        <dsp:cNvPr id="0" name=""/>
        <dsp:cNvSpPr/>
      </dsp:nvSpPr>
      <dsp:spPr>
        <a:xfrm>
          <a:off x="0" y="70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Python: Primary programming language for data handling, modeling, and scripting.</a:t>
          </a:r>
          <a:endParaRPr lang="en-US" sz="2300" kern="1200"/>
        </a:p>
      </dsp:txBody>
      <dsp:txXfrm>
        <a:off x="0" y="706"/>
        <a:ext cx="6949440" cy="1157045"/>
      </dsp:txXfrm>
    </dsp:sp>
    <dsp:sp modelId="{60406766-14D1-40BB-9DC4-5A8E6C6470FA}">
      <dsp:nvSpPr>
        <dsp:cNvPr id="0" name=""/>
        <dsp:cNvSpPr/>
      </dsp:nvSpPr>
      <dsp:spPr>
        <a:xfrm>
          <a:off x="0" y="1157751"/>
          <a:ext cx="6949440" cy="0"/>
        </a:xfrm>
        <a:prstGeom prst="line">
          <a:avLst/>
        </a:prstGeom>
        <a:solidFill>
          <a:schemeClr val="accent2">
            <a:hueOff val="-260332"/>
            <a:satOff val="-5408"/>
            <a:lumOff val="-1471"/>
            <a:alphaOff val="0"/>
          </a:schemeClr>
        </a:solidFill>
        <a:ln w="12700" cap="flat" cmpd="sng" algn="ctr">
          <a:solidFill>
            <a:schemeClr val="accent2">
              <a:hueOff val="-260332"/>
              <a:satOff val="-5408"/>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22FE84-4F49-476E-9FE2-E19E6C27E746}">
      <dsp:nvSpPr>
        <dsp:cNvPr id="0" name=""/>
        <dsp:cNvSpPr/>
      </dsp:nvSpPr>
      <dsp:spPr>
        <a:xfrm>
          <a:off x="0" y="1157751"/>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TensorFlow/PyTorch: Deep learning libraries used for building, training, and evaluating the hybrid model.</a:t>
          </a:r>
          <a:endParaRPr lang="en-US" sz="2300" kern="1200"/>
        </a:p>
      </dsp:txBody>
      <dsp:txXfrm>
        <a:off x="0" y="1157751"/>
        <a:ext cx="6949440" cy="1157045"/>
      </dsp:txXfrm>
    </dsp:sp>
    <dsp:sp modelId="{6BE1C146-B9EF-463A-BC96-B5D825D961CC}">
      <dsp:nvSpPr>
        <dsp:cNvPr id="0" name=""/>
        <dsp:cNvSpPr/>
      </dsp:nvSpPr>
      <dsp:spPr>
        <a:xfrm>
          <a:off x="0" y="2314796"/>
          <a:ext cx="6949440" cy="0"/>
        </a:xfrm>
        <a:prstGeom prst="line">
          <a:avLst/>
        </a:prstGeom>
        <a:solidFill>
          <a:schemeClr val="accent2">
            <a:hueOff val="-520665"/>
            <a:satOff val="-10816"/>
            <a:lumOff val="-2941"/>
            <a:alphaOff val="0"/>
          </a:schemeClr>
        </a:solidFill>
        <a:ln w="12700" cap="flat" cmpd="sng" algn="ctr">
          <a:solidFill>
            <a:schemeClr val="accent2">
              <a:hueOff val="-520665"/>
              <a:satOff val="-10816"/>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DD1B38-F6BD-4AC8-8DD8-D70349356225}">
      <dsp:nvSpPr>
        <dsp:cNvPr id="0" name=""/>
        <dsp:cNvSpPr/>
      </dsp:nvSpPr>
      <dsp:spPr>
        <a:xfrm>
          <a:off x="0" y="231479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Pandas and NumPy: For efficient data preprocessing, transformation, and analysis.</a:t>
          </a:r>
          <a:endParaRPr lang="en-US" sz="2300" kern="1200"/>
        </a:p>
      </dsp:txBody>
      <dsp:txXfrm>
        <a:off x="0" y="2314796"/>
        <a:ext cx="6949440" cy="1157045"/>
      </dsp:txXfrm>
    </dsp:sp>
    <dsp:sp modelId="{2A6761C0-89C0-45C7-99BE-C58E2E65EB46}">
      <dsp:nvSpPr>
        <dsp:cNvPr id="0" name=""/>
        <dsp:cNvSpPr/>
      </dsp:nvSpPr>
      <dsp:spPr>
        <a:xfrm>
          <a:off x="0" y="3471841"/>
          <a:ext cx="6949440" cy="0"/>
        </a:xfrm>
        <a:prstGeom prst="line">
          <a:avLst/>
        </a:prstGeom>
        <a:solidFill>
          <a:schemeClr val="accent2">
            <a:hueOff val="-780997"/>
            <a:satOff val="-16223"/>
            <a:lumOff val="-4412"/>
            <a:alphaOff val="0"/>
          </a:schemeClr>
        </a:solidFill>
        <a:ln w="12700" cap="flat" cmpd="sng" algn="ctr">
          <a:solidFill>
            <a:schemeClr val="accent2">
              <a:hueOff val="-780997"/>
              <a:satOff val="-16223"/>
              <a:lumOff val="-4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3D490E-B134-46B4-B4C5-559DA79B95DF}">
      <dsp:nvSpPr>
        <dsp:cNvPr id="0" name=""/>
        <dsp:cNvSpPr/>
      </dsp:nvSpPr>
      <dsp:spPr>
        <a:xfrm>
          <a:off x="0" y="3471841"/>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Yahoo Finance and NewsAPI: For collecting historical stock data and real-time/news sentiment data.</a:t>
          </a:r>
          <a:endParaRPr lang="en-US" sz="2300" kern="1200"/>
        </a:p>
      </dsp:txBody>
      <dsp:txXfrm>
        <a:off x="0" y="3471841"/>
        <a:ext cx="6949440" cy="1157045"/>
      </dsp:txXfrm>
    </dsp:sp>
    <dsp:sp modelId="{FBA592C8-9A0D-439D-B808-99F12D16DD3E}">
      <dsp:nvSpPr>
        <dsp:cNvPr id="0" name=""/>
        <dsp:cNvSpPr/>
      </dsp:nvSpPr>
      <dsp:spPr>
        <a:xfrm>
          <a:off x="0" y="4628886"/>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A1F4F-C5F6-4FED-832C-D76A8B1B1D04}">
      <dsp:nvSpPr>
        <dsp:cNvPr id="0" name=""/>
        <dsp:cNvSpPr/>
      </dsp:nvSpPr>
      <dsp:spPr>
        <a:xfrm>
          <a:off x="0" y="462888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Matplotlib/Plotly/SHAP: For visualizing model predictions and interpreting feature importance and attention weights.</a:t>
          </a:r>
          <a:endParaRPr lang="en-US" sz="2300" kern="1200"/>
        </a:p>
      </dsp:txBody>
      <dsp:txXfrm>
        <a:off x="0" y="4628886"/>
        <a:ext cx="6949440" cy="115704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8910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5040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10/11/2025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24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394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10/11/2025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59288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10/11/2025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5109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10/11/2025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843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10/11/2025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774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10/11/2025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104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10/11/2025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22044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10/11/2025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73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10/11/2025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68251575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ED822-04BB-3FC8-BDFB-EC3925469C78}"/>
              </a:ext>
            </a:extLst>
          </p:cNvPr>
          <p:cNvSpPr>
            <a:spLocks noGrp="1"/>
          </p:cNvSpPr>
          <p:nvPr>
            <p:ph type="ctrTitle"/>
          </p:nvPr>
        </p:nvSpPr>
        <p:spPr>
          <a:xfrm>
            <a:off x="5568534" y="603504"/>
            <a:ext cx="5916169" cy="1527048"/>
          </a:xfrm>
        </p:spPr>
        <p:txBody>
          <a:bodyPr vert="horz" lIns="91440" tIns="45720" rIns="91440" bIns="45720" rtlCol="0" anchor="b">
            <a:normAutofit/>
          </a:bodyPr>
          <a:lstStyle/>
          <a:p>
            <a:pPr algn="l"/>
            <a:r>
              <a:rPr lang="en-US" sz="2500" b="1" kern="1200" dirty="0">
                <a:solidFill>
                  <a:schemeClr val="tx1"/>
                </a:solidFill>
                <a:latin typeface="+mj-lt"/>
                <a:ea typeface="+mj-ea"/>
                <a:cs typeface="+mj-cs"/>
              </a:rPr>
              <a:t>Enhancing Stock Market Prediction Using Multimodal Deep Learning and Explainable AI</a:t>
            </a:r>
          </a:p>
        </p:txBody>
      </p:sp>
      <p:pic>
        <p:nvPicPr>
          <p:cNvPr id="4" name="Picture 3" descr="Hand on a tablet with digital signs">
            <a:extLst>
              <a:ext uri="{FF2B5EF4-FFF2-40B4-BE49-F238E27FC236}">
                <a16:creationId xmlns:a16="http://schemas.microsoft.com/office/drawing/2014/main" id="{9B609FA7-3EFB-F762-00B3-0B7931AB925E}"/>
              </a:ext>
            </a:extLst>
          </p:cNvPr>
          <p:cNvPicPr>
            <a:picLocks noChangeAspect="1"/>
          </p:cNvPicPr>
          <p:nvPr/>
        </p:nvPicPr>
        <p:blipFill>
          <a:blip r:embed="rId2"/>
          <a:srcRect l="47598" r="4608" b="-1"/>
          <a:stretch>
            <a:fillRect/>
          </a:stretch>
        </p:blipFill>
        <p:spPr>
          <a:xfrm>
            <a:off x="20" y="10"/>
            <a:ext cx="4910308" cy="6857990"/>
          </a:xfrm>
          <a:prstGeom prst="rect">
            <a:avLst/>
          </a:prstGeom>
        </p:spPr>
      </p:pic>
      <p:sp>
        <p:nvSpPr>
          <p:cNvPr id="3" name="Subtitle 2">
            <a:extLst>
              <a:ext uri="{FF2B5EF4-FFF2-40B4-BE49-F238E27FC236}">
                <a16:creationId xmlns:a16="http://schemas.microsoft.com/office/drawing/2014/main" id="{CDF4348B-E0CF-DF88-9EC5-18D01A80746C}"/>
              </a:ext>
            </a:extLst>
          </p:cNvPr>
          <p:cNvSpPr>
            <a:spLocks noGrp="1"/>
          </p:cNvSpPr>
          <p:nvPr>
            <p:ph type="subTitle" idx="1"/>
          </p:nvPr>
        </p:nvSpPr>
        <p:spPr>
          <a:xfrm>
            <a:off x="5568533" y="2214282"/>
            <a:ext cx="5916169" cy="4095078"/>
          </a:xfrm>
        </p:spPr>
        <p:txBody>
          <a:bodyPr vert="horz" lIns="91440" tIns="45720" rIns="91440" bIns="45720" rtlCol="0">
            <a:normAutofit/>
          </a:bodyPr>
          <a:lstStyle/>
          <a:p>
            <a:pPr indent="-228600" algn="l">
              <a:buFont typeface="Arial" panose="020B0604020202020204" pitchFamily="34" charset="0"/>
              <a:buChar char="•"/>
            </a:pPr>
            <a:r>
              <a:rPr lang="en-US" dirty="0"/>
              <a:t>Internal Guide : Ms. </a:t>
            </a:r>
            <a:r>
              <a:rPr lang="en-US" dirty="0" err="1"/>
              <a:t>Soume</a:t>
            </a:r>
            <a:r>
              <a:rPr lang="en-US" dirty="0"/>
              <a:t> Sanyal</a:t>
            </a:r>
          </a:p>
          <a:p>
            <a:pPr indent="-228600" algn="l">
              <a:buFont typeface="Arial" panose="020B0604020202020204" pitchFamily="34" charset="0"/>
              <a:buChar char="•"/>
            </a:pPr>
            <a:r>
              <a:rPr lang="en-US" dirty="0"/>
              <a:t>Team No: C14</a:t>
            </a:r>
          </a:p>
          <a:p>
            <a:pPr indent="-228600" algn="l">
              <a:buFont typeface="Arial" panose="020B0604020202020204" pitchFamily="34" charset="0"/>
              <a:buChar char="•"/>
            </a:pPr>
            <a:r>
              <a:rPr lang="en-US" dirty="0"/>
              <a:t>Students: Anish Grandhe – 1602-22-737-133</a:t>
            </a:r>
          </a:p>
          <a:p>
            <a:pPr algn="l"/>
            <a:r>
              <a:rPr lang="en-US" dirty="0"/>
              <a:t>                     Karthik </a:t>
            </a:r>
            <a:r>
              <a:rPr lang="en-US" dirty="0" err="1"/>
              <a:t>Peetela</a:t>
            </a:r>
            <a:r>
              <a:rPr lang="en-US" dirty="0"/>
              <a:t> – 1602-22-737-317</a:t>
            </a:r>
          </a:p>
        </p:txBody>
      </p:sp>
    </p:spTree>
    <p:extLst>
      <p:ext uri="{BB962C8B-B14F-4D97-AF65-F5344CB8AC3E}">
        <p14:creationId xmlns:p14="http://schemas.microsoft.com/office/powerpoint/2010/main" val="4218902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F98E38-A7C7-D6A7-1E99-20A5D689DAE5}"/>
              </a:ext>
            </a:extLst>
          </p:cNvPr>
          <p:cNvSpPr>
            <a:spLocks noGrp="1"/>
          </p:cNvSpPr>
          <p:nvPr>
            <p:ph type="title"/>
          </p:nvPr>
        </p:nvSpPr>
        <p:spPr>
          <a:xfrm>
            <a:off x="612648" y="600074"/>
            <a:ext cx="6035040" cy="1529932"/>
          </a:xfrm>
        </p:spPr>
        <p:txBody>
          <a:bodyPr anchor="b">
            <a:normAutofit/>
          </a:bodyPr>
          <a:lstStyle/>
          <a:p>
            <a:r>
              <a:rPr lang="en-IN" b="0" dirty="0"/>
              <a:t>Problem Statement</a:t>
            </a:r>
            <a:br>
              <a:rPr lang="en-IN" b="0" dirty="0"/>
            </a:br>
            <a:endParaRPr lang="en-IN" dirty="0"/>
          </a:p>
        </p:txBody>
      </p:sp>
      <p:sp>
        <p:nvSpPr>
          <p:cNvPr id="3" name="Content Placeholder 2">
            <a:extLst>
              <a:ext uri="{FF2B5EF4-FFF2-40B4-BE49-F238E27FC236}">
                <a16:creationId xmlns:a16="http://schemas.microsoft.com/office/drawing/2014/main" id="{3BBF7C5E-624E-19AE-CFB2-7E5714E81F42}"/>
              </a:ext>
            </a:extLst>
          </p:cNvPr>
          <p:cNvSpPr>
            <a:spLocks noGrp="1"/>
          </p:cNvSpPr>
          <p:nvPr>
            <p:ph idx="1"/>
          </p:nvPr>
        </p:nvSpPr>
        <p:spPr>
          <a:xfrm>
            <a:off x="612647" y="2212848"/>
            <a:ext cx="6035041" cy="4096512"/>
          </a:xfrm>
        </p:spPr>
        <p:txBody>
          <a:bodyPr>
            <a:normAutofit/>
          </a:bodyPr>
          <a:lstStyle/>
          <a:p>
            <a:r>
              <a:rPr lang="en-US" sz="1700"/>
              <a:t>Predicting the stock market is one of the most demanding tasks in financial analytics due to the constant fluctuations and influence of a wide variety of factors. Standard models struggle to make sense of diverse data like prices, trading volumes, and external news events, which all interact to affect asset values.</a:t>
            </a:r>
          </a:p>
          <a:p>
            <a:r>
              <a:rPr lang="en-US" sz="1700"/>
              <a:t>Furthermore, existing approaches are often opaque, unable to show why a particular prediction was made or how the system responded to new information. This lack of clarity and adaptability makes it difficult for investors and regulators to trust or audit these models.</a:t>
            </a:r>
          </a:p>
          <a:p>
            <a:endParaRPr lang="en-IN" sz="1700"/>
          </a:p>
        </p:txBody>
      </p:sp>
      <p:pic>
        <p:nvPicPr>
          <p:cNvPr id="5" name="Picture 4" descr="Digital financial graph">
            <a:extLst>
              <a:ext uri="{FF2B5EF4-FFF2-40B4-BE49-F238E27FC236}">
                <a16:creationId xmlns:a16="http://schemas.microsoft.com/office/drawing/2014/main" id="{02AD03F1-EC2F-7A75-D633-42A32E3C5986}"/>
              </a:ext>
            </a:extLst>
          </p:cNvPr>
          <p:cNvPicPr>
            <a:picLocks noChangeAspect="1"/>
          </p:cNvPicPr>
          <p:nvPr/>
        </p:nvPicPr>
        <p:blipFill>
          <a:blip r:embed="rId2"/>
          <a:srcRect l="37768" r="22482"/>
          <a:stretch>
            <a:fillRect/>
          </a:stretch>
        </p:blipFill>
        <p:spPr>
          <a:xfrm>
            <a:off x="7345680" y="10"/>
            <a:ext cx="4846320" cy="6857990"/>
          </a:xfrm>
          <a:prstGeom prst="rect">
            <a:avLst/>
          </a:prstGeom>
        </p:spPr>
      </p:pic>
    </p:spTree>
    <p:extLst>
      <p:ext uri="{BB962C8B-B14F-4D97-AF65-F5344CB8AC3E}">
        <p14:creationId xmlns:p14="http://schemas.microsoft.com/office/powerpoint/2010/main" val="3877823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7A9788-2C27-EE36-1177-C6B9A1EDC894}"/>
              </a:ext>
            </a:extLst>
          </p:cNvPr>
          <p:cNvSpPr>
            <a:spLocks noGrp="1"/>
          </p:cNvSpPr>
          <p:nvPr>
            <p:ph type="title"/>
          </p:nvPr>
        </p:nvSpPr>
        <p:spPr>
          <a:xfrm>
            <a:off x="612648" y="600074"/>
            <a:ext cx="6035040" cy="1529932"/>
          </a:xfrm>
        </p:spPr>
        <p:txBody>
          <a:bodyPr anchor="b">
            <a:normAutofit/>
          </a:bodyPr>
          <a:lstStyle/>
          <a:p>
            <a:r>
              <a:rPr lang="en-IN" b="0" dirty="0"/>
              <a:t> Motivation </a:t>
            </a:r>
            <a:endParaRPr lang="en-IN" dirty="0"/>
          </a:p>
        </p:txBody>
      </p:sp>
      <p:sp>
        <p:nvSpPr>
          <p:cNvPr id="3" name="Content Placeholder 2">
            <a:extLst>
              <a:ext uri="{FF2B5EF4-FFF2-40B4-BE49-F238E27FC236}">
                <a16:creationId xmlns:a16="http://schemas.microsoft.com/office/drawing/2014/main" id="{6CD588B6-38F2-8396-3433-CA0A4C96CAF4}"/>
              </a:ext>
            </a:extLst>
          </p:cNvPr>
          <p:cNvSpPr>
            <a:spLocks noGrp="1"/>
          </p:cNvSpPr>
          <p:nvPr>
            <p:ph idx="1"/>
          </p:nvPr>
        </p:nvSpPr>
        <p:spPr>
          <a:xfrm>
            <a:off x="612647" y="2212848"/>
            <a:ext cx="6035041" cy="4096512"/>
          </a:xfrm>
        </p:spPr>
        <p:txBody>
          <a:bodyPr>
            <a:normAutofit/>
          </a:bodyPr>
          <a:lstStyle/>
          <a:p>
            <a:r>
              <a:rPr lang="en-US" sz="1700"/>
              <a:t>A truly effective prediction system could help investors anticipate major market moves, minimize risks, and respond more intelligently to ongoing changes. Such a tool would transform strategy and decision-making at all levels, from individual traders to regulatory authorities.</a:t>
            </a:r>
          </a:p>
          <a:p>
            <a:r>
              <a:rPr lang="en-US" sz="1700"/>
              <a:t>Despite powerful advances in artificial intelligence, there is still no widely deployed solution that can blend heterogeneous data sources, adapt to new markets, and produce transparent forecasts. Solving these challenges would mean a major leap forward for both financial research and real-world investment practice.</a:t>
            </a:r>
          </a:p>
          <a:p>
            <a:endParaRPr lang="en-IN" sz="1700"/>
          </a:p>
        </p:txBody>
      </p:sp>
      <p:pic>
        <p:nvPicPr>
          <p:cNvPr id="5" name="Picture 4" descr="Digital graphs and numbers in 3D">
            <a:extLst>
              <a:ext uri="{FF2B5EF4-FFF2-40B4-BE49-F238E27FC236}">
                <a16:creationId xmlns:a16="http://schemas.microsoft.com/office/drawing/2014/main" id="{875362E6-582A-920D-2AC8-16D0542F58B3}"/>
              </a:ext>
            </a:extLst>
          </p:cNvPr>
          <p:cNvPicPr>
            <a:picLocks noChangeAspect="1"/>
          </p:cNvPicPr>
          <p:nvPr/>
        </p:nvPicPr>
        <p:blipFill>
          <a:blip r:embed="rId2"/>
          <a:srcRect l="30935" r="21895"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55203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CA0E5-EFB2-1CD4-C0BE-7B93A915F5BA}"/>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dirty="0"/>
              <a:t>Literature Survey </a:t>
            </a:r>
          </a:p>
        </p:txBody>
      </p:sp>
      <p:graphicFrame>
        <p:nvGraphicFramePr>
          <p:cNvPr id="6" name="Content Placeholder 5">
            <a:extLst>
              <a:ext uri="{FF2B5EF4-FFF2-40B4-BE49-F238E27FC236}">
                <a16:creationId xmlns:a16="http://schemas.microsoft.com/office/drawing/2014/main" id="{657E27A8-EC87-266F-08CD-CF1BA3BF7DBF}"/>
              </a:ext>
            </a:extLst>
          </p:cNvPr>
          <p:cNvGraphicFramePr>
            <a:graphicFrameLocks noGrp="1"/>
          </p:cNvGraphicFramePr>
          <p:nvPr>
            <p:ph idx="1"/>
            <p:extLst>
              <p:ext uri="{D42A27DB-BD31-4B8C-83A1-F6EECF244321}">
                <p14:modId xmlns:p14="http://schemas.microsoft.com/office/powerpoint/2010/main" val="1097039660"/>
              </p:ext>
            </p:extLst>
          </p:nvPr>
        </p:nvGraphicFramePr>
        <p:xfrm>
          <a:off x="629265" y="1190624"/>
          <a:ext cx="11307096" cy="5387159"/>
        </p:xfrm>
        <a:graphic>
          <a:graphicData uri="http://schemas.openxmlformats.org/drawingml/2006/table">
            <a:tbl>
              <a:tblPr/>
              <a:tblGrid>
                <a:gridCol w="2826774">
                  <a:extLst>
                    <a:ext uri="{9D8B030D-6E8A-4147-A177-3AD203B41FA5}">
                      <a16:colId xmlns:a16="http://schemas.microsoft.com/office/drawing/2014/main" val="1999530227"/>
                    </a:ext>
                  </a:extLst>
                </a:gridCol>
                <a:gridCol w="2826774">
                  <a:extLst>
                    <a:ext uri="{9D8B030D-6E8A-4147-A177-3AD203B41FA5}">
                      <a16:colId xmlns:a16="http://schemas.microsoft.com/office/drawing/2014/main" val="2096547304"/>
                    </a:ext>
                  </a:extLst>
                </a:gridCol>
                <a:gridCol w="2826774">
                  <a:extLst>
                    <a:ext uri="{9D8B030D-6E8A-4147-A177-3AD203B41FA5}">
                      <a16:colId xmlns:a16="http://schemas.microsoft.com/office/drawing/2014/main" val="1490529669"/>
                    </a:ext>
                  </a:extLst>
                </a:gridCol>
                <a:gridCol w="2826774">
                  <a:extLst>
                    <a:ext uri="{9D8B030D-6E8A-4147-A177-3AD203B41FA5}">
                      <a16:colId xmlns:a16="http://schemas.microsoft.com/office/drawing/2014/main" val="4009181659"/>
                    </a:ext>
                  </a:extLst>
                </a:gridCol>
              </a:tblGrid>
              <a:tr h="226210">
                <a:tc>
                  <a:txBody>
                    <a:bodyPr/>
                    <a:lstStyle/>
                    <a:p>
                      <a:pPr algn="l">
                        <a:buNone/>
                      </a:pPr>
                      <a:r>
                        <a:rPr lang="en-IN" sz="1400" b="1">
                          <a:effectLst/>
                        </a:rPr>
                        <a:t>Citation</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400" b="1">
                          <a:effectLst/>
                        </a:rPr>
                        <a:t>Key Contributions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400" b="1">
                          <a:effectLst/>
                        </a:rPr>
                        <a:t>Relevance</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400" b="1">
                          <a:effectLst/>
                        </a:rPr>
                        <a:t>Limitation and Gaps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917388385"/>
                  </a:ext>
                </a:extLst>
              </a:tr>
              <a:tr h="1167429">
                <a:tc>
                  <a:txBody>
                    <a:bodyPr/>
                    <a:lstStyle/>
                    <a:p>
                      <a:pPr algn="l">
                        <a:buNone/>
                      </a:pPr>
                      <a:r>
                        <a:rPr lang="it-IT" sz="1400" dirty="0">
                          <a:effectLst/>
                        </a:rPr>
                        <a:t>Long et al. (2024)</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dirty="0">
                          <a:effectLst/>
                        </a:rPr>
                        <a:t>Multi-view multi-kernel SVM combining market and news data for SSE 50; daily returns prediction improves accuracy over simple fusion.</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Demonstrates the power of integrating heterogeneous data sources for financial forecasting.</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Linear kernel restricts adaptability; framework not tested for regime shifts or new markets.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654930295"/>
                  </a:ext>
                </a:extLst>
              </a:tr>
              <a:tr h="1010558">
                <a:tc>
                  <a:txBody>
                    <a:bodyPr/>
                    <a:lstStyle/>
                    <a:p>
                      <a:pPr algn="l">
                        <a:buNone/>
                      </a:pPr>
                      <a:r>
                        <a:rPr lang="it-IT" sz="1400" dirty="0">
                          <a:effectLst/>
                        </a:rPr>
                        <a:t>Alam et al. (2024)</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dirty="0">
                          <a:effectLst/>
                        </a:rPr>
                        <a:t>Robust hybrid LSTM-DNN on 26 real-life datasets enhances stability and prediction accuracy for multiple companies.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Provides a benchmark for deep hybrid architectures on diverse financial datasets.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Generalization limited—performance drops on unseen stocks or in changing market conditions.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690563630"/>
                  </a:ext>
                </a:extLst>
              </a:tr>
              <a:tr h="1010558">
                <a:tc>
                  <a:txBody>
                    <a:bodyPr/>
                    <a:lstStyle/>
                    <a:p>
                      <a:pPr algn="l">
                        <a:buNone/>
                      </a:pPr>
                      <a:r>
                        <a:rPr lang="en-IN" sz="1400" dirty="0">
                          <a:effectLst/>
                        </a:rPr>
                        <a:t>Gao et al. (2022)</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dirty="0">
                          <a:effectLst/>
                        </a:rPr>
                        <a:t>Integrates sentiment from multiple news sources using RNN ensemble optimized by genetic algorithm; effective in US indices.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Shows improved sentiment fusion’s value for index trend prediction.</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No support for real-time, adaptive learning; limited cross-market validation.</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57876893"/>
                  </a:ext>
                </a:extLst>
              </a:tr>
              <a:tr h="853688">
                <a:tc>
                  <a:txBody>
                    <a:bodyPr/>
                    <a:lstStyle/>
                    <a:p>
                      <a:pPr algn="l">
                        <a:buNone/>
                      </a:pPr>
                      <a:r>
                        <a:rPr lang="it-IT" sz="1400" dirty="0">
                          <a:effectLst/>
                        </a:rPr>
                        <a:t>Luo et al. (2024)</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dirty="0">
                          <a:effectLst/>
                        </a:rPr>
                        <a:t>Applies CNN-</a:t>
                      </a:r>
                      <a:r>
                        <a:rPr lang="en-US" sz="1400" dirty="0" err="1">
                          <a:effectLst/>
                        </a:rPr>
                        <a:t>BiLSTM</a:t>
                      </a:r>
                      <a:r>
                        <a:rPr lang="en-US" sz="1400" dirty="0">
                          <a:effectLst/>
                        </a:rPr>
                        <a:t> with attention for better short-term correlation forecasting; highlights key temporal features.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Validates the benefit of attention mechanisms for financial time-series interpretability.</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Largely relies on single-modal data; lacks full-scale multimodal fusion.</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43953754"/>
                  </a:ext>
                </a:extLst>
              </a:tr>
              <a:tr h="1010558">
                <a:tc>
                  <a:txBody>
                    <a:bodyPr/>
                    <a:lstStyle/>
                    <a:p>
                      <a:pPr algn="l">
                        <a:buNone/>
                      </a:pPr>
                      <a:r>
                        <a:rPr lang="en-IN" sz="1400" dirty="0">
                          <a:effectLst/>
                        </a:rPr>
                        <a:t>Goswami et al. (2024)</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dirty="0">
                          <a:effectLst/>
                        </a:rPr>
                        <a:t>Combines engineered features with hybrid LSTM-dense layers for nonlinear market patterns in NIFTY, S&amp;P, Nikkei.</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a:effectLst/>
                        </a:rPr>
                        <a:t>Illustrates the potential of feature-rich models for broad market prediction.</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400" dirty="0">
                          <a:effectLst/>
                        </a:rPr>
                        <a:t>Susceptible to overfitting and lacks systematic interpretability features.</a:t>
                      </a:r>
                    </a:p>
                  </a:txBody>
                  <a:tcPr marL="30314" marR="30314" marT="30314" marB="30314"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3548135"/>
                  </a:ext>
                </a:extLst>
              </a:tr>
            </a:tbl>
          </a:graphicData>
        </a:graphic>
      </p:graphicFrame>
    </p:spTree>
    <p:extLst>
      <p:ext uri="{BB962C8B-B14F-4D97-AF65-F5344CB8AC3E}">
        <p14:creationId xmlns:p14="http://schemas.microsoft.com/office/powerpoint/2010/main" val="226652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DFD07C-E27E-2ABE-DF8F-4D919356F8C3}"/>
              </a:ext>
            </a:extLst>
          </p:cNvPr>
          <p:cNvSpPr>
            <a:spLocks noGrp="1"/>
          </p:cNvSpPr>
          <p:nvPr>
            <p:ph type="title"/>
          </p:nvPr>
        </p:nvSpPr>
        <p:spPr>
          <a:xfrm>
            <a:off x="612648" y="600074"/>
            <a:ext cx="6035040" cy="1529932"/>
          </a:xfrm>
        </p:spPr>
        <p:txBody>
          <a:bodyPr anchor="b">
            <a:normAutofit/>
          </a:bodyPr>
          <a:lstStyle/>
          <a:p>
            <a:r>
              <a:rPr lang="en-IN" sz="3300" b="0"/>
              <a:t>Justification and Significance</a:t>
            </a:r>
            <a:br>
              <a:rPr lang="en-IN" sz="3300" b="0"/>
            </a:br>
            <a:endParaRPr lang="en-IN" sz="3300"/>
          </a:p>
        </p:txBody>
      </p:sp>
      <p:sp>
        <p:nvSpPr>
          <p:cNvPr id="3" name="Content Placeholder 2">
            <a:extLst>
              <a:ext uri="{FF2B5EF4-FFF2-40B4-BE49-F238E27FC236}">
                <a16:creationId xmlns:a16="http://schemas.microsoft.com/office/drawing/2014/main" id="{BFA70EC9-6B74-9967-0DFD-AA66E5C75B68}"/>
              </a:ext>
            </a:extLst>
          </p:cNvPr>
          <p:cNvSpPr>
            <a:spLocks noGrp="1"/>
          </p:cNvSpPr>
          <p:nvPr>
            <p:ph idx="1"/>
          </p:nvPr>
        </p:nvSpPr>
        <p:spPr>
          <a:xfrm>
            <a:off x="612647" y="2212848"/>
            <a:ext cx="6035041" cy="4096512"/>
          </a:xfrm>
        </p:spPr>
        <p:txBody>
          <a:bodyPr>
            <a:normAutofit/>
          </a:bodyPr>
          <a:lstStyle/>
          <a:p>
            <a:pPr>
              <a:lnSpc>
                <a:spcPct val="110000"/>
              </a:lnSpc>
            </a:pPr>
            <a:r>
              <a:rPr lang="en-US" sz="1400"/>
              <a:t>The proposed research is justified by the persistent limitations in existing stock market prediction models, which often fail to integrate the varied influences of market data and external information such as news sentiment. By developing a framework that can systematically fuse heterogeneous data streams, this work addresses a core gap in financial machine learning and sets the foundation for more accurate and context-aware predictions.​</a:t>
            </a:r>
          </a:p>
          <a:p>
            <a:pPr>
              <a:lnSpc>
                <a:spcPct val="110000"/>
              </a:lnSpc>
            </a:pPr>
            <a:r>
              <a:rPr lang="en-US" sz="1400"/>
              <a:t>Significantly, the model advances the field by prioritizing interpretability and transparency, making each prediction explainable and accountable—qualities crucial for investor trust and regulatory compliance. Its enhanced ability to generalize across different markets and adapt to new situations ensures practical value in real-world trading environments. By establishing rigorous benchmarking and open evalution practices, this work aims to set new standards for fairness, reproducibility, and ethical deployment in financial AI.</a:t>
            </a:r>
          </a:p>
          <a:p>
            <a:pPr>
              <a:lnSpc>
                <a:spcPct val="110000"/>
              </a:lnSpc>
            </a:pPr>
            <a:endParaRPr lang="en-IN" sz="1400"/>
          </a:p>
        </p:txBody>
      </p:sp>
      <p:pic>
        <p:nvPicPr>
          <p:cNvPr id="5" name="Picture 4" descr="Magnifying glass showing decling performance">
            <a:extLst>
              <a:ext uri="{FF2B5EF4-FFF2-40B4-BE49-F238E27FC236}">
                <a16:creationId xmlns:a16="http://schemas.microsoft.com/office/drawing/2014/main" id="{A818ED8D-7BCF-FEF3-C58B-22B16512680D}"/>
              </a:ext>
            </a:extLst>
          </p:cNvPr>
          <p:cNvPicPr>
            <a:picLocks noChangeAspect="1"/>
          </p:cNvPicPr>
          <p:nvPr/>
        </p:nvPicPr>
        <p:blipFill>
          <a:blip r:embed="rId2"/>
          <a:srcRect l="19855" r="32975"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559571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DB0D9-81CE-CEED-AF07-5BF442B1ABE6}"/>
              </a:ext>
            </a:extLst>
          </p:cNvPr>
          <p:cNvSpPr>
            <a:spLocks noGrp="1"/>
          </p:cNvSpPr>
          <p:nvPr>
            <p:ph type="title"/>
          </p:nvPr>
        </p:nvSpPr>
        <p:spPr>
          <a:xfrm>
            <a:off x="612648" y="600074"/>
            <a:ext cx="6035040" cy="1529932"/>
          </a:xfrm>
        </p:spPr>
        <p:txBody>
          <a:bodyPr anchor="b">
            <a:normAutofit/>
          </a:bodyPr>
          <a:lstStyle/>
          <a:p>
            <a:r>
              <a:rPr lang="en-IN" sz="3300" b="0" dirty="0"/>
              <a:t>Research Gaps Stock Market</a:t>
            </a:r>
            <a:br>
              <a:rPr lang="en-IN" sz="3300" b="0" dirty="0"/>
            </a:br>
            <a:endParaRPr lang="en-IN" sz="3300" dirty="0"/>
          </a:p>
        </p:txBody>
      </p:sp>
      <p:sp>
        <p:nvSpPr>
          <p:cNvPr id="3" name="Content Placeholder 2">
            <a:extLst>
              <a:ext uri="{FF2B5EF4-FFF2-40B4-BE49-F238E27FC236}">
                <a16:creationId xmlns:a16="http://schemas.microsoft.com/office/drawing/2014/main" id="{10D9FC2C-1FB1-3DF3-0749-19802E558240}"/>
              </a:ext>
            </a:extLst>
          </p:cNvPr>
          <p:cNvSpPr>
            <a:spLocks noGrp="1"/>
          </p:cNvSpPr>
          <p:nvPr>
            <p:ph idx="1"/>
          </p:nvPr>
        </p:nvSpPr>
        <p:spPr>
          <a:xfrm>
            <a:off x="612647" y="2212848"/>
            <a:ext cx="6035041" cy="4096512"/>
          </a:xfrm>
        </p:spPr>
        <p:txBody>
          <a:bodyPr>
            <a:normAutofit/>
          </a:bodyPr>
          <a:lstStyle/>
          <a:p>
            <a:pPr>
              <a:lnSpc>
                <a:spcPct val="110000"/>
              </a:lnSpc>
            </a:pPr>
            <a:r>
              <a:rPr lang="en-US" sz="1800"/>
              <a:t>Despite advances in deep learning, key gaps remain. Current models lack effective integration of heterogeneous data, limiting their predictive power. Many operate as black boxes with poor interpretability. They often fail to generalize across different markets or adapt to new financial environments. Ethical considerations and benchmarking standards are seldom addressed, restricting real-world trust and adoption.</a:t>
            </a:r>
          </a:p>
          <a:p>
            <a:pPr>
              <a:lnSpc>
                <a:spcPct val="110000"/>
              </a:lnSpc>
            </a:pPr>
            <a:r>
              <a:rPr lang="en-US" sz="1800"/>
              <a:t>Addressing these gaps is vital for progressing from theoretical models to practical, transparent, and reliable stock market forecasting tools.</a:t>
            </a:r>
          </a:p>
          <a:p>
            <a:pPr>
              <a:lnSpc>
                <a:spcPct val="110000"/>
              </a:lnSpc>
            </a:pPr>
            <a:endParaRPr lang="en-IN" sz="1800"/>
          </a:p>
        </p:txBody>
      </p:sp>
      <p:pic>
        <p:nvPicPr>
          <p:cNvPr id="5" name="Picture 4" descr="Digital graph of stock market">
            <a:extLst>
              <a:ext uri="{FF2B5EF4-FFF2-40B4-BE49-F238E27FC236}">
                <a16:creationId xmlns:a16="http://schemas.microsoft.com/office/drawing/2014/main" id="{336A2F4A-9F7A-B23D-39E9-6550984ECBC6}"/>
              </a:ext>
            </a:extLst>
          </p:cNvPr>
          <p:cNvPicPr>
            <a:picLocks noChangeAspect="1"/>
          </p:cNvPicPr>
          <p:nvPr/>
        </p:nvPicPr>
        <p:blipFill>
          <a:blip r:embed="rId2"/>
          <a:srcRect l="15889" r="31111"/>
          <a:stretch>
            <a:fillRect/>
          </a:stretch>
        </p:blipFill>
        <p:spPr>
          <a:xfrm>
            <a:off x="7345680" y="10"/>
            <a:ext cx="4846320" cy="6857990"/>
          </a:xfrm>
          <a:prstGeom prst="rect">
            <a:avLst/>
          </a:prstGeom>
        </p:spPr>
      </p:pic>
    </p:spTree>
    <p:extLst>
      <p:ext uri="{BB962C8B-B14F-4D97-AF65-F5344CB8AC3E}">
        <p14:creationId xmlns:p14="http://schemas.microsoft.com/office/powerpoint/2010/main" val="2168872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20420A-1BC6-A4B0-0990-D59FE83ABA75}"/>
              </a:ext>
            </a:extLst>
          </p:cNvPr>
          <p:cNvSpPr>
            <a:spLocks noGrp="1"/>
          </p:cNvSpPr>
          <p:nvPr>
            <p:ph type="title"/>
          </p:nvPr>
        </p:nvSpPr>
        <p:spPr>
          <a:xfrm>
            <a:off x="612648" y="600074"/>
            <a:ext cx="6035040" cy="1529932"/>
          </a:xfrm>
        </p:spPr>
        <p:txBody>
          <a:bodyPr anchor="b">
            <a:normAutofit/>
          </a:bodyPr>
          <a:lstStyle/>
          <a:p>
            <a:r>
              <a:rPr lang="en-IN" dirty="0"/>
              <a:t>Outline of Proposed Solution </a:t>
            </a:r>
          </a:p>
        </p:txBody>
      </p:sp>
      <p:sp>
        <p:nvSpPr>
          <p:cNvPr id="3" name="Content Placeholder 2">
            <a:extLst>
              <a:ext uri="{FF2B5EF4-FFF2-40B4-BE49-F238E27FC236}">
                <a16:creationId xmlns:a16="http://schemas.microsoft.com/office/drawing/2014/main" id="{5FFF69EF-BAF6-0935-46F1-39C4937C5408}"/>
              </a:ext>
            </a:extLst>
          </p:cNvPr>
          <p:cNvSpPr>
            <a:spLocks noGrp="1"/>
          </p:cNvSpPr>
          <p:nvPr>
            <p:ph idx="1"/>
          </p:nvPr>
        </p:nvSpPr>
        <p:spPr>
          <a:xfrm>
            <a:off x="612647" y="2212848"/>
            <a:ext cx="6035041" cy="4096512"/>
          </a:xfrm>
        </p:spPr>
        <p:txBody>
          <a:bodyPr>
            <a:normAutofit/>
          </a:bodyPr>
          <a:lstStyle/>
          <a:p>
            <a:pPr>
              <a:lnSpc>
                <a:spcPct val="110000"/>
              </a:lnSpc>
            </a:pPr>
            <a:r>
              <a:rPr lang="en-US" sz="1500"/>
              <a:t>Objective 1: Design a multimodal data integration pipeline that collects, preprocesses, and fuses stock prices, technical indicators, and news sentiment, enabling comprehensive feature extraction for robust prediction.</a:t>
            </a:r>
          </a:p>
          <a:p>
            <a:pPr>
              <a:lnSpc>
                <a:spcPct val="110000"/>
              </a:lnSpc>
            </a:pPr>
            <a:r>
              <a:rPr lang="en-US" sz="1500"/>
              <a:t>Objective 2: Develop a hybrid neural network model—combining CNN, BiLSTM, and attention layers—that adaptively captures short-term and long-term market trends, learns from diverse data, and produces transparent, interpretable predictions.</a:t>
            </a:r>
          </a:p>
          <a:p>
            <a:pPr>
              <a:lnSpc>
                <a:spcPct val="110000"/>
              </a:lnSpc>
            </a:pPr>
            <a:r>
              <a:rPr lang="en-US" sz="1500"/>
              <a:t>Objective 3: Implement built-in benchmarking, explainability, and compliance modules to assess model performance across multiple markets while supporting fairness audits and regulatory reporting.</a:t>
            </a:r>
          </a:p>
          <a:p>
            <a:pPr>
              <a:lnSpc>
                <a:spcPct val="110000"/>
              </a:lnSpc>
            </a:pPr>
            <a:endParaRPr lang="en-IN" sz="1500"/>
          </a:p>
        </p:txBody>
      </p:sp>
      <p:pic>
        <p:nvPicPr>
          <p:cNvPr id="5" name="Picture 4" descr="Graph">
            <a:extLst>
              <a:ext uri="{FF2B5EF4-FFF2-40B4-BE49-F238E27FC236}">
                <a16:creationId xmlns:a16="http://schemas.microsoft.com/office/drawing/2014/main" id="{92A611F9-F451-00F4-051F-45AC44252CD9}"/>
              </a:ext>
            </a:extLst>
          </p:cNvPr>
          <p:cNvPicPr>
            <a:picLocks noChangeAspect="1"/>
          </p:cNvPicPr>
          <p:nvPr/>
        </p:nvPicPr>
        <p:blipFill>
          <a:blip r:embed="rId2"/>
          <a:srcRect l="22284" r="33550"/>
          <a:stretch>
            <a:fillRect/>
          </a:stretch>
        </p:blipFill>
        <p:spPr>
          <a:xfrm>
            <a:off x="7345680" y="10"/>
            <a:ext cx="4846320" cy="6857990"/>
          </a:xfrm>
          <a:prstGeom prst="rect">
            <a:avLst/>
          </a:prstGeom>
        </p:spPr>
      </p:pic>
    </p:spTree>
    <p:extLst>
      <p:ext uri="{BB962C8B-B14F-4D97-AF65-F5344CB8AC3E}">
        <p14:creationId xmlns:p14="http://schemas.microsoft.com/office/powerpoint/2010/main" val="118922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749D35-D042-DB0A-B069-F1E88F3A542B}"/>
              </a:ext>
            </a:extLst>
          </p:cNvPr>
          <p:cNvSpPr>
            <a:spLocks noGrp="1"/>
          </p:cNvSpPr>
          <p:nvPr>
            <p:ph type="title"/>
          </p:nvPr>
        </p:nvSpPr>
        <p:spPr>
          <a:xfrm>
            <a:off x="612648" y="600074"/>
            <a:ext cx="6035040" cy="1529932"/>
          </a:xfrm>
        </p:spPr>
        <p:txBody>
          <a:bodyPr anchor="b">
            <a:normAutofit/>
          </a:bodyPr>
          <a:lstStyle/>
          <a:p>
            <a:r>
              <a:rPr lang="en-IN" dirty="0"/>
              <a:t>Dataset Plan</a:t>
            </a:r>
          </a:p>
        </p:txBody>
      </p:sp>
      <p:sp>
        <p:nvSpPr>
          <p:cNvPr id="3" name="Content Placeholder 2">
            <a:extLst>
              <a:ext uri="{FF2B5EF4-FFF2-40B4-BE49-F238E27FC236}">
                <a16:creationId xmlns:a16="http://schemas.microsoft.com/office/drawing/2014/main" id="{A6D869FE-717E-406B-0AEC-316042B4F407}"/>
              </a:ext>
            </a:extLst>
          </p:cNvPr>
          <p:cNvSpPr>
            <a:spLocks noGrp="1"/>
          </p:cNvSpPr>
          <p:nvPr>
            <p:ph idx="1"/>
          </p:nvPr>
        </p:nvSpPr>
        <p:spPr>
          <a:xfrm>
            <a:off x="612647" y="2212848"/>
            <a:ext cx="6035041" cy="4096512"/>
          </a:xfrm>
        </p:spPr>
        <p:txBody>
          <a:bodyPr>
            <a:normAutofit/>
          </a:bodyPr>
          <a:lstStyle/>
          <a:p>
            <a:r>
              <a:rPr lang="en-US" sz="1800"/>
              <a:t>Historical stock data and technical indicators will be sourced from public APIs (such as Yahoo Finance and Alpha Vantage) for leading indices and major stocks. News sentiment data will be accessed using free or academic-access news APIs.</a:t>
            </a:r>
          </a:p>
          <a:p>
            <a:r>
              <a:rPr lang="en-US" sz="1800"/>
              <a:t>The plan is to synchronize all datasets by trading date, preprocess them for missing values and outliers, and merge into a unified format suitable for time-series analysis and model training. This approach ensures diverse, high-quality data for robust model development and evaluation.</a:t>
            </a:r>
          </a:p>
          <a:p>
            <a:endParaRPr lang="en-IN" sz="1800"/>
          </a:p>
        </p:txBody>
      </p:sp>
      <p:pic>
        <p:nvPicPr>
          <p:cNvPr id="5" name="Picture 4" descr="Digital financial graph">
            <a:extLst>
              <a:ext uri="{FF2B5EF4-FFF2-40B4-BE49-F238E27FC236}">
                <a16:creationId xmlns:a16="http://schemas.microsoft.com/office/drawing/2014/main" id="{437A8DF0-1D04-17D6-C268-B933CA939C30}"/>
              </a:ext>
            </a:extLst>
          </p:cNvPr>
          <p:cNvPicPr>
            <a:picLocks noChangeAspect="1"/>
          </p:cNvPicPr>
          <p:nvPr/>
        </p:nvPicPr>
        <p:blipFill>
          <a:blip r:embed="rId2"/>
          <a:srcRect l="37768" r="22482"/>
          <a:stretch>
            <a:fillRect/>
          </a:stretch>
        </p:blipFill>
        <p:spPr>
          <a:xfrm>
            <a:off x="7345680" y="10"/>
            <a:ext cx="4846320" cy="6857990"/>
          </a:xfrm>
          <a:prstGeom prst="rect">
            <a:avLst/>
          </a:prstGeom>
        </p:spPr>
      </p:pic>
    </p:spTree>
    <p:extLst>
      <p:ext uri="{BB962C8B-B14F-4D97-AF65-F5344CB8AC3E}">
        <p14:creationId xmlns:p14="http://schemas.microsoft.com/office/powerpoint/2010/main" val="173395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AF5779-4B93-117D-D7A7-563674818DC4}"/>
              </a:ext>
            </a:extLst>
          </p:cNvPr>
          <p:cNvSpPr>
            <a:spLocks noGrp="1"/>
          </p:cNvSpPr>
          <p:nvPr>
            <p:ph type="title"/>
          </p:nvPr>
        </p:nvSpPr>
        <p:spPr>
          <a:xfrm>
            <a:off x="612649" y="548638"/>
            <a:ext cx="3493008" cy="5788152"/>
          </a:xfrm>
        </p:spPr>
        <p:txBody>
          <a:bodyPr anchor="ctr">
            <a:normAutofit/>
          </a:bodyPr>
          <a:lstStyle/>
          <a:p>
            <a:pPr algn="ctr"/>
            <a:r>
              <a:rPr lang="en-IN" sz="3400" dirty="0"/>
              <a:t>Implementation Tools</a:t>
            </a:r>
          </a:p>
        </p:txBody>
      </p:sp>
      <p:graphicFrame>
        <p:nvGraphicFramePr>
          <p:cNvPr id="5" name="Content Placeholder 2">
            <a:extLst>
              <a:ext uri="{FF2B5EF4-FFF2-40B4-BE49-F238E27FC236}">
                <a16:creationId xmlns:a16="http://schemas.microsoft.com/office/drawing/2014/main" id="{7CE2826F-474D-6E22-4915-0ED9BEDBFCA0}"/>
              </a:ext>
            </a:extLst>
          </p:cNvPr>
          <p:cNvGraphicFramePr>
            <a:graphicFrameLocks noGrp="1"/>
          </p:cNvGraphicFramePr>
          <p:nvPr>
            <p:ph idx="1"/>
            <p:extLst>
              <p:ext uri="{D42A27DB-BD31-4B8C-83A1-F6EECF244321}">
                <p14:modId xmlns:p14="http://schemas.microsoft.com/office/powerpoint/2010/main" val="318290007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5613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087C3-90B6-6A3A-03C6-D336682B9B71}"/>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Architecture Diagram</a:t>
            </a:r>
          </a:p>
        </p:txBody>
      </p:sp>
      <p:pic>
        <p:nvPicPr>
          <p:cNvPr id="2050" name="Picture 2">
            <a:extLst>
              <a:ext uri="{FF2B5EF4-FFF2-40B4-BE49-F238E27FC236}">
                <a16:creationId xmlns:a16="http://schemas.microsoft.com/office/drawing/2014/main" id="{80A1D975-B64E-8C8E-3DE7-0978197D4C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86132" y="394504"/>
            <a:ext cx="3106741" cy="6061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65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4D02DC-86D0-86A9-4404-26B11AF64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8639D7-3AFF-8710-526B-0C5AAA9B3824}"/>
              </a:ext>
            </a:extLst>
          </p:cNvPr>
          <p:cNvSpPr>
            <a:spLocks noGrp="1"/>
          </p:cNvSpPr>
          <p:nvPr>
            <p:ph type="title"/>
          </p:nvPr>
        </p:nvSpPr>
        <p:spPr>
          <a:xfrm>
            <a:off x="2494392" y="1791147"/>
            <a:ext cx="7202862" cy="1952369"/>
          </a:xfrm>
        </p:spPr>
        <p:txBody>
          <a:bodyPr vert="horz" lIns="91440" tIns="45720" rIns="91440" bIns="45720" rtlCol="0" anchor="b">
            <a:normAutofit/>
          </a:bodyPr>
          <a:lstStyle/>
          <a:p>
            <a:pPr algn="ctr"/>
            <a:r>
              <a:rPr lang="en-US" sz="4800"/>
              <a:t>THANK YOU</a:t>
            </a:r>
          </a:p>
        </p:txBody>
      </p:sp>
    </p:spTree>
    <p:extLst>
      <p:ext uri="{BB962C8B-B14F-4D97-AF65-F5344CB8AC3E}">
        <p14:creationId xmlns:p14="http://schemas.microsoft.com/office/powerpoint/2010/main" val="315559241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30</TotalTime>
  <Words>1008</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Neue Haas Grotesk Text Pro</vt:lpstr>
      <vt:lpstr>VanillaVTI</vt:lpstr>
      <vt:lpstr>Enhancing Stock Market Prediction Using Multimodal Deep Learning and Explainable AI</vt:lpstr>
      <vt:lpstr>Problem Statement </vt:lpstr>
      <vt:lpstr> Motivation </vt:lpstr>
      <vt:lpstr>Literature Survey </vt:lpstr>
      <vt:lpstr>Justification and Significance </vt:lpstr>
      <vt:lpstr>Research Gaps Stock Market </vt:lpstr>
      <vt:lpstr>Outline of Proposed Solution </vt:lpstr>
      <vt:lpstr>Dataset Plan</vt:lpstr>
      <vt:lpstr>Implementation Tools</vt:lpstr>
      <vt:lpstr>Architecture Diagram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22-737-133_GRANDHE_ANISH</dc:creator>
  <cp:lastModifiedBy>22-737-133_GRANDHE_ANISH</cp:lastModifiedBy>
  <cp:revision>2</cp:revision>
  <dcterms:created xsi:type="dcterms:W3CDTF">2025-10-11T02:21:54Z</dcterms:created>
  <dcterms:modified xsi:type="dcterms:W3CDTF">2025-10-11T03:50:16Z</dcterms:modified>
</cp:coreProperties>
</file>