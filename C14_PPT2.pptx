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1" r:id="rId4"/>
    <p:sldId id="257" r:id="rId5"/>
    <p:sldId id="258" r:id="rId6"/>
    <p:sldId id="265" r:id="rId7"/>
    <p:sldId id="276" r:id="rId8"/>
    <p:sldId id="263" r:id="rId9"/>
    <p:sldId id="268" r:id="rId10"/>
    <p:sldId id="266" r:id="rId11"/>
    <p:sldId id="275" r:id="rId12"/>
    <p:sldId id="271" r:id="rId13"/>
    <p:sldId id="26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7E1D1D-1ACE-4F7B-AE26-D94059C5AA14}" v="66" dt="2025-05-02T04:47:28.1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DD728E-0A84-4D86-BAC0-62C3DC1F3545}"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C7B48D24-5C7B-4E52-8D5C-B02CA867B887}">
      <dgm:prSet/>
      <dgm:spPr/>
      <dgm:t>
        <a:bodyPr/>
        <a:lstStyle/>
        <a:p>
          <a:pPr>
            <a:lnSpc>
              <a:spcPct val="100000"/>
            </a:lnSpc>
          </a:pPr>
          <a:r>
            <a:rPr lang="en-US" b="0" i="0" baseline="0"/>
            <a:t>Traditional single-modality models rely mainly on price data and fail to capture market sentiment, external factors, and complex market dynamics.</a:t>
          </a:r>
          <a:endParaRPr lang="en-US"/>
        </a:p>
      </dgm:t>
    </dgm:pt>
    <dgm:pt modelId="{483D754C-DAA6-49A0-8726-FD53FB95F17C}" type="parTrans" cxnId="{AA81A551-DB35-4501-9DAC-1C9EF6D8D51D}">
      <dgm:prSet/>
      <dgm:spPr/>
      <dgm:t>
        <a:bodyPr/>
        <a:lstStyle/>
        <a:p>
          <a:endParaRPr lang="en-US"/>
        </a:p>
      </dgm:t>
    </dgm:pt>
    <dgm:pt modelId="{2D4B5FB5-1C1D-460A-8CE1-EFA36D6D53B1}" type="sibTrans" cxnId="{AA81A551-DB35-4501-9DAC-1C9EF6D8D51D}">
      <dgm:prSet/>
      <dgm:spPr/>
      <dgm:t>
        <a:bodyPr/>
        <a:lstStyle/>
        <a:p>
          <a:pPr>
            <a:lnSpc>
              <a:spcPct val="100000"/>
            </a:lnSpc>
          </a:pPr>
          <a:endParaRPr lang="en-US"/>
        </a:p>
      </dgm:t>
    </dgm:pt>
    <dgm:pt modelId="{2369B415-5930-4A3A-9A69-0A1BD879C938}">
      <dgm:prSet/>
      <dgm:spPr/>
      <dgm:t>
        <a:bodyPr/>
        <a:lstStyle/>
        <a:p>
          <a:pPr>
            <a:lnSpc>
              <a:spcPct val="100000"/>
            </a:lnSpc>
          </a:pPr>
          <a:r>
            <a:rPr lang="en-US" b="0" i="0" baseline="0"/>
            <a:t>There is a strong need for real-time sentiment analysis from news and social media, especially since retail investors lack the advanced tools used by institutions.</a:t>
          </a:r>
          <a:endParaRPr lang="en-US"/>
        </a:p>
      </dgm:t>
    </dgm:pt>
    <dgm:pt modelId="{5842205B-25C3-4638-A6A1-5D94FC044F58}" type="parTrans" cxnId="{A2672967-FA1B-4777-9F53-1CF1FD6E06A7}">
      <dgm:prSet/>
      <dgm:spPr/>
      <dgm:t>
        <a:bodyPr/>
        <a:lstStyle/>
        <a:p>
          <a:endParaRPr lang="en-US"/>
        </a:p>
      </dgm:t>
    </dgm:pt>
    <dgm:pt modelId="{BF11CEA4-CADD-43F4-B8C5-8913ECD75CBD}" type="sibTrans" cxnId="{A2672967-FA1B-4777-9F53-1CF1FD6E06A7}">
      <dgm:prSet/>
      <dgm:spPr/>
      <dgm:t>
        <a:bodyPr/>
        <a:lstStyle/>
        <a:p>
          <a:pPr>
            <a:lnSpc>
              <a:spcPct val="100000"/>
            </a:lnSpc>
          </a:pPr>
          <a:endParaRPr lang="en-US"/>
        </a:p>
      </dgm:t>
    </dgm:pt>
    <dgm:pt modelId="{C486851C-435A-4566-ABE9-4C9788E2168B}">
      <dgm:prSet/>
      <dgm:spPr/>
      <dgm:t>
        <a:bodyPr/>
        <a:lstStyle/>
        <a:p>
          <a:pPr>
            <a:lnSpc>
              <a:spcPct val="100000"/>
            </a:lnSpc>
          </a:pPr>
          <a:r>
            <a:rPr lang="en-US" b="0" i="0" baseline="0"/>
            <a:t>Rapidly changing market conditions demand adaptive models with strong risk management, an area often neglected in typical algorithmic trading systems.</a:t>
          </a:r>
          <a:endParaRPr lang="en-US"/>
        </a:p>
      </dgm:t>
    </dgm:pt>
    <dgm:pt modelId="{CE62C719-E330-4973-AC21-9C78D9606BA5}" type="parTrans" cxnId="{05DC77F4-5079-451D-8A8A-29D0A852AE44}">
      <dgm:prSet/>
      <dgm:spPr/>
      <dgm:t>
        <a:bodyPr/>
        <a:lstStyle/>
        <a:p>
          <a:endParaRPr lang="en-US"/>
        </a:p>
      </dgm:t>
    </dgm:pt>
    <dgm:pt modelId="{2BA35ED1-1702-437A-94CA-29AFF6173EF1}" type="sibTrans" cxnId="{05DC77F4-5079-451D-8A8A-29D0A852AE44}">
      <dgm:prSet/>
      <dgm:spPr/>
      <dgm:t>
        <a:bodyPr/>
        <a:lstStyle/>
        <a:p>
          <a:pPr>
            <a:lnSpc>
              <a:spcPct val="100000"/>
            </a:lnSpc>
          </a:pPr>
          <a:endParaRPr lang="en-US"/>
        </a:p>
      </dgm:t>
    </dgm:pt>
    <dgm:pt modelId="{6DD92E93-9D66-47AB-8FFE-7424404F0DDA}">
      <dgm:prSet/>
      <dgm:spPr/>
      <dgm:t>
        <a:bodyPr/>
        <a:lstStyle/>
        <a:p>
          <a:pPr>
            <a:lnSpc>
              <a:spcPct val="100000"/>
            </a:lnSpc>
          </a:pPr>
          <a:r>
            <a:rPr lang="en-US" b="0" i="0" baseline="0"/>
            <a:t>There is a gap between academic research and real-world trading systems, and TCNs offer practical advantages over LSTMs through parallel processing, longer memory, and avoiding vanishing gradients</a:t>
          </a:r>
          <a:endParaRPr lang="en-US"/>
        </a:p>
      </dgm:t>
    </dgm:pt>
    <dgm:pt modelId="{89400B31-912D-49B1-8CB1-627CE532F70A}" type="parTrans" cxnId="{755B0505-20C7-4C16-AA66-31898310BA6B}">
      <dgm:prSet/>
      <dgm:spPr/>
      <dgm:t>
        <a:bodyPr/>
        <a:lstStyle/>
        <a:p>
          <a:endParaRPr lang="en-US"/>
        </a:p>
      </dgm:t>
    </dgm:pt>
    <dgm:pt modelId="{ADF4BB1C-2B78-47C5-ADA2-0B3B00EA7F9D}" type="sibTrans" cxnId="{755B0505-20C7-4C16-AA66-31898310BA6B}">
      <dgm:prSet/>
      <dgm:spPr/>
      <dgm:t>
        <a:bodyPr/>
        <a:lstStyle/>
        <a:p>
          <a:endParaRPr lang="en-US"/>
        </a:p>
      </dgm:t>
    </dgm:pt>
    <dgm:pt modelId="{FDA2BEBC-626B-430B-AB86-E6B0E662C99E}" type="pres">
      <dgm:prSet presAssocID="{4DDD728E-0A84-4D86-BAC0-62C3DC1F3545}" presName="root" presStyleCnt="0">
        <dgm:presLayoutVars>
          <dgm:dir/>
          <dgm:resizeHandles val="exact"/>
        </dgm:presLayoutVars>
      </dgm:prSet>
      <dgm:spPr/>
    </dgm:pt>
    <dgm:pt modelId="{0304E7F6-10AA-47C6-B88C-7B46E1DFB124}" type="pres">
      <dgm:prSet presAssocID="{4DDD728E-0A84-4D86-BAC0-62C3DC1F3545}" presName="container" presStyleCnt="0">
        <dgm:presLayoutVars>
          <dgm:dir/>
          <dgm:resizeHandles val="exact"/>
        </dgm:presLayoutVars>
      </dgm:prSet>
      <dgm:spPr/>
    </dgm:pt>
    <dgm:pt modelId="{CEE3DC2D-C2A0-45C8-876C-3C74220A11D1}" type="pres">
      <dgm:prSet presAssocID="{C7B48D24-5C7B-4E52-8D5C-B02CA867B887}" presName="compNode" presStyleCnt="0"/>
      <dgm:spPr/>
    </dgm:pt>
    <dgm:pt modelId="{2C2D64D8-A3E9-4FD4-B696-A1AD2AFF79FD}" type="pres">
      <dgm:prSet presAssocID="{C7B48D24-5C7B-4E52-8D5C-B02CA867B887}" presName="iconBgRect" presStyleLbl="bgShp" presStyleIdx="0" presStyleCnt="4"/>
      <dgm:spPr/>
    </dgm:pt>
    <dgm:pt modelId="{BA70B2CC-0508-4BC8-97DA-5D3209EAC601}" type="pres">
      <dgm:prSet presAssocID="{C7B48D24-5C7B-4E52-8D5C-B02CA867B88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C6A4627C-2524-4B2E-B667-F25B63D62EAC}" type="pres">
      <dgm:prSet presAssocID="{C7B48D24-5C7B-4E52-8D5C-B02CA867B887}" presName="spaceRect" presStyleCnt="0"/>
      <dgm:spPr/>
    </dgm:pt>
    <dgm:pt modelId="{93E414F3-2A90-4EF4-864F-CDE0E9D4A77F}" type="pres">
      <dgm:prSet presAssocID="{C7B48D24-5C7B-4E52-8D5C-B02CA867B887}" presName="textRect" presStyleLbl="revTx" presStyleIdx="0" presStyleCnt="4">
        <dgm:presLayoutVars>
          <dgm:chMax val="1"/>
          <dgm:chPref val="1"/>
        </dgm:presLayoutVars>
      </dgm:prSet>
      <dgm:spPr/>
    </dgm:pt>
    <dgm:pt modelId="{9B275FA1-723C-46CA-A0E9-9FCBB2060053}" type="pres">
      <dgm:prSet presAssocID="{2D4B5FB5-1C1D-460A-8CE1-EFA36D6D53B1}" presName="sibTrans" presStyleLbl="sibTrans2D1" presStyleIdx="0" presStyleCnt="0"/>
      <dgm:spPr/>
    </dgm:pt>
    <dgm:pt modelId="{78594BF1-5CDD-4613-8B41-127D47F4C8A7}" type="pres">
      <dgm:prSet presAssocID="{2369B415-5930-4A3A-9A69-0A1BD879C938}" presName="compNode" presStyleCnt="0"/>
      <dgm:spPr/>
    </dgm:pt>
    <dgm:pt modelId="{F0490C95-CC6B-4E8C-B8EE-A53EC11848DF}" type="pres">
      <dgm:prSet presAssocID="{2369B415-5930-4A3A-9A69-0A1BD879C938}" presName="iconBgRect" presStyleLbl="bgShp" presStyleIdx="1" presStyleCnt="4"/>
      <dgm:spPr/>
    </dgm:pt>
    <dgm:pt modelId="{7A464E2A-F36E-48CF-9CED-877612735117}" type="pres">
      <dgm:prSet presAssocID="{2369B415-5930-4A3A-9A69-0A1BD879C93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ewspaper"/>
        </a:ext>
      </dgm:extLst>
    </dgm:pt>
    <dgm:pt modelId="{59C70656-56C6-42B2-86AE-3716276CEAAB}" type="pres">
      <dgm:prSet presAssocID="{2369B415-5930-4A3A-9A69-0A1BD879C938}" presName="spaceRect" presStyleCnt="0"/>
      <dgm:spPr/>
    </dgm:pt>
    <dgm:pt modelId="{AE30E55D-6597-4C8C-A87A-602F78AC307D}" type="pres">
      <dgm:prSet presAssocID="{2369B415-5930-4A3A-9A69-0A1BD879C938}" presName="textRect" presStyleLbl="revTx" presStyleIdx="1" presStyleCnt="4">
        <dgm:presLayoutVars>
          <dgm:chMax val="1"/>
          <dgm:chPref val="1"/>
        </dgm:presLayoutVars>
      </dgm:prSet>
      <dgm:spPr/>
    </dgm:pt>
    <dgm:pt modelId="{7D2EA021-CBD8-4E9D-AB80-CE39F0789630}" type="pres">
      <dgm:prSet presAssocID="{BF11CEA4-CADD-43F4-B8C5-8913ECD75CBD}" presName="sibTrans" presStyleLbl="sibTrans2D1" presStyleIdx="0" presStyleCnt="0"/>
      <dgm:spPr/>
    </dgm:pt>
    <dgm:pt modelId="{3D3713D5-03DE-4816-BACE-79C911243CEB}" type="pres">
      <dgm:prSet presAssocID="{C486851C-435A-4566-ABE9-4C9788E2168B}" presName="compNode" presStyleCnt="0"/>
      <dgm:spPr/>
    </dgm:pt>
    <dgm:pt modelId="{A09B15F5-58FB-4F60-8137-48E3EA196DE4}" type="pres">
      <dgm:prSet presAssocID="{C486851C-435A-4566-ABE9-4C9788E2168B}" presName="iconBgRect" presStyleLbl="bgShp" presStyleIdx="2" presStyleCnt="4"/>
      <dgm:spPr/>
    </dgm:pt>
    <dgm:pt modelId="{4BFD850F-B87F-4925-A399-B7AC41E0589D}" type="pres">
      <dgm:prSet presAssocID="{C486851C-435A-4566-ABE9-4C9788E2168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Igloo"/>
        </a:ext>
      </dgm:extLst>
    </dgm:pt>
    <dgm:pt modelId="{733D6E69-9F46-4FF9-A3F7-F87D71A2DE86}" type="pres">
      <dgm:prSet presAssocID="{C486851C-435A-4566-ABE9-4C9788E2168B}" presName="spaceRect" presStyleCnt="0"/>
      <dgm:spPr/>
    </dgm:pt>
    <dgm:pt modelId="{5DEA25CB-B883-4654-B27A-C9F2B6A21FE9}" type="pres">
      <dgm:prSet presAssocID="{C486851C-435A-4566-ABE9-4C9788E2168B}" presName="textRect" presStyleLbl="revTx" presStyleIdx="2" presStyleCnt="4">
        <dgm:presLayoutVars>
          <dgm:chMax val="1"/>
          <dgm:chPref val="1"/>
        </dgm:presLayoutVars>
      </dgm:prSet>
      <dgm:spPr/>
    </dgm:pt>
    <dgm:pt modelId="{749EF39C-70AF-4C07-B9D5-9D3E7A2A591D}" type="pres">
      <dgm:prSet presAssocID="{2BA35ED1-1702-437A-94CA-29AFF6173EF1}" presName="sibTrans" presStyleLbl="sibTrans2D1" presStyleIdx="0" presStyleCnt="0"/>
      <dgm:spPr/>
    </dgm:pt>
    <dgm:pt modelId="{66781DCA-D6F8-4FF7-BBB9-9DB4E5ED2378}" type="pres">
      <dgm:prSet presAssocID="{6DD92E93-9D66-47AB-8FFE-7424404F0DDA}" presName="compNode" presStyleCnt="0"/>
      <dgm:spPr/>
    </dgm:pt>
    <dgm:pt modelId="{99B19264-E841-4BE8-A1F4-793C23513CFE}" type="pres">
      <dgm:prSet presAssocID="{6DD92E93-9D66-47AB-8FFE-7424404F0DDA}" presName="iconBgRect" presStyleLbl="bgShp" presStyleIdx="3" presStyleCnt="4"/>
      <dgm:spPr/>
    </dgm:pt>
    <dgm:pt modelId="{696881EC-807B-4DDB-A8BF-340FC06A7125}" type="pres">
      <dgm:prSet presAssocID="{6DD92E93-9D66-47AB-8FFE-7424404F0DD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grammer"/>
        </a:ext>
      </dgm:extLst>
    </dgm:pt>
    <dgm:pt modelId="{82150DF5-DC63-45CD-BC0C-9DCDEC97FE34}" type="pres">
      <dgm:prSet presAssocID="{6DD92E93-9D66-47AB-8FFE-7424404F0DDA}" presName="spaceRect" presStyleCnt="0"/>
      <dgm:spPr/>
    </dgm:pt>
    <dgm:pt modelId="{AA5EF6D1-E7C6-4BFE-B7F6-8FE253F302CB}" type="pres">
      <dgm:prSet presAssocID="{6DD92E93-9D66-47AB-8FFE-7424404F0DDA}" presName="textRect" presStyleLbl="revTx" presStyleIdx="3" presStyleCnt="4">
        <dgm:presLayoutVars>
          <dgm:chMax val="1"/>
          <dgm:chPref val="1"/>
        </dgm:presLayoutVars>
      </dgm:prSet>
      <dgm:spPr/>
    </dgm:pt>
  </dgm:ptLst>
  <dgm:cxnLst>
    <dgm:cxn modelId="{755B0505-20C7-4C16-AA66-31898310BA6B}" srcId="{4DDD728E-0A84-4D86-BAC0-62C3DC1F3545}" destId="{6DD92E93-9D66-47AB-8FFE-7424404F0DDA}" srcOrd="3" destOrd="0" parTransId="{89400B31-912D-49B1-8CB1-627CE532F70A}" sibTransId="{ADF4BB1C-2B78-47C5-ADA2-0B3B00EA7F9D}"/>
    <dgm:cxn modelId="{EBB03C0A-4CD4-4175-AE3B-D3CC5B433995}" type="presOf" srcId="{6DD92E93-9D66-47AB-8FFE-7424404F0DDA}" destId="{AA5EF6D1-E7C6-4BFE-B7F6-8FE253F302CB}" srcOrd="0" destOrd="0" presId="urn:microsoft.com/office/officeart/2018/2/layout/IconCircleList"/>
    <dgm:cxn modelId="{01CDA12C-CCF8-42C0-AD6A-0023E8BCB469}" type="presOf" srcId="{C486851C-435A-4566-ABE9-4C9788E2168B}" destId="{5DEA25CB-B883-4654-B27A-C9F2B6A21FE9}" srcOrd="0" destOrd="0" presId="urn:microsoft.com/office/officeart/2018/2/layout/IconCircleList"/>
    <dgm:cxn modelId="{A2672967-FA1B-4777-9F53-1CF1FD6E06A7}" srcId="{4DDD728E-0A84-4D86-BAC0-62C3DC1F3545}" destId="{2369B415-5930-4A3A-9A69-0A1BD879C938}" srcOrd="1" destOrd="0" parTransId="{5842205B-25C3-4638-A6A1-5D94FC044F58}" sibTransId="{BF11CEA4-CADD-43F4-B8C5-8913ECD75CBD}"/>
    <dgm:cxn modelId="{AA81A551-DB35-4501-9DAC-1C9EF6D8D51D}" srcId="{4DDD728E-0A84-4D86-BAC0-62C3DC1F3545}" destId="{C7B48D24-5C7B-4E52-8D5C-B02CA867B887}" srcOrd="0" destOrd="0" parTransId="{483D754C-DAA6-49A0-8726-FD53FB95F17C}" sibTransId="{2D4B5FB5-1C1D-460A-8CE1-EFA36D6D53B1}"/>
    <dgm:cxn modelId="{D4792E72-3DB8-42C0-9816-D45345711B61}" type="presOf" srcId="{2BA35ED1-1702-437A-94CA-29AFF6173EF1}" destId="{749EF39C-70AF-4C07-B9D5-9D3E7A2A591D}" srcOrd="0" destOrd="0" presId="urn:microsoft.com/office/officeart/2018/2/layout/IconCircleList"/>
    <dgm:cxn modelId="{60616B9E-57EC-4952-86CE-41B6FE660B63}" type="presOf" srcId="{2D4B5FB5-1C1D-460A-8CE1-EFA36D6D53B1}" destId="{9B275FA1-723C-46CA-A0E9-9FCBB2060053}" srcOrd="0" destOrd="0" presId="urn:microsoft.com/office/officeart/2018/2/layout/IconCircleList"/>
    <dgm:cxn modelId="{42E8F7A1-3F77-4E15-B554-ABA9301B45E3}" type="presOf" srcId="{4DDD728E-0A84-4D86-BAC0-62C3DC1F3545}" destId="{FDA2BEBC-626B-430B-AB86-E6B0E662C99E}" srcOrd="0" destOrd="0" presId="urn:microsoft.com/office/officeart/2018/2/layout/IconCircleList"/>
    <dgm:cxn modelId="{7D1EEDAB-0268-4387-AE46-B2770B91A5DC}" type="presOf" srcId="{2369B415-5930-4A3A-9A69-0A1BD879C938}" destId="{AE30E55D-6597-4C8C-A87A-602F78AC307D}" srcOrd="0" destOrd="0" presId="urn:microsoft.com/office/officeart/2018/2/layout/IconCircleList"/>
    <dgm:cxn modelId="{5B512AC6-C044-4EA3-A703-27161E110C09}" type="presOf" srcId="{C7B48D24-5C7B-4E52-8D5C-B02CA867B887}" destId="{93E414F3-2A90-4EF4-864F-CDE0E9D4A77F}" srcOrd="0" destOrd="0" presId="urn:microsoft.com/office/officeart/2018/2/layout/IconCircleList"/>
    <dgm:cxn modelId="{AF0092D6-D08E-4431-893E-E24BC48BE356}" type="presOf" srcId="{BF11CEA4-CADD-43F4-B8C5-8913ECD75CBD}" destId="{7D2EA021-CBD8-4E9D-AB80-CE39F0789630}" srcOrd="0" destOrd="0" presId="urn:microsoft.com/office/officeart/2018/2/layout/IconCircleList"/>
    <dgm:cxn modelId="{05DC77F4-5079-451D-8A8A-29D0A852AE44}" srcId="{4DDD728E-0A84-4D86-BAC0-62C3DC1F3545}" destId="{C486851C-435A-4566-ABE9-4C9788E2168B}" srcOrd="2" destOrd="0" parTransId="{CE62C719-E330-4973-AC21-9C78D9606BA5}" sibTransId="{2BA35ED1-1702-437A-94CA-29AFF6173EF1}"/>
    <dgm:cxn modelId="{09015B1C-E360-45C8-8879-275B01074D43}" type="presParOf" srcId="{FDA2BEBC-626B-430B-AB86-E6B0E662C99E}" destId="{0304E7F6-10AA-47C6-B88C-7B46E1DFB124}" srcOrd="0" destOrd="0" presId="urn:microsoft.com/office/officeart/2018/2/layout/IconCircleList"/>
    <dgm:cxn modelId="{48F8BBBE-5F72-41D1-8FBC-91B7A63FDA71}" type="presParOf" srcId="{0304E7F6-10AA-47C6-B88C-7B46E1DFB124}" destId="{CEE3DC2D-C2A0-45C8-876C-3C74220A11D1}" srcOrd="0" destOrd="0" presId="urn:microsoft.com/office/officeart/2018/2/layout/IconCircleList"/>
    <dgm:cxn modelId="{7B6568ED-A93B-4988-945B-D03C77EB6E6D}" type="presParOf" srcId="{CEE3DC2D-C2A0-45C8-876C-3C74220A11D1}" destId="{2C2D64D8-A3E9-4FD4-B696-A1AD2AFF79FD}" srcOrd="0" destOrd="0" presId="urn:microsoft.com/office/officeart/2018/2/layout/IconCircleList"/>
    <dgm:cxn modelId="{8979701E-6791-4B26-B8EC-87B611950D66}" type="presParOf" srcId="{CEE3DC2D-C2A0-45C8-876C-3C74220A11D1}" destId="{BA70B2CC-0508-4BC8-97DA-5D3209EAC601}" srcOrd="1" destOrd="0" presId="urn:microsoft.com/office/officeart/2018/2/layout/IconCircleList"/>
    <dgm:cxn modelId="{6E1CEF13-6281-4FCE-B42F-1C5467A70AC7}" type="presParOf" srcId="{CEE3DC2D-C2A0-45C8-876C-3C74220A11D1}" destId="{C6A4627C-2524-4B2E-B667-F25B63D62EAC}" srcOrd="2" destOrd="0" presId="urn:microsoft.com/office/officeart/2018/2/layout/IconCircleList"/>
    <dgm:cxn modelId="{021624AF-9134-4E53-9C52-136AF32AD7D9}" type="presParOf" srcId="{CEE3DC2D-C2A0-45C8-876C-3C74220A11D1}" destId="{93E414F3-2A90-4EF4-864F-CDE0E9D4A77F}" srcOrd="3" destOrd="0" presId="urn:microsoft.com/office/officeart/2018/2/layout/IconCircleList"/>
    <dgm:cxn modelId="{E200DA4D-6F5B-4BDE-965A-E94BFFC45B22}" type="presParOf" srcId="{0304E7F6-10AA-47C6-B88C-7B46E1DFB124}" destId="{9B275FA1-723C-46CA-A0E9-9FCBB2060053}" srcOrd="1" destOrd="0" presId="urn:microsoft.com/office/officeart/2018/2/layout/IconCircleList"/>
    <dgm:cxn modelId="{97C33851-4B0C-47CE-96D0-7709CC3588F5}" type="presParOf" srcId="{0304E7F6-10AA-47C6-B88C-7B46E1DFB124}" destId="{78594BF1-5CDD-4613-8B41-127D47F4C8A7}" srcOrd="2" destOrd="0" presId="urn:microsoft.com/office/officeart/2018/2/layout/IconCircleList"/>
    <dgm:cxn modelId="{095F73E6-56A7-440A-B761-EA05995F2823}" type="presParOf" srcId="{78594BF1-5CDD-4613-8B41-127D47F4C8A7}" destId="{F0490C95-CC6B-4E8C-B8EE-A53EC11848DF}" srcOrd="0" destOrd="0" presId="urn:microsoft.com/office/officeart/2018/2/layout/IconCircleList"/>
    <dgm:cxn modelId="{4C4637A9-8AC0-4D7D-A1A6-0F1BC224D469}" type="presParOf" srcId="{78594BF1-5CDD-4613-8B41-127D47F4C8A7}" destId="{7A464E2A-F36E-48CF-9CED-877612735117}" srcOrd="1" destOrd="0" presId="urn:microsoft.com/office/officeart/2018/2/layout/IconCircleList"/>
    <dgm:cxn modelId="{B75091C7-C670-45A6-9F74-A2D59338FAC8}" type="presParOf" srcId="{78594BF1-5CDD-4613-8B41-127D47F4C8A7}" destId="{59C70656-56C6-42B2-86AE-3716276CEAAB}" srcOrd="2" destOrd="0" presId="urn:microsoft.com/office/officeart/2018/2/layout/IconCircleList"/>
    <dgm:cxn modelId="{C6243E0D-BBE0-4DAC-9AA8-90F21C868EF1}" type="presParOf" srcId="{78594BF1-5CDD-4613-8B41-127D47F4C8A7}" destId="{AE30E55D-6597-4C8C-A87A-602F78AC307D}" srcOrd="3" destOrd="0" presId="urn:microsoft.com/office/officeart/2018/2/layout/IconCircleList"/>
    <dgm:cxn modelId="{CD49BA4B-40FD-4F15-B8A2-100234D55097}" type="presParOf" srcId="{0304E7F6-10AA-47C6-B88C-7B46E1DFB124}" destId="{7D2EA021-CBD8-4E9D-AB80-CE39F0789630}" srcOrd="3" destOrd="0" presId="urn:microsoft.com/office/officeart/2018/2/layout/IconCircleList"/>
    <dgm:cxn modelId="{42B7D94B-F84E-4C3D-B35D-0586723A5FEF}" type="presParOf" srcId="{0304E7F6-10AA-47C6-B88C-7B46E1DFB124}" destId="{3D3713D5-03DE-4816-BACE-79C911243CEB}" srcOrd="4" destOrd="0" presId="urn:microsoft.com/office/officeart/2018/2/layout/IconCircleList"/>
    <dgm:cxn modelId="{DEF169B1-2F54-4D9F-9948-2816F1870702}" type="presParOf" srcId="{3D3713D5-03DE-4816-BACE-79C911243CEB}" destId="{A09B15F5-58FB-4F60-8137-48E3EA196DE4}" srcOrd="0" destOrd="0" presId="urn:microsoft.com/office/officeart/2018/2/layout/IconCircleList"/>
    <dgm:cxn modelId="{403CF62C-6E3F-48B5-9B26-B96C4C68925F}" type="presParOf" srcId="{3D3713D5-03DE-4816-BACE-79C911243CEB}" destId="{4BFD850F-B87F-4925-A399-B7AC41E0589D}" srcOrd="1" destOrd="0" presId="urn:microsoft.com/office/officeart/2018/2/layout/IconCircleList"/>
    <dgm:cxn modelId="{5BBEF892-530F-44E3-92B6-491CA1CD5C77}" type="presParOf" srcId="{3D3713D5-03DE-4816-BACE-79C911243CEB}" destId="{733D6E69-9F46-4FF9-A3F7-F87D71A2DE86}" srcOrd="2" destOrd="0" presId="urn:microsoft.com/office/officeart/2018/2/layout/IconCircleList"/>
    <dgm:cxn modelId="{DFA226D0-989E-4BDC-80D0-1E69067BE58F}" type="presParOf" srcId="{3D3713D5-03DE-4816-BACE-79C911243CEB}" destId="{5DEA25CB-B883-4654-B27A-C9F2B6A21FE9}" srcOrd="3" destOrd="0" presId="urn:microsoft.com/office/officeart/2018/2/layout/IconCircleList"/>
    <dgm:cxn modelId="{78066F65-A9F4-49BD-BDA1-DDE890A3B392}" type="presParOf" srcId="{0304E7F6-10AA-47C6-B88C-7B46E1DFB124}" destId="{749EF39C-70AF-4C07-B9D5-9D3E7A2A591D}" srcOrd="5" destOrd="0" presId="urn:microsoft.com/office/officeart/2018/2/layout/IconCircleList"/>
    <dgm:cxn modelId="{0CA060BF-5DFD-4AC2-874F-EB3091EB91A2}" type="presParOf" srcId="{0304E7F6-10AA-47C6-B88C-7B46E1DFB124}" destId="{66781DCA-D6F8-4FF7-BBB9-9DB4E5ED2378}" srcOrd="6" destOrd="0" presId="urn:microsoft.com/office/officeart/2018/2/layout/IconCircleList"/>
    <dgm:cxn modelId="{E8931D3A-28A5-46E8-BD7C-FB789CA0F628}" type="presParOf" srcId="{66781DCA-D6F8-4FF7-BBB9-9DB4E5ED2378}" destId="{99B19264-E841-4BE8-A1F4-793C23513CFE}" srcOrd="0" destOrd="0" presId="urn:microsoft.com/office/officeart/2018/2/layout/IconCircleList"/>
    <dgm:cxn modelId="{23CF5D0E-B8A4-4912-8C37-15253B8DE8E4}" type="presParOf" srcId="{66781DCA-D6F8-4FF7-BBB9-9DB4E5ED2378}" destId="{696881EC-807B-4DDB-A8BF-340FC06A7125}" srcOrd="1" destOrd="0" presId="urn:microsoft.com/office/officeart/2018/2/layout/IconCircleList"/>
    <dgm:cxn modelId="{DF5F0471-9C19-49C8-80C6-85A119351143}" type="presParOf" srcId="{66781DCA-D6F8-4FF7-BBB9-9DB4E5ED2378}" destId="{82150DF5-DC63-45CD-BC0C-9DCDEC97FE34}" srcOrd="2" destOrd="0" presId="urn:microsoft.com/office/officeart/2018/2/layout/IconCircleList"/>
    <dgm:cxn modelId="{B30E9CF7-2D88-4447-978D-3DC09A0BD7AC}" type="presParOf" srcId="{66781DCA-D6F8-4FF7-BBB9-9DB4E5ED2378}" destId="{AA5EF6D1-E7C6-4BFE-B7F6-8FE253F302C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EA196FD-72DA-4218-9AD4-70E8ED339ED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AD9929-E829-4883-903D-1019896AD157}">
      <dgm:prSet custT="1"/>
      <dgm:spPr/>
      <dgm:t>
        <a:bodyPr/>
        <a:lstStyle/>
        <a:p>
          <a:pPr>
            <a:lnSpc>
              <a:spcPct val="100000"/>
            </a:lnSpc>
          </a:pPr>
          <a:r>
            <a:rPr lang="en-US" sz="1400" b="0" i="0" baseline="0" dirty="0"/>
            <a:t>The system must integrate highly heterogeneous data — numerical market data, technical indicators, news, and social media text — while capturing long-range temporal patterns and extracting reliable sentiment.</a:t>
          </a:r>
          <a:endParaRPr lang="en-US" sz="1400" dirty="0"/>
        </a:p>
      </dgm:t>
    </dgm:pt>
    <dgm:pt modelId="{A788C872-0425-4C64-BAA6-65D43E11FE93}" type="parTrans" cxnId="{BF13B891-A752-48C7-BD1F-AF9EEF9A2742}">
      <dgm:prSet/>
      <dgm:spPr/>
      <dgm:t>
        <a:bodyPr/>
        <a:lstStyle/>
        <a:p>
          <a:endParaRPr lang="en-US"/>
        </a:p>
      </dgm:t>
    </dgm:pt>
    <dgm:pt modelId="{4AFDFBEF-7FCF-47F4-BBB2-E5E984D22E08}" type="sibTrans" cxnId="{BF13B891-A752-48C7-BD1F-AF9EEF9A2742}">
      <dgm:prSet/>
      <dgm:spPr/>
      <dgm:t>
        <a:bodyPr/>
        <a:lstStyle/>
        <a:p>
          <a:endParaRPr lang="en-US"/>
        </a:p>
      </dgm:t>
    </dgm:pt>
    <dgm:pt modelId="{2819E225-EE51-49F5-8693-45A803F1320E}">
      <dgm:prSet custT="1"/>
      <dgm:spPr/>
      <dgm:t>
        <a:bodyPr/>
        <a:lstStyle/>
        <a:p>
          <a:pPr>
            <a:lnSpc>
              <a:spcPct val="100000"/>
            </a:lnSpc>
          </a:pPr>
          <a:r>
            <a:rPr lang="en-US" sz="1400" b="0" i="0" baseline="0" dirty="0"/>
            <a:t>It requires an adaptive fusion mechanism that dynamically weights different data sources based on changing market conditions, along with robust uncertainty estimation for volatile markets.</a:t>
          </a:r>
          <a:endParaRPr lang="en-US" sz="1400" dirty="0"/>
        </a:p>
      </dgm:t>
    </dgm:pt>
    <dgm:pt modelId="{AB399E09-95E1-4C92-8115-919F07554230}" type="parTrans" cxnId="{03BB1492-81D1-4046-8EFE-44FE8A57544B}">
      <dgm:prSet/>
      <dgm:spPr/>
      <dgm:t>
        <a:bodyPr/>
        <a:lstStyle/>
        <a:p>
          <a:endParaRPr lang="en-US"/>
        </a:p>
      </dgm:t>
    </dgm:pt>
    <dgm:pt modelId="{6B4DB55E-46F7-4F9F-9501-0C6D5F63BC2C}" type="sibTrans" cxnId="{03BB1492-81D1-4046-8EFE-44FE8A57544B}">
      <dgm:prSet/>
      <dgm:spPr/>
      <dgm:t>
        <a:bodyPr/>
        <a:lstStyle/>
        <a:p>
          <a:endParaRPr lang="en-US"/>
        </a:p>
      </dgm:t>
    </dgm:pt>
    <dgm:pt modelId="{4D751360-9878-4442-8F9A-03F75F67978B}">
      <dgm:prSet custT="1"/>
      <dgm:spPr/>
      <dgm:t>
        <a:bodyPr/>
        <a:lstStyle/>
        <a:p>
          <a:pPr>
            <a:lnSpc>
              <a:spcPct val="100000"/>
            </a:lnSpc>
          </a:pPr>
          <a:r>
            <a:rPr lang="en-US" sz="1400" b="0" i="0" baseline="0" dirty="0"/>
            <a:t>The model must support continuous learning without catastrophic forgetting and convert predictions into clear, risk-adjusted, executable trading signals.</a:t>
          </a:r>
          <a:endParaRPr lang="en-US" sz="1400" dirty="0"/>
        </a:p>
      </dgm:t>
    </dgm:pt>
    <dgm:pt modelId="{8488ABCE-7452-4665-AB92-642B2F0D69F2}" type="parTrans" cxnId="{1BB7BD4C-34A8-4E3F-B5E3-9406C5729B5B}">
      <dgm:prSet/>
      <dgm:spPr/>
      <dgm:t>
        <a:bodyPr/>
        <a:lstStyle/>
        <a:p>
          <a:endParaRPr lang="en-US"/>
        </a:p>
      </dgm:t>
    </dgm:pt>
    <dgm:pt modelId="{562F8395-B6C0-4055-908B-4334A53C3F1A}" type="sibTrans" cxnId="{1BB7BD4C-34A8-4E3F-B5E3-9406C5729B5B}">
      <dgm:prSet/>
      <dgm:spPr/>
      <dgm:t>
        <a:bodyPr/>
        <a:lstStyle/>
        <a:p>
          <a:endParaRPr lang="en-US"/>
        </a:p>
      </dgm:t>
    </dgm:pt>
    <dgm:pt modelId="{1AFFA097-DD29-41E8-A7DB-89207A69BCE0}" type="pres">
      <dgm:prSet presAssocID="{2EA196FD-72DA-4218-9AD4-70E8ED339ED1}" presName="root" presStyleCnt="0">
        <dgm:presLayoutVars>
          <dgm:dir/>
          <dgm:resizeHandles val="exact"/>
        </dgm:presLayoutVars>
      </dgm:prSet>
      <dgm:spPr/>
    </dgm:pt>
    <dgm:pt modelId="{D9B384B8-7FD4-4013-AA84-366FFCA20926}" type="pres">
      <dgm:prSet presAssocID="{20AD9929-E829-4883-903D-1019896AD157}" presName="compNode" presStyleCnt="0"/>
      <dgm:spPr/>
    </dgm:pt>
    <dgm:pt modelId="{09B08225-77B3-421C-BFBE-73EF7E71D40C}" type="pres">
      <dgm:prSet presAssocID="{20AD9929-E829-4883-903D-1019896AD157}" presName="bgRect" presStyleLbl="bgShp" presStyleIdx="0" presStyleCnt="3"/>
      <dgm:spPr/>
    </dgm:pt>
    <dgm:pt modelId="{8991C43E-FA6C-43F1-A66A-3ACFA92FC9F9}" type="pres">
      <dgm:prSet presAssocID="{20AD9929-E829-4883-903D-1019896AD15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atistics"/>
        </a:ext>
      </dgm:extLst>
    </dgm:pt>
    <dgm:pt modelId="{24EF1397-1237-43D1-9060-1B1322AC7B44}" type="pres">
      <dgm:prSet presAssocID="{20AD9929-E829-4883-903D-1019896AD157}" presName="spaceRect" presStyleCnt="0"/>
      <dgm:spPr/>
    </dgm:pt>
    <dgm:pt modelId="{0F3670DE-968B-40AE-8CF1-06BD28CF7077}" type="pres">
      <dgm:prSet presAssocID="{20AD9929-E829-4883-903D-1019896AD157}" presName="parTx" presStyleLbl="revTx" presStyleIdx="0" presStyleCnt="3">
        <dgm:presLayoutVars>
          <dgm:chMax val="0"/>
          <dgm:chPref val="0"/>
        </dgm:presLayoutVars>
      </dgm:prSet>
      <dgm:spPr/>
    </dgm:pt>
    <dgm:pt modelId="{3D6AAC14-B2E1-4FFB-8EAC-3C9C9C53F63B}" type="pres">
      <dgm:prSet presAssocID="{4AFDFBEF-7FCF-47F4-BBB2-E5E984D22E08}" presName="sibTrans" presStyleCnt="0"/>
      <dgm:spPr/>
    </dgm:pt>
    <dgm:pt modelId="{58A6C77E-0582-49A2-BADF-A779C17B253E}" type="pres">
      <dgm:prSet presAssocID="{2819E225-EE51-49F5-8693-45A803F1320E}" presName="compNode" presStyleCnt="0"/>
      <dgm:spPr/>
    </dgm:pt>
    <dgm:pt modelId="{9DBCE5E2-878D-4BCB-B994-1F0D365F7C4C}" type="pres">
      <dgm:prSet presAssocID="{2819E225-EE51-49F5-8693-45A803F1320E}" presName="bgRect" presStyleLbl="bgShp" presStyleIdx="1" presStyleCnt="3"/>
      <dgm:spPr/>
    </dgm:pt>
    <dgm:pt modelId="{B8E093BB-0FD6-4C6F-9B5C-3E71373F6C63}" type="pres">
      <dgm:prSet presAssocID="{2819E225-EE51-49F5-8693-45A803F1320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4EEB42EA-FFEA-4375-8415-925B5CD5C856}" type="pres">
      <dgm:prSet presAssocID="{2819E225-EE51-49F5-8693-45A803F1320E}" presName="spaceRect" presStyleCnt="0"/>
      <dgm:spPr/>
    </dgm:pt>
    <dgm:pt modelId="{7E567191-4CB4-412E-88FB-D8C812F091E6}" type="pres">
      <dgm:prSet presAssocID="{2819E225-EE51-49F5-8693-45A803F1320E}" presName="parTx" presStyleLbl="revTx" presStyleIdx="1" presStyleCnt="3">
        <dgm:presLayoutVars>
          <dgm:chMax val="0"/>
          <dgm:chPref val="0"/>
        </dgm:presLayoutVars>
      </dgm:prSet>
      <dgm:spPr/>
    </dgm:pt>
    <dgm:pt modelId="{8BEBC651-11BF-403F-8116-BBFB1DDE3264}" type="pres">
      <dgm:prSet presAssocID="{6B4DB55E-46F7-4F9F-9501-0C6D5F63BC2C}" presName="sibTrans" presStyleCnt="0"/>
      <dgm:spPr/>
    </dgm:pt>
    <dgm:pt modelId="{5A9F8581-AB0B-43D6-836B-9A0018A89820}" type="pres">
      <dgm:prSet presAssocID="{4D751360-9878-4442-8F9A-03F75F67978B}" presName="compNode" presStyleCnt="0"/>
      <dgm:spPr/>
    </dgm:pt>
    <dgm:pt modelId="{FD9A1103-28DF-429A-B9DD-EACA7DD5C15F}" type="pres">
      <dgm:prSet presAssocID="{4D751360-9878-4442-8F9A-03F75F67978B}" presName="bgRect" presStyleLbl="bgShp" presStyleIdx="2" presStyleCnt="3"/>
      <dgm:spPr/>
    </dgm:pt>
    <dgm:pt modelId="{370FC27C-56F1-4592-98B0-D737BB120B11}" type="pres">
      <dgm:prSet presAssocID="{4D751360-9878-4442-8F9A-03F75F67978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2A5723D0-5089-4C80-A5D4-2036BA5FD46F}" type="pres">
      <dgm:prSet presAssocID="{4D751360-9878-4442-8F9A-03F75F67978B}" presName="spaceRect" presStyleCnt="0"/>
      <dgm:spPr/>
    </dgm:pt>
    <dgm:pt modelId="{077E7BD5-159D-4027-91CA-C6B1EC699218}" type="pres">
      <dgm:prSet presAssocID="{4D751360-9878-4442-8F9A-03F75F67978B}" presName="parTx" presStyleLbl="revTx" presStyleIdx="2" presStyleCnt="3">
        <dgm:presLayoutVars>
          <dgm:chMax val="0"/>
          <dgm:chPref val="0"/>
        </dgm:presLayoutVars>
      </dgm:prSet>
      <dgm:spPr/>
    </dgm:pt>
  </dgm:ptLst>
  <dgm:cxnLst>
    <dgm:cxn modelId="{BCAA8234-FDE6-4A27-9825-A49A8E111790}" type="presOf" srcId="{20AD9929-E829-4883-903D-1019896AD157}" destId="{0F3670DE-968B-40AE-8CF1-06BD28CF7077}" srcOrd="0" destOrd="0" presId="urn:microsoft.com/office/officeart/2018/2/layout/IconVerticalSolidList"/>
    <dgm:cxn modelId="{4417FD65-8EA8-4748-821A-633477CA52B2}" type="presOf" srcId="{2819E225-EE51-49F5-8693-45A803F1320E}" destId="{7E567191-4CB4-412E-88FB-D8C812F091E6}" srcOrd="0" destOrd="0" presId="urn:microsoft.com/office/officeart/2018/2/layout/IconVerticalSolidList"/>
    <dgm:cxn modelId="{1BB7BD4C-34A8-4E3F-B5E3-9406C5729B5B}" srcId="{2EA196FD-72DA-4218-9AD4-70E8ED339ED1}" destId="{4D751360-9878-4442-8F9A-03F75F67978B}" srcOrd="2" destOrd="0" parTransId="{8488ABCE-7452-4665-AB92-642B2F0D69F2}" sibTransId="{562F8395-B6C0-4055-908B-4334A53C3F1A}"/>
    <dgm:cxn modelId="{76484553-79D2-4EC6-9DA6-06CECC225E00}" type="presOf" srcId="{4D751360-9878-4442-8F9A-03F75F67978B}" destId="{077E7BD5-159D-4027-91CA-C6B1EC699218}" srcOrd="0" destOrd="0" presId="urn:microsoft.com/office/officeart/2018/2/layout/IconVerticalSolidList"/>
    <dgm:cxn modelId="{BF13B891-A752-48C7-BD1F-AF9EEF9A2742}" srcId="{2EA196FD-72DA-4218-9AD4-70E8ED339ED1}" destId="{20AD9929-E829-4883-903D-1019896AD157}" srcOrd="0" destOrd="0" parTransId="{A788C872-0425-4C64-BAA6-65D43E11FE93}" sibTransId="{4AFDFBEF-7FCF-47F4-BBB2-E5E984D22E08}"/>
    <dgm:cxn modelId="{03BB1492-81D1-4046-8EFE-44FE8A57544B}" srcId="{2EA196FD-72DA-4218-9AD4-70E8ED339ED1}" destId="{2819E225-EE51-49F5-8693-45A803F1320E}" srcOrd="1" destOrd="0" parTransId="{AB399E09-95E1-4C92-8115-919F07554230}" sibTransId="{6B4DB55E-46F7-4F9F-9501-0C6D5F63BC2C}"/>
    <dgm:cxn modelId="{614F5FE1-6B42-44B9-89E2-0BE17109D2FB}" type="presOf" srcId="{2EA196FD-72DA-4218-9AD4-70E8ED339ED1}" destId="{1AFFA097-DD29-41E8-A7DB-89207A69BCE0}" srcOrd="0" destOrd="0" presId="urn:microsoft.com/office/officeart/2018/2/layout/IconVerticalSolidList"/>
    <dgm:cxn modelId="{035A5517-5570-4D4D-B0F3-4238768DFDAE}" type="presParOf" srcId="{1AFFA097-DD29-41E8-A7DB-89207A69BCE0}" destId="{D9B384B8-7FD4-4013-AA84-366FFCA20926}" srcOrd="0" destOrd="0" presId="urn:microsoft.com/office/officeart/2018/2/layout/IconVerticalSolidList"/>
    <dgm:cxn modelId="{1122DBB4-C2AD-4F00-9ED5-D329D5CEC3C7}" type="presParOf" srcId="{D9B384B8-7FD4-4013-AA84-366FFCA20926}" destId="{09B08225-77B3-421C-BFBE-73EF7E71D40C}" srcOrd="0" destOrd="0" presId="urn:microsoft.com/office/officeart/2018/2/layout/IconVerticalSolidList"/>
    <dgm:cxn modelId="{31BF3042-56E5-427A-8585-35D8B43DF80D}" type="presParOf" srcId="{D9B384B8-7FD4-4013-AA84-366FFCA20926}" destId="{8991C43E-FA6C-43F1-A66A-3ACFA92FC9F9}" srcOrd="1" destOrd="0" presId="urn:microsoft.com/office/officeart/2018/2/layout/IconVerticalSolidList"/>
    <dgm:cxn modelId="{8C257325-CB2B-472D-88EC-6C62392BBB14}" type="presParOf" srcId="{D9B384B8-7FD4-4013-AA84-366FFCA20926}" destId="{24EF1397-1237-43D1-9060-1B1322AC7B44}" srcOrd="2" destOrd="0" presId="urn:microsoft.com/office/officeart/2018/2/layout/IconVerticalSolidList"/>
    <dgm:cxn modelId="{7CF6E016-46E2-4208-8B7F-CE7357C8C354}" type="presParOf" srcId="{D9B384B8-7FD4-4013-AA84-366FFCA20926}" destId="{0F3670DE-968B-40AE-8CF1-06BD28CF7077}" srcOrd="3" destOrd="0" presId="urn:microsoft.com/office/officeart/2018/2/layout/IconVerticalSolidList"/>
    <dgm:cxn modelId="{B9A15656-A191-47E4-B67A-1E8AFCDB1EE2}" type="presParOf" srcId="{1AFFA097-DD29-41E8-A7DB-89207A69BCE0}" destId="{3D6AAC14-B2E1-4FFB-8EAC-3C9C9C53F63B}" srcOrd="1" destOrd="0" presId="urn:microsoft.com/office/officeart/2018/2/layout/IconVerticalSolidList"/>
    <dgm:cxn modelId="{2D9D5E88-E42A-4088-8775-2AD2AA852E07}" type="presParOf" srcId="{1AFFA097-DD29-41E8-A7DB-89207A69BCE0}" destId="{58A6C77E-0582-49A2-BADF-A779C17B253E}" srcOrd="2" destOrd="0" presId="urn:microsoft.com/office/officeart/2018/2/layout/IconVerticalSolidList"/>
    <dgm:cxn modelId="{DA647ACC-79B1-4AEA-9E16-2923A26A550E}" type="presParOf" srcId="{58A6C77E-0582-49A2-BADF-A779C17B253E}" destId="{9DBCE5E2-878D-4BCB-B994-1F0D365F7C4C}" srcOrd="0" destOrd="0" presId="urn:microsoft.com/office/officeart/2018/2/layout/IconVerticalSolidList"/>
    <dgm:cxn modelId="{2352ED0E-EBEC-4663-9E0D-BF058A943A26}" type="presParOf" srcId="{58A6C77E-0582-49A2-BADF-A779C17B253E}" destId="{B8E093BB-0FD6-4C6F-9B5C-3E71373F6C63}" srcOrd="1" destOrd="0" presId="urn:microsoft.com/office/officeart/2018/2/layout/IconVerticalSolidList"/>
    <dgm:cxn modelId="{6CA08E48-7773-46B8-B427-0B4705825B23}" type="presParOf" srcId="{58A6C77E-0582-49A2-BADF-A779C17B253E}" destId="{4EEB42EA-FFEA-4375-8415-925B5CD5C856}" srcOrd="2" destOrd="0" presId="urn:microsoft.com/office/officeart/2018/2/layout/IconVerticalSolidList"/>
    <dgm:cxn modelId="{66629F24-CF04-4C7F-A2FA-2353A768A67C}" type="presParOf" srcId="{58A6C77E-0582-49A2-BADF-A779C17B253E}" destId="{7E567191-4CB4-412E-88FB-D8C812F091E6}" srcOrd="3" destOrd="0" presId="urn:microsoft.com/office/officeart/2018/2/layout/IconVerticalSolidList"/>
    <dgm:cxn modelId="{7A479225-4FB9-455A-9C60-70CDFC60B955}" type="presParOf" srcId="{1AFFA097-DD29-41E8-A7DB-89207A69BCE0}" destId="{8BEBC651-11BF-403F-8116-BBFB1DDE3264}" srcOrd="3" destOrd="0" presId="urn:microsoft.com/office/officeart/2018/2/layout/IconVerticalSolidList"/>
    <dgm:cxn modelId="{60D2FEBF-8F18-4BFA-9E59-88C7E11AB56B}" type="presParOf" srcId="{1AFFA097-DD29-41E8-A7DB-89207A69BCE0}" destId="{5A9F8581-AB0B-43D6-836B-9A0018A89820}" srcOrd="4" destOrd="0" presId="urn:microsoft.com/office/officeart/2018/2/layout/IconVerticalSolidList"/>
    <dgm:cxn modelId="{D150AC71-5F36-4F8B-9CC9-A589C2D3616A}" type="presParOf" srcId="{5A9F8581-AB0B-43D6-836B-9A0018A89820}" destId="{FD9A1103-28DF-429A-B9DD-EACA7DD5C15F}" srcOrd="0" destOrd="0" presId="urn:microsoft.com/office/officeart/2018/2/layout/IconVerticalSolidList"/>
    <dgm:cxn modelId="{BD794B3D-C791-4EAA-9262-43B53FB24834}" type="presParOf" srcId="{5A9F8581-AB0B-43D6-836B-9A0018A89820}" destId="{370FC27C-56F1-4592-98B0-D737BB120B11}" srcOrd="1" destOrd="0" presId="urn:microsoft.com/office/officeart/2018/2/layout/IconVerticalSolidList"/>
    <dgm:cxn modelId="{216EFB9E-C04C-46B7-9F0B-9AA636800468}" type="presParOf" srcId="{5A9F8581-AB0B-43D6-836B-9A0018A89820}" destId="{2A5723D0-5089-4C80-A5D4-2036BA5FD46F}" srcOrd="2" destOrd="0" presId="urn:microsoft.com/office/officeart/2018/2/layout/IconVerticalSolidList"/>
    <dgm:cxn modelId="{4F022788-A817-4480-8DB8-BAD965309B5A}" type="presParOf" srcId="{5A9F8581-AB0B-43D6-836B-9A0018A89820}" destId="{077E7BD5-159D-4027-91CA-C6B1EC69921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9F3775-65F5-450C-91BF-EA9F69A96B1D}"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64D6287-558A-40AA-A979-52C3457AB9BC}">
      <dgm:prSet/>
      <dgm:spPr/>
      <dgm:t>
        <a:bodyPr/>
        <a:lstStyle/>
        <a:p>
          <a:r>
            <a:rPr lang="en-US"/>
            <a:t>Phase 1 - Feature Engineering </a:t>
          </a:r>
        </a:p>
      </dgm:t>
    </dgm:pt>
    <dgm:pt modelId="{61BE3469-B60A-48C3-BA6B-768A8BC64CE3}" type="parTrans" cxnId="{9F2D6EF9-B261-4F2C-8E7A-7D6A78E3479F}">
      <dgm:prSet/>
      <dgm:spPr/>
      <dgm:t>
        <a:bodyPr/>
        <a:lstStyle/>
        <a:p>
          <a:endParaRPr lang="en-US"/>
        </a:p>
      </dgm:t>
    </dgm:pt>
    <dgm:pt modelId="{0B26ADE5-27FB-491B-ADA3-BFBDC3ABEB72}" type="sibTrans" cxnId="{9F2D6EF9-B261-4F2C-8E7A-7D6A78E3479F}">
      <dgm:prSet/>
      <dgm:spPr/>
      <dgm:t>
        <a:bodyPr/>
        <a:lstStyle/>
        <a:p>
          <a:endParaRPr lang="en-US"/>
        </a:p>
      </dgm:t>
    </dgm:pt>
    <dgm:pt modelId="{3C0F9218-8F2D-46DC-8210-CD01C12BAF61}">
      <dgm:prSet/>
      <dgm:spPr/>
      <dgm:t>
        <a:bodyPr/>
        <a:lstStyle/>
        <a:p>
          <a:r>
            <a:rPr lang="en-US"/>
            <a:t>Phase 2 - Model (TCN+BiLSTM)</a:t>
          </a:r>
        </a:p>
      </dgm:t>
    </dgm:pt>
    <dgm:pt modelId="{ECE5E3C5-D966-422C-8A0E-6E0941B2A4B6}" type="parTrans" cxnId="{67030780-CE3B-4F21-ACE0-3B21EEEAF79B}">
      <dgm:prSet/>
      <dgm:spPr/>
      <dgm:t>
        <a:bodyPr/>
        <a:lstStyle/>
        <a:p>
          <a:endParaRPr lang="en-US"/>
        </a:p>
      </dgm:t>
    </dgm:pt>
    <dgm:pt modelId="{0487F602-0153-461A-A7D1-E5C4549AB3F5}" type="sibTrans" cxnId="{67030780-CE3B-4F21-ACE0-3B21EEEAF79B}">
      <dgm:prSet/>
      <dgm:spPr/>
      <dgm:t>
        <a:bodyPr/>
        <a:lstStyle/>
        <a:p>
          <a:endParaRPr lang="en-US"/>
        </a:p>
      </dgm:t>
    </dgm:pt>
    <dgm:pt modelId="{9AB14BB2-D6E6-41C5-AF35-4F0FAF1B9737}">
      <dgm:prSet/>
      <dgm:spPr/>
      <dgm:t>
        <a:bodyPr/>
        <a:lstStyle/>
        <a:p>
          <a:r>
            <a:rPr lang="en-US" dirty="0"/>
            <a:t>Phase 3 - Post Processing(Risk Map, </a:t>
          </a:r>
          <a:r>
            <a:rPr lang="en-US" dirty="0" err="1"/>
            <a:t>Continous</a:t>
          </a:r>
          <a:r>
            <a:rPr lang="en-US" dirty="0"/>
            <a:t> Learning)</a:t>
          </a:r>
        </a:p>
      </dgm:t>
    </dgm:pt>
    <dgm:pt modelId="{08740B92-8F5C-45AF-BB77-52BDD368C229}" type="parTrans" cxnId="{5FF5ECA0-BC5D-4D5E-8C70-2C63C3D40D28}">
      <dgm:prSet/>
      <dgm:spPr/>
      <dgm:t>
        <a:bodyPr/>
        <a:lstStyle/>
        <a:p>
          <a:endParaRPr lang="en-US"/>
        </a:p>
      </dgm:t>
    </dgm:pt>
    <dgm:pt modelId="{D10429D4-AD87-4EF8-BA78-D3270BA21111}" type="sibTrans" cxnId="{5FF5ECA0-BC5D-4D5E-8C70-2C63C3D40D28}">
      <dgm:prSet/>
      <dgm:spPr/>
      <dgm:t>
        <a:bodyPr/>
        <a:lstStyle/>
        <a:p>
          <a:endParaRPr lang="en-US"/>
        </a:p>
      </dgm:t>
    </dgm:pt>
    <dgm:pt modelId="{14E03A36-5A2C-49E2-AA50-D512B1C7B593}">
      <dgm:prSet/>
      <dgm:spPr/>
      <dgm:t>
        <a:bodyPr/>
        <a:lstStyle/>
        <a:p>
          <a:r>
            <a:rPr lang="en-US"/>
            <a:t>Phase 4 - Deployment and Testing</a:t>
          </a:r>
        </a:p>
      </dgm:t>
    </dgm:pt>
    <dgm:pt modelId="{4C16E0BF-EC7A-4D18-A2DF-86DE8234F1E9}" type="parTrans" cxnId="{08D71DA7-E628-49DC-8D59-C7631057C78F}">
      <dgm:prSet/>
      <dgm:spPr/>
      <dgm:t>
        <a:bodyPr/>
        <a:lstStyle/>
        <a:p>
          <a:endParaRPr lang="en-US"/>
        </a:p>
      </dgm:t>
    </dgm:pt>
    <dgm:pt modelId="{CFC62269-E9D2-42A7-8B02-9CAD106A1DA0}" type="sibTrans" cxnId="{08D71DA7-E628-49DC-8D59-C7631057C78F}">
      <dgm:prSet/>
      <dgm:spPr/>
      <dgm:t>
        <a:bodyPr/>
        <a:lstStyle/>
        <a:p>
          <a:endParaRPr lang="en-US"/>
        </a:p>
      </dgm:t>
    </dgm:pt>
    <dgm:pt modelId="{70B75A19-A5D4-4B1D-922A-379F0C28A82B}" type="pres">
      <dgm:prSet presAssocID="{259F3775-65F5-450C-91BF-EA9F69A96B1D}" presName="root" presStyleCnt="0">
        <dgm:presLayoutVars>
          <dgm:dir/>
          <dgm:resizeHandles val="exact"/>
        </dgm:presLayoutVars>
      </dgm:prSet>
      <dgm:spPr/>
    </dgm:pt>
    <dgm:pt modelId="{9B5E349A-9560-4DF7-BC77-992F20308801}" type="pres">
      <dgm:prSet presAssocID="{A64D6287-558A-40AA-A979-52C3457AB9BC}" presName="compNode" presStyleCnt="0"/>
      <dgm:spPr/>
    </dgm:pt>
    <dgm:pt modelId="{B0E73A90-77C1-4A8A-8269-8043B32E6D25}" type="pres">
      <dgm:prSet presAssocID="{A64D6287-558A-40AA-A979-52C3457AB9B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B5E9F297-1EAD-4953-A1EA-29D8C199398A}" type="pres">
      <dgm:prSet presAssocID="{A64D6287-558A-40AA-A979-52C3457AB9BC}" presName="spaceRect" presStyleCnt="0"/>
      <dgm:spPr/>
    </dgm:pt>
    <dgm:pt modelId="{01679BF3-3EF1-41F0-9E29-D926CAA7CD8A}" type="pres">
      <dgm:prSet presAssocID="{A64D6287-558A-40AA-A979-52C3457AB9BC}" presName="textRect" presStyleLbl="revTx" presStyleIdx="0" presStyleCnt="4">
        <dgm:presLayoutVars>
          <dgm:chMax val="1"/>
          <dgm:chPref val="1"/>
        </dgm:presLayoutVars>
      </dgm:prSet>
      <dgm:spPr/>
    </dgm:pt>
    <dgm:pt modelId="{D7639ADF-FBDD-4876-8D51-5DDBB633FF98}" type="pres">
      <dgm:prSet presAssocID="{0B26ADE5-27FB-491B-ADA3-BFBDC3ABEB72}" presName="sibTrans" presStyleCnt="0"/>
      <dgm:spPr/>
    </dgm:pt>
    <dgm:pt modelId="{4DBD2B6D-6D98-4A02-B155-9826864A3760}" type="pres">
      <dgm:prSet presAssocID="{3C0F9218-8F2D-46DC-8210-CD01C12BAF61}" presName="compNode" presStyleCnt="0"/>
      <dgm:spPr/>
    </dgm:pt>
    <dgm:pt modelId="{9175D29D-76E8-4239-86BF-2B86A7D80054}" type="pres">
      <dgm:prSet presAssocID="{3C0F9218-8F2D-46DC-8210-CD01C12BAF6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Diagram"/>
        </a:ext>
      </dgm:extLst>
    </dgm:pt>
    <dgm:pt modelId="{DA532940-0489-4417-A7C1-E657B365F2C1}" type="pres">
      <dgm:prSet presAssocID="{3C0F9218-8F2D-46DC-8210-CD01C12BAF61}" presName="spaceRect" presStyleCnt="0"/>
      <dgm:spPr/>
    </dgm:pt>
    <dgm:pt modelId="{08E7FA33-A8A6-473A-977A-F50E3741A48F}" type="pres">
      <dgm:prSet presAssocID="{3C0F9218-8F2D-46DC-8210-CD01C12BAF61}" presName="textRect" presStyleLbl="revTx" presStyleIdx="1" presStyleCnt="4">
        <dgm:presLayoutVars>
          <dgm:chMax val="1"/>
          <dgm:chPref val="1"/>
        </dgm:presLayoutVars>
      </dgm:prSet>
      <dgm:spPr/>
    </dgm:pt>
    <dgm:pt modelId="{455B34A0-CA63-4DCA-A638-9331C1435BC9}" type="pres">
      <dgm:prSet presAssocID="{0487F602-0153-461A-A7D1-E5C4549AB3F5}" presName="sibTrans" presStyleCnt="0"/>
      <dgm:spPr/>
    </dgm:pt>
    <dgm:pt modelId="{F6E908A0-84AD-4ABA-A885-62940FB84BC0}" type="pres">
      <dgm:prSet presAssocID="{9AB14BB2-D6E6-41C5-AF35-4F0FAF1B9737}" presName="compNode" presStyleCnt="0"/>
      <dgm:spPr/>
    </dgm:pt>
    <dgm:pt modelId="{6AB26CE1-9230-4CB9-9819-4F851FFB1E10}" type="pres">
      <dgm:prSet presAssocID="{9AB14BB2-D6E6-41C5-AF35-4F0FAF1B973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ily Calendar"/>
        </a:ext>
      </dgm:extLst>
    </dgm:pt>
    <dgm:pt modelId="{264DE85C-1422-4ECC-9FD3-CF70BD767F53}" type="pres">
      <dgm:prSet presAssocID="{9AB14BB2-D6E6-41C5-AF35-4F0FAF1B9737}" presName="spaceRect" presStyleCnt="0"/>
      <dgm:spPr/>
    </dgm:pt>
    <dgm:pt modelId="{12A18178-75B9-4694-9039-10EFE08FF37F}" type="pres">
      <dgm:prSet presAssocID="{9AB14BB2-D6E6-41C5-AF35-4F0FAF1B9737}" presName="textRect" presStyleLbl="revTx" presStyleIdx="2" presStyleCnt="4">
        <dgm:presLayoutVars>
          <dgm:chMax val="1"/>
          <dgm:chPref val="1"/>
        </dgm:presLayoutVars>
      </dgm:prSet>
      <dgm:spPr/>
    </dgm:pt>
    <dgm:pt modelId="{669679CC-345C-49C6-ABCD-2463D44E631A}" type="pres">
      <dgm:prSet presAssocID="{D10429D4-AD87-4EF8-BA78-D3270BA21111}" presName="sibTrans" presStyleCnt="0"/>
      <dgm:spPr/>
    </dgm:pt>
    <dgm:pt modelId="{63920A93-E6B7-4369-AD52-3C0561AA6E53}" type="pres">
      <dgm:prSet presAssocID="{14E03A36-5A2C-49E2-AA50-D512B1C7B593}" presName="compNode" presStyleCnt="0"/>
      <dgm:spPr/>
    </dgm:pt>
    <dgm:pt modelId="{3F901BA5-84DB-4535-9C11-0219229395AE}" type="pres">
      <dgm:prSet presAssocID="{14E03A36-5A2C-49E2-AA50-D512B1C7B59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est tubes"/>
        </a:ext>
      </dgm:extLst>
    </dgm:pt>
    <dgm:pt modelId="{D509B76C-B104-44BE-A1CB-6E366B6918DB}" type="pres">
      <dgm:prSet presAssocID="{14E03A36-5A2C-49E2-AA50-D512B1C7B593}" presName="spaceRect" presStyleCnt="0"/>
      <dgm:spPr/>
    </dgm:pt>
    <dgm:pt modelId="{1A362303-E081-440F-8007-055532448535}" type="pres">
      <dgm:prSet presAssocID="{14E03A36-5A2C-49E2-AA50-D512B1C7B593}" presName="textRect" presStyleLbl="revTx" presStyleIdx="3" presStyleCnt="4">
        <dgm:presLayoutVars>
          <dgm:chMax val="1"/>
          <dgm:chPref val="1"/>
        </dgm:presLayoutVars>
      </dgm:prSet>
      <dgm:spPr/>
    </dgm:pt>
  </dgm:ptLst>
  <dgm:cxnLst>
    <dgm:cxn modelId="{D1007600-4BF6-40F2-83DB-AD903F628CC6}" type="presOf" srcId="{259F3775-65F5-450C-91BF-EA9F69A96B1D}" destId="{70B75A19-A5D4-4B1D-922A-379F0C28A82B}" srcOrd="0" destOrd="0" presId="urn:microsoft.com/office/officeart/2018/2/layout/IconLabelList"/>
    <dgm:cxn modelId="{A3D2A57C-5614-4999-9483-A2990BBC46D7}" type="presOf" srcId="{3C0F9218-8F2D-46DC-8210-CD01C12BAF61}" destId="{08E7FA33-A8A6-473A-977A-F50E3741A48F}" srcOrd="0" destOrd="0" presId="urn:microsoft.com/office/officeart/2018/2/layout/IconLabelList"/>
    <dgm:cxn modelId="{67030780-CE3B-4F21-ACE0-3B21EEEAF79B}" srcId="{259F3775-65F5-450C-91BF-EA9F69A96B1D}" destId="{3C0F9218-8F2D-46DC-8210-CD01C12BAF61}" srcOrd="1" destOrd="0" parTransId="{ECE5E3C5-D966-422C-8A0E-6E0941B2A4B6}" sibTransId="{0487F602-0153-461A-A7D1-E5C4549AB3F5}"/>
    <dgm:cxn modelId="{5FF5ECA0-BC5D-4D5E-8C70-2C63C3D40D28}" srcId="{259F3775-65F5-450C-91BF-EA9F69A96B1D}" destId="{9AB14BB2-D6E6-41C5-AF35-4F0FAF1B9737}" srcOrd="2" destOrd="0" parTransId="{08740B92-8F5C-45AF-BB77-52BDD368C229}" sibTransId="{D10429D4-AD87-4EF8-BA78-D3270BA21111}"/>
    <dgm:cxn modelId="{08D71DA7-E628-49DC-8D59-C7631057C78F}" srcId="{259F3775-65F5-450C-91BF-EA9F69A96B1D}" destId="{14E03A36-5A2C-49E2-AA50-D512B1C7B593}" srcOrd="3" destOrd="0" parTransId="{4C16E0BF-EC7A-4D18-A2DF-86DE8234F1E9}" sibTransId="{CFC62269-E9D2-42A7-8B02-9CAD106A1DA0}"/>
    <dgm:cxn modelId="{2672A6B9-8E8F-4AB2-92ED-F289001CB662}" type="presOf" srcId="{14E03A36-5A2C-49E2-AA50-D512B1C7B593}" destId="{1A362303-E081-440F-8007-055532448535}" srcOrd="0" destOrd="0" presId="urn:microsoft.com/office/officeart/2018/2/layout/IconLabelList"/>
    <dgm:cxn modelId="{C99582CD-6CA4-4C31-A697-F69245F76603}" type="presOf" srcId="{9AB14BB2-D6E6-41C5-AF35-4F0FAF1B9737}" destId="{12A18178-75B9-4694-9039-10EFE08FF37F}" srcOrd="0" destOrd="0" presId="urn:microsoft.com/office/officeart/2018/2/layout/IconLabelList"/>
    <dgm:cxn modelId="{83C87AE8-8A59-47E0-B5DE-9D3746558DA0}" type="presOf" srcId="{A64D6287-558A-40AA-A979-52C3457AB9BC}" destId="{01679BF3-3EF1-41F0-9E29-D926CAA7CD8A}" srcOrd="0" destOrd="0" presId="urn:microsoft.com/office/officeart/2018/2/layout/IconLabelList"/>
    <dgm:cxn modelId="{9F2D6EF9-B261-4F2C-8E7A-7D6A78E3479F}" srcId="{259F3775-65F5-450C-91BF-EA9F69A96B1D}" destId="{A64D6287-558A-40AA-A979-52C3457AB9BC}" srcOrd="0" destOrd="0" parTransId="{61BE3469-B60A-48C3-BA6B-768A8BC64CE3}" sibTransId="{0B26ADE5-27FB-491B-ADA3-BFBDC3ABEB72}"/>
    <dgm:cxn modelId="{CB7D5BAF-A41E-4198-B2D9-6588434F8DD9}" type="presParOf" srcId="{70B75A19-A5D4-4B1D-922A-379F0C28A82B}" destId="{9B5E349A-9560-4DF7-BC77-992F20308801}" srcOrd="0" destOrd="0" presId="urn:microsoft.com/office/officeart/2018/2/layout/IconLabelList"/>
    <dgm:cxn modelId="{14D9C29D-2F92-44C3-8159-C2DF7F18C2B5}" type="presParOf" srcId="{9B5E349A-9560-4DF7-BC77-992F20308801}" destId="{B0E73A90-77C1-4A8A-8269-8043B32E6D25}" srcOrd="0" destOrd="0" presId="urn:microsoft.com/office/officeart/2018/2/layout/IconLabelList"/>
    <dgm:cxn modelId="{E92DA28B-51DC-4A18-8F1E-4EE4FC17E377}" type="presParOf" srcId="{9B5E349A-9560-4DF7-BC77-992F20308801}" destId="{B5E9F297-1EAD-4953-A1EA-29D8C199398A}" srcOrd="1" destOrd="0" presId="urn:microsoft.com/office/officeart/2018/2/layout/IconLabelList"/>
    <dgm:cxn modelId="{9072E557-9BA5-42C3-8EE5-1E8DF9465167}" type="presParOf" srcId="{9B5E349A-9560-4DF7-BC77-992F20308801}" destId="{01679BF3-3EF1-41F0-9E29-D926CAA7CD8A}" srcOrd="2" destOrd="0" presId="urn:microsoft.com/office/officeart/2018/2/layout/IconLabelList"/>
    <dgm:cxn modelId="{D1B3CF01-766E-4294-ABFB-F59292A12C10}" type="presParOf" srcId="{70B75A19-A5D4-4B1D-922A-379F0C28A82B}" destId="{D7639ADF-FBDD-4876-8D51-5DDBB633FF98}" srcOrd="1" destOrd="0" presId="urn:microsoft.com/office/officeart/2018/2/layout/IconLabelList"/>
    <dgm:cxn modelId="{8FDAD553-1825-4795-BC51-71ABCEF89660}" type="presParOf" srcId="{70B75A19-A5D4-4B1D-922A-379F0C28A82B}" destId="{4DBD2B6D-6D98-4A02-B155-9826864A3760}" srcOrd="2" destOrd="0" presId="urn:microsoft.com/office/officeart/2018/2/layout/IconLabelList"/>
    <dgm:cxn modelId="{46B1E238-B4F1-4F87-A50B-33F457C2CD0E}" type="presParOf" srcId="{4DBD2B6D-6D98-4A02-B155-9826864A3760}" destId="{9175D29D-76E8-4239-86BF-2B86A7D80054}" srcOrd="0" destOrd="0" presId="urn:microsoft.com/office/officeart/2018/2/layout/IconLabelList"/>
    <dgm:cxn modelId="{0AF251BA-BDA9-410D-AA68-BCE32688CA6A}" type="presParOf" srcId="{4DBD2B6D-6D98-4A02-B155-9826864A3760}" destId="{DA532940-0489-4417-A7C1-E657B365F2C1}" srcOrd="1" destOrd="0" presId="urn:microsoft.com/office/officeart/2018/2/layout/IconLabelList"/>
    <dgm:cxn modelId="{0E94EDE4-F674-4712-B394-55DC764605CB}" type="presParOf" srcId="{4DBD2B6D-6D98-4A02-B155-9826864A3760}" destId="{08E7FA33-A8A6-473A-977A-F50E3741A48F}" srcOrd="2" destOrd="0" presId="urn:microsoft.com/office/officeart/2018/2/layout/IconLabelList"/>
    <dgm:cxn modelId="{FAF556D4-682C-4049-A61C-F866766B2201}" type="presParOf" srcId="{70B75A19-A5D4-4B1D-922A-379F0C28A82B}" destId="{455B34A0-CA63-4DCA-A638-9331C1435BC9}" srcOrd="3" destOrd="0" presId="urn:microsoft.com/office/officeart/2018/2/layout/IconLabelList"/>
    <dgm:cxn modelId="{EFD53872-E6AA-4E05-B7F5-634E0D6289A8}" type="presParOf" srcId="{70B75A19-A5D4-4B1D-922A-379F0C28A82B}" destId="{F6E908A0-84AD-4ABA-A885-62940FB84BC0}" srcOrd="4" destOrd="0" presId="urn:microsoft.com/office/officeart/2018/2/layout/IconLabelList"/>
    <dgm:cxn modelId="{A7451996-0CF2-4CB6-B7DE-6170DB424921}" type="presParOf" srcId="{F6E908A0-84AD-4ABA-A885-62940FB84BC0}" destId="{6AB26CE1-9230-4CB9-9819-4F851FFB1E10}" srcOrd="0" destOrd="0" presId="urn:microsoft.com/office/officeart/2018/2/layout/IconLabelList"/>
    <dgm:cxn modelId="{B51D2099-4E21-48D1-BC81-10F560988E8F}" type="presParOf" srcId="{F6E908A0-84AD-4ABA-A885-62940FB84BC0}" destId="{264DE85C-1422-4ECC-9FD3-CF70BD767F53}" srcOrd="1" destOrd="0" presId="urn:microsoft.com/office/officeart/2018/2/layout/IconLabelList"/>
    <dgm:cxn modelId="{46D6660B-8DD8-41E0-A3B3-068086FBCA38}" type="presParOf" srcId="{F6E908A0-84AD-4ABA-A885-62940FB84BC0}" destId="{12A18178-75B9-4694-9039-10EFE08FF37F}" srcOrd="2" destOrd="0" presId="urn:microsoft.com/office/officeart/2018/2/layout/IconLabelList"/>
    <dgm:cxn modelId="{C1CC277E-FD38-498D-ACC6-30CB8A3C9B76}" type="presParOf" srcId="{70B75A19-A5D4-4B1D-922A-379F0C28A82B}" destId="{669679CC-345C-49C6-ABCD-2463D44E631A}" srcOrd="5" destOrd="0" presId="urn:microsoft.com/office/officeart/2018/2/layout/IconLabelList"/>
    <dgm:cxn modelId="{422A564A-1259-49A5-8F64-65E65A20A3AF}" type="presParOf" srcId="{70B75A19-A5D4-4B1D-922A-379F0C28A82B}" destId="{63920A93-E6B7-4369-AD52-3C0561AA6E53}" srcOrd="6" destOrd="0" presId="urn:microsoft.com/office/officeart/2018/2/layout/IconLabelList"/>
    <dgm:cxn modelId="{A2076671-2AFB-47A4-83F3-2EECCB9E83C5}" type="presParOf" srcId="{63920A93-E6B7-4369-AD52-3C0561AA6E53}" destId="{3F901BA5-84DB-4535-9C11-0219229395AE}" srcOrd="0" destOrd="0" presId="urn:microsoft.com/office/officeart/2018/2/layout/IconLabelList"/>
    <dgm:cxn modelId="{5ADD17F4-5DA4-401E-9184-498F91B841F8}" type="presParOf" srcId="{63920A93-E6B7-4369-AD52-3C0561AA6E53}" destId="{D509B76C-B104-44BE-A1CB-6E366B6918DB}" srcOrd="1" destOrd="0" presId="urn:microsoft.com/office/officeart/2018/2/layout/IconLabelList"/>
    <dgm:cxn modelId="{3A7B0662-E808-40E1-AFF2-3B458DB0BA4B}" type="presParOf" srcId="{63920A93-E6B7-4369-AD52-3C0561AA6E53}" destId="{1A362303-E081-440F-8007-05553244853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2D64D8-A3E9-4FD4-B696-A1AD2AFF79FD}">
      <dsp:nvSpPr>
        <dsp:cNvPr id="0" name=""/>
        <dsp:cNvSpPr/>
      </dsp:nvSpPr>
      <dsp:spPr>
        <a:xfrm>
          <a:off x="71410" y="66673"/>
          <a:ext cx="1504371" cy="15043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70B2CC-0508-4BC8-97DA-5D3209EAC601}">
      <dsp:nvSpPr>
        <dsp:cNvPr id="0" name=""/>
        <dsp:cNvSpPr/>
      </dsp:nvSpPr>
      <dsp:spPr>
        <a:xfrm>
          <a:off x="387328" y="382591"/>
          <a:ext cx="872535" cy="8725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E414F3-2A90-4EF4-864F-CDE0E9D4A77F}">
      <dsp:nvSpPr>
        <dsp:cNvPr id="0" name=""/>
        <dsp:cNvSpPr/>
      </dsp:nvSpPr>
      <dsp:spPr>
        <a:xfrm>
          <a:off x="1898147" y="66673"/>
          <a:ext cx="3546018" cy="1504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0" i="0" kern="1200" baseline="0"/>
            <a:t>Traditional single-modality models rely mainly on price data and fail to capture market sentiment, external factors, and complex market dynamics.</a:t>
          </a:r>
          <a:endParaRPr lang="en-US" sz="1600" kern="1200"/>
        </a:p>
      </dsp:txBody>
      <dsp:txXfrm>
        <a:off x="1898147" y="66673"/>
        <a:ext cx="3546018" cy="1504371"/>
      </dsp:txXfrm>
    </dsp:sp>
    <dsp:sp modelId="{F0490C95-CC6B-4E8C-B8EE-A53EC11848DF}">
      <dsp:nvSpPr>
        <dsp:cNvPr id="0" name=""/>
        <dsp:cNvSpPr/>
      </dsp:nvSpPr>
      <dsp:spPr>
        <a:xfrm>
          <a:off x="6062032" y="66673"/>
          <a:ext cx="1504371" cy="15043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464E2A-F36E-48CF-9CED-877612735117}">
      <dsp:nvSpPr>
        <dsp:cNvPr id="0" name=""/>
        <dsp:cNvSpPr/>
      </dsp:nvSpPr>
      <dsp:spPr>
        <a:xfrm>
          <a:off x="6377951" y="382591"/>
          <a:ext cx="872535" cy="8725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30E55D-6597-4C8C-A87A-602F78AC307D}">
      <dsp:nvSpPr>
        <dsp:cNvPr id="0" name=""/>
        <dsp:cNvSpPr/>
      </dsp:nvSpPr>
      <dsp:spPr>
        <a:xfrm>
          <a:off x="7888769" y="66673"/>
          <a:ext cx="3546018" cy="1504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0" i="0" kern="1200" baseline="0"/>
            <a:t>There is a strong need for real-time sentiment analysis from news and social media, especially since retail investors lack the advanced tools used by institutions.</a:t>
          </a:r>
          <a:endParaRPr lang="en-US" sz="1600" kern="1200"/>
        </a:p>
      </dsp:txBody>
      <dsp:txXfrm>
        <a:off x="7888769" y="66673"/>
        <a:ext cx="3546018" cy="1504371"/>
      </dsp:txXfrm>
    </dsp:sp>
    <dsp:sp modelId="{A09B15F5-58FB-4F60-8137-48E3EA196DE4}">
      <dsp:nvSpPr>
        <dsp:cNvPr id="0" name=""/>
        <dsp:cNvSpPr/>
      </dsp:nvSpPr>
      <dsp:spPr>
        <a:xfrm>
          <a:off x="71410" y="2214606"/>
          <a:ext cx="1504371" cy="15043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FD850F-B87F-4925-A399-B7AC41E0589D}">
      <dsp:nvSpPr>
        <dsp:cNvPr id="0" name=""/>
        <dsp:cNvSpPr/>
      </dsp:nvSpPr>
      <dsp:spPr>
        <a:xfrm>
          <a:off x="387328" y="2530524"/>
          <a:ext cx="872535" cy="8725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EA25CB-B883-4654-B27A-C9F2B6A21FE9}">
      <dsp:nvSpPr>
        <dsp:cNvPr id="0" name=""/>
        <dsp:cNvSpPr/>
      </dsp:nvSpPr>
      <dsp:spPr>
        <a:xfrm>
          <a:off x="1898147" y="2214606"/>
          <a:ext cx="3546018" cy="1504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0" i="0" kern="1200" baseline="0"/>
            <a:t>Rapidly changing market conditions demand adaptive models with strong risk management, an area often neglected in typical algorithmic trading systems.</a:t>
          </a:r>
          <a:endParaRPr lang="en-US" sz="1600" kern="1200"/>
        </a:p>
      </dsp:txBody>
      <dsp:txXfrm>
        <a:off x="1898147" y="2214606"/>
        <a:ext cx="3546018" cy="1504371"/>
      </dsp:txXfrm>
    </dsp:sp>
    <dsp:sp modelId="{99B19264-E841-4BE8-A1F4-793C23513CFE}">
      <dsp:nvSpPr>
        <dsp:cNvPr id="0" name=""/>
        <dsp:cNvSpPr/>
      </dsp:nvSpPr>
      <dsp:spPr>
        <a:xfrm>
          <a:off x="6062032" y="2214606"/>
          <a:ext cx="1504371" cy="150437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6881EC-807B-4DDB-A8BF-340FC06A7125}">
      <dsp:nvSpPr>
        <dsp:cNvPr id="0" name=""/>
        <dsp:cNvSpPr/>
      </dsp:nvSpPr>
      <dsp:spPr>
        <a:xfrm>
          <a:off x="6377951" y="2530524"/>
          <a:ext cx="872535" cy="8725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5EF6D1-E7C6-4BFE-B7F6-8FE253F302CB}">
      <dsp:nvSpPr>
        <dsp:cNvPr id="0" name=""/>
        <dsp:cNvSpPr/>
      </dsp:nvSpPr>
      <dsp:spPr>
        <a:xfrm>
          <a:off x="7888769" y="2214606"/>
          <a:ext cx="3546018" cy="1504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0" i="0" kern="1200" baseline="0"/>
            <a:t>There is a gap between academic research and real-world trading systems, and TCNs offer practical advantages over LSTMs through parallel processing, longer memory, and avoiding vanishing gradients</a:t>
          </a:r>
          <a:endParaRPr lang="en-US" sz="1600" kern="1200"/>
        </a:p>
      </dsp:txBody>
      <dsp:txXfrm>
        <a:off x="7888769" y="2214606"/>
        <a:ext cx="3546018" cy="15043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B08225-77B3-421C-BFBE-73EF7E71D40C}">
      <dsp:nvSpPr>
        <dsp:cNvPr id="0" name=""/>
        <dsp:cNvSpPr/>
      </dsp:nvSpPr>
      <dsp:spPr>
        <a:xfrm>
          <a:off x="0" y="379"/>
          <a:ext cx="10112949" cy="8875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91C43E-FA6C-43F1-A66A-3ACFA92FC9F9}">
      <dsp:nvSpPr>
        <dsp:cNvPr id="0" name=""/>
        <dsp:cNvSpPr/>
      </dsp:nvSpPr>
      <dsp:spPr>
        <a:xfrm>
          <a:off x="268473" y="200069"/>
          <a:ext cx="488132" cy="48813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3670DE-968B-40AE-8CF1-06BD28CF7077}">
      <dsp:nvSpPr>
        <dsp:cNvPr id="0" name=""/>
        <dsp:cNvSpPr/>
      </dsp:nvSpPr>
      <dsp:spPr>
        <a:xfrm>
          <a:off x="1025078" y="379"/>
          <a:ext cx="9087870" cy="887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929" tIns="93929" rIns="93929" bIns="93929" numCol="1" spcCol="1270" anchor="ctr" anchorCtr="0">
          <a:noAutofit/>
        </a:bodyPr>
        <a:lstStyle/>
        <a:p>
          <a:pPr marL="0" lvl="0" indent="0" algn="l" defTabSz="622300">
            <a:lnSpc>
              <a:spcPct val="100000"/>
            </a:lnSpc>
            <a:spcBef>
              <a:spcPct val="0"/>
            </a:spcBef>
            <a:spcAft>
              <a:spcPct val="35000"/>
            </a:spcAft>
            <a:buNone/>
          </a:pPr>
          <a:r>
            <a:rPr lang="en-US" sz="1400" b="0" i="0" kern="1200" baseline="0" dirty="0"/>
            <a:t>The system must integrate highly heterogeneous data — numerical market data, technical indicators, news, and social media text — while capturing long-range temporal patterns and extracting reliable sentiment.</a:t>
          </a:r>
          <a:endParaRPr lang="en-US" sz="1400" kern="1200" dirty="0"/>
        </a:p>
      </dsp:txBody>
      <dsp:txXfrm>
        <a:off x="1025078" y="379"/>
        <a:ext cx="9087870" cy="887514"/>
      </dsp:txXfrm>
    </dsp:sp>
    <dsp:sp modelId="{9DBCE5E2-878D-4BCB-B994-1F0D365F7C4C}">
      <dsp:nvSpPr>
        <dsp:cNvPr id="0" name=""/>
        <dsp:cNvSpPr/>
      </dsp:nvSpPr>
      <dsp:spPr>
        <a:xfrm>
          <a:off x="0" y="1109771"/>
          <a:ext cx="10112949" cy="8875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E093BB-0FD6-4C6F-9B5C-3E71373F6C63}">
      <dsp:nvSpPr>
        <dsp:cNvPr id="0" name=""/>
        <dsp:cNvSpPr/>
      </dsp:nvSpPr>
      <dsp:spPr>
        <a:xfrm>
          <a:off x="268473" y="1309462"/>
          <a:ext cx="488132" cy="48813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567191-4CB4-412E-88FB-D8C812F091E6}">
      <dsp:nvSpPr>
        <dsp:cNvPr id="0" name=""/>
        <dsp:cNvSpPr/>
      </dsp:nvSpPr>
      <dsp:spPr>
        <a:xfrm>
          <a:off x="1025078" y="1109771"/>
          <a:ext cx="9087870" cy="887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929" tIns="93929" rIns="93929" bIns="93929" numCol="1" spcCol="1270" anchor="ctr" anchorCtr="0">
          <a:noAutofit/>
        </a:bodyPr>
        <a:lstStyle/>
        <a:p>
          <a:pPr marL="0" lvl="0" indent="0" algn="l" defTabSz="622300">
            <a:lnSpc>
              <a:spcPct val="100000"/>
            </a:lnSpc>
            <a:spcBef>
              <a:spcPct val="0"/>
            </a:spcBef>
            <a:spcAft>
              <a:spcPct val="35000"/>
            </a:spcAft>
            <a:buNone/>
          </a:pPr>
          <a:r>
            <a:rPr lang="en-US" sz="1400" b="0" i="0" kern="1200" baseline="0" dirty="0"/>
            <a:t>It requires an adaptive fusion mechanism that dynamically weights different data sources based on changing market conditions, along with robust uncertainty estimation for volatile markets.</a:t>
          </a:r>
          <a:endParaRPr lang="en-US" sz="1400" kern="1200" dirty="0"/>
        </a:p>
      </dsp:txBody>
      <dsp:txXfrm>
        <a:off x="1025078" y="1109771"/>
        <a:ext cx="9087870" cy="887514"/>
      </dsp:txXfrm>
    </dsp:sp>
    <dsp:sp modelId="{FD9A1103-28DF-429A-B9DD-EACA7DD5C15F}">
      <dsp:nvSpPr>
        <dsp:cNvPr id="0" name=""/>
        <dsp:cNvSpPr/>
      </dsp:nvSpPr>
      <dsp:spPr>
        <a:xfrm>
          <a:off x="0" y="2219164"/>
          <a:ext cx="10112949" cy="8875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0FC27C-56F1-4592-98B0-D737BB120B11}">
      <dsp:nvSpPr>
        <dsp:cNvPr id="0" name=""/>
        <dsp:cNvSpPr/>
      </dsp:nvSpPr>
      <dsp:spPr>
        <a:xfrm>
          <a:off x="268473" y="2418855"/>
          <a:ext cx="488132" cy="48813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7E7BD5-159D-4027-91CA-C6B1EC699218}">
      <dsp:nvSpPr>
        <dsp:cNvPr id="0" name=""/>
        <dsp:cNvSpPr/>
      </dsp:nvSpPr>
      <dsp:spPr>
        <a:xfrm>
          <a:off x="1025078" y="2219164"/>
          <a:ext cx="9087870" cy="887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929" tIns="93929" rIns="93929" bIns="93929" numCol="1" spcCol="1270" anchor="ctr" anchorCtr="0">
          <a:noAutofit/>
        </a:bodyPr>
        <a:lstStyle/>
        <a:p>
          <a:pPr marL="0" lvl="0" indent="0" algn="l" defTabSz="622300">
            <a:lnSpc>
              <a:spcPct val="100000"/>
            </a:lnSpc>
            <a:spcBef>
              <a:spcPct val="0"/>
            </a:spcBef>
            <a:spcAft>
              <a:spcPct val="35000"/>
            </a:spcAft>
            <a:buNone/>
          </a:pPr>
          <a:r>
            <a:rPr lang="en-US" sz="1400" b="0" i="0" kern="1200" baseline="0" dirty="0"/>
            <a:t>The model must support continuous learning without catastrophic forgetting and convert predictions into clear, risk-adjusted, executable trading signals.</a:t>
          </a:r>
          <a:endParaRPr lang="en-US" sz="1400" kern="1200" dirty="0"/>
        </a:p>
      </dsp:txBody>
      <dsp:txXfrm>
        <a:off x="1025078" y="2219164"/>
        <a:ext cx="9087870" cy="8875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E73A90-77C1-4A8A-8269-8043B32E6D25}">
      <dsp:nvSpPr>
        <dsp:cNvPr id="0" name=""/>
        <dsp:cNvSpPr/>
      </dsp:nvSpPr>
      <dsp:spPr>
        <a:xfrm>
          <a:off x="814804" y="1025037"/>
          <a:ext cx="1071378" cy="10713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679BF3-3EF1-41F0-9E29-D926CAA7CD8A}">
      <dsp:nvSpPr>
        <dsp:cNvPr id="0" name=""/>
        <dsp:cNvSpPr/>
      </dsp:nvSpPr>
      <dsp:spPr>
        <a:xfrm>
          <a:off x="160073" y="2412626"/>
          <a:ext cx="238084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Phase 1 - Feature Engineering </a:t>
          </a:r>
        </a:p>
      </dsp:txBody>
      <dsp:txXfrm>
        <a:off x="160073" y="2412626"/>
        <a:ext cx="2380840" cy="720000"/>
      </dsp:txXfrm>
    </dsp:sp>
    <dsp:sp modelId="{9175D29D-76E8-4239-86BF-2B86A7D80054}">
      <dsp:nvSpPr>
        <dsp:cNvPr id="0" name=""/>
        <dsp:cNvSpPr/>
      </dsp:nvSpPr>
      <dsp:spPr>
        <a:xfrm>
          <a:off x="3612291" y="1025037"/>
          <a:ext cx="1071378" cy="10713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E7FA33-A8A6-473A-977A-F50E3741A48F}">
      <dsp:nvSpPr>
        <dsp:cNvPr id="0" name=""/>
        <dsp:cNvSpPr/>
      </dsp:nvSpPr>
      <dsp:spPr>
        <a:xfrm>
          <a:off x="2957560" y="2412626"/>
          <a:ext cx="238084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Phase 2 - Model (TCN+BiLSTM)</a:t>
          </a:r>
        </a:p>
      </dsp:txBody>
      <dsp:txXfrm>
        <a:off x="2957560" y="2412626"/>
        <a:ext cx="2380840" cy="720000"/>
      </dsp:txXfrm>
    </dsp:sp>
    <dsp:sp modelId="{6AB26CE1-9230-4CB9-9819-4F851FFB1E10}">
      <dsp:nvSpPr>
        <dsp:cNvPr id="0" name=""/>
        <dsp:cNvSpPr/>
      </dsp:nvSpPr>
      <dsp:spPr>
        <a:xfrm>
          <a:off x="6409779" y="1025037"/>
          <a:ext cx="1071378" cy="10713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A18178-75B9-4694-9039-10EFE08FF37F}">
      <dsp:nvSpPr>
        <dsp:cNvPr id="0" name=""/>
        <dsp:cNvSpPr/>
      </dsp:nvSpPr>
      <dsp:spPr>
        <a:xfrm>
          <a:off x="5755048" y="2412626"/>
          <a:ext cx="238084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t>Phase 3 - Post Processing(Risk Map, </a:t>
          </a:r>
          <a:r>
            <a:rPr lang="en-US" sz="1700" kern="1200" dirty="0" err="1"/>
            <a:t>Continous</a:t>
          </a:r>
          <a:r>
            <a:rPr lang="en-US" sz="1700" kern="1200" dirty="0"/>
            <a:t> Learning)</a:t>
          </a:r>
        </a:p>
      </dsp:txBody>
      <dsp:txXfrm>
        <a:off x="5755048" y="2412626"/>
        <a:ext cx="2380840" cy="720000"/>
      </dsp:txXfrm>
    </dsp:sp>
    <dsp:sp modelId="{3F901BA5-84DB-4535-9C11-0219229395AE}">
      <dsp:nvSpPr>
        <dsp:cNvPr id="0" name=""/>
        <dsp:cNvSpPr/>
      </dsp:nvSpPr>
      <dsp:spPr>
        <a:xfrm>
          <a:off x="9207267" y="1025037"/>
          <a:ext cx="1071378" cy="10713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362303-E081-440F-8007-055532448535}">
      <dsp:nvSpPr>
        <dsp:cNvPr id="0" name=""/>
        <dsp:cNvSpPr/>
      </dsp:nvSpPr>
      <dsp:spPr>
        <a:xfrm>
          <a:off x="8552536" y="2412626"/>
          <a:ext cx="238084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Phase 4 - Deployment and Testing</a:t>
          </a:r>
        </a:p>
      </dsp:txBody>
      <dsp:txXfrm>
        <a:off x="8552536" y="2412626"/>
        <a:ext cx="238084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095C6-A540-0C9F-5E4A-A16A60DA51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9F784D5-FF96-9AB4-2F7D-D61D4C0BB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2BD79C-B10B-274D-A75B-FEDE364B254F}"/>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5" name="Footer Placeholder 4">
            <a:extLst>
              <a:ext uri="{FF2B5EF4-FFF2-40B4-BE49-F238E27FC236}">
                <a16:creationId xmlns:a16="http://schemas.microsoft.com/office/drawing/2014/main" id="{6CB859D9-01A0-193A-E457-3007A8A03C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8D38FF-5D26-BDDE-E0E6-C57DF860E774}"/>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397818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32358-FD10-A827-2DD7-FC9ECBFEEED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C07199-560C-A187-ECB9-75A3173874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20379A-F8D5-E37C-8020-ED0AE2525B79}"/>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5" name="Footer Placeholder 4">
            <a:extLst>
              <a:ext uri="{FF2B5EF4-FFF2-40B4-BE49-F238E27FC236}">
                <a16:creationId xmlns:a16="http://schemas.microsoft.com/office/drawing/2014/main" id="{B3CF2A06-5B55-ED1E-739E-09377F52AA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71EFF5-6C71-77AA-8169-70F44D420FFF}"/>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834060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0375A-BE9C-0073-F65C-1ABE140024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48319E-9544-2A14-AA88-4A2D687BF8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FC8866-9BCA-31D1-278D-FFB90BEC2D8A}"/>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5" name="Footer Placeholder 4">
            <a:extLst>
              <a:ext uri="{FF2B5EF4-FFF2-40B4-BE49-F238E27FC236}">
                <a16:creationId xmlns:a16="http://schemas.microsoft.com/office/drawing/2014/main" id="{E5BC480B-D820-C253-80DB-DB4280AEAF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E86FE1-975C-B875-1132-A558C0F2276E}"/>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3637290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C922B-ABAF-62BB-B7D4-64B784DD85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858A52-6425-863E-DD40-CFBD9C4A28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936738C-0096-141A-1344-392F3A61E1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149607-3DC2-E0E5-BA29-54B744054677}"/>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6" name="Footer Placeholder 5">
            <a:extLst>
              <a:ext uri="{FF2B5EF4-FFF2-40B4-BE49-F238E27FC236}">
                <a16:creationId xmlns:a16="http://schemas.microsoft.com/office/drawing/2014/main" id="{8ECED838-A1AB-37D9-A106-A08445B9C8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96EC3C-A223-9194-B377-B55632DDC5C8}"/>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1434635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1C74A-6E9C-7129-0093-99605058BC4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2FC2C7-B970-2B56-AE5C-51E54DFD42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EA8EC1-8BAF-47D6-ED2A-0F0014CEDA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A3E2086-BB6C-A4D2-5FFD-4E4E8075EB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4CBBE9-74C4-FB8D-27B1-8B088E53E7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7B76B1-2AB6-1AF6-8971-19D1041FFD76}"/>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8" name="Footer Placeholder 7">
            <a:extLst>
              <a:ext uri="{FF2B5EF4-FFF2-40B4-BE49-F238E27FC236}">
                <a16:creationId xmlns:a16="http://schemas.microsoft.com/office/drawing/2014/main" id="{F4525DFF-73EF-D85F-B076-488D4408638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67DBB1C-A15D-0F68-D77B-447385A2C637}"/>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2475093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6648D-00FB-6658-992F-B8CC2BF202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247E15-F2AC-28A2-5E23-ECD2E80A34BA}"/>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4" name="Footer Placeholder 3">
            <a:extLst>
              <a:ext uri="{FF2B5EF4-FFF2-40B4-BE49-F238E27FC236}">
                <a16:creationId xmlns:a16="http://schemas.microsoft.com/office/drawing/2014/main" id="{156A9CCD-9521-EB15-6C88-24E95476CB9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BF5BCC-E78C-88CF-4D79-BADE4EFE08AF}"/>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2899724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89CE69-1424-D81D-6E15-B0D875E23487}"/>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3" name="Footer Placeholder 2">
            <a:extLst>
              <a:ext uri="{FF2B5EF4-FFF2-40B4-BE49-F238E27FC236}">
                <a16:creationId xmlns:a16="http://schemas.microsoft.com/office/drawing/2014/main" id="{B21DD2A7-180C-9ECB-DC06-850E02F483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BBCACA-1499-4B3E-E692-F6E10351190F}"/>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718816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5E4F5-D283-64A2-7281-275B0C4E15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A97E37-0554-BDB2-21E2-25087A3F8F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4A533F-7F2B-A26E-409C-B4062F69AC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9C0339-E1A4-0AFF-5D90-CF8A2952A551}"/>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6" name="Footer Placeholder 5">
            <a:extLst>
              <a:ext uri="{FF2B5EF4-FFF2-40B4-BE49-F238E27FC236}">
                <a16:creationId xmlns:a16="http://schemas.microsoft.com/office/drawing/2014/main" id="{51DBA625-2A5B-E3DA-9608-53E16C5EFC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AF194E-171E-CF50-8A85-21EE596781BC}"/>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3016705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A22FE-DEFF-9C3A-67B5-19AF68642F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874CE4-3B69-D61F-47B8-825A7E5A21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064148-72B7-9C9F-02FC-AC878D19FF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D3FA4D-968F-E4D4-77D4-E4271BDEC66E}"/>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6" name="Footer Placeholder 5">
            <a:extLst>
              <a:ext uri="{FF2B5EF4-FFF2-40B4-BE49-F238E27FC236}">
                <a16:creationId xmlns:a16="http://schemas.microsoft.com/office/drawing/2014/main" id="{F8F8A8FE-B7D5-ABC7-C6CF-8CF9AC3251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DAE210-8887-5A38-E384-D9D1590FF13A}"/>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2645132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C378-AE92-06D2-DBCF-3153909676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2ECA25-80A4-0CAE-3AA6-109E4251E7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6DAD98-71FC-FE38-76C8-03793C4F5CD2}"/>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5" name="Footer Placeholder 4">
            <a:extLst>
              <a:ext uri="{FF2B5EF4-FFF2-40B4-BE49-F238E27FC236}">
                <a16:creationId xmlns:a16="http://schemas.microsoft.com/office/drawing/2014/main" id="{4A2E5BED-96CB-B82B-5E33-E67CDC0B87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403A2C-98BD-C43F-37FF-60F9D6AE4BF8}"/>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4159422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BDC55D-D50B-0E12-75C2-E3A4EEA182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6A23DA-A7A5-74BB-D2EA-3105B4EBB4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E5099A-9030-4045-66D3-A3D8A3FEC3DA}"/>
              </a:ext>
            </a:extLst>
          </p:cNvPr>
          <p:cNvSpPr>
            <a:spLocks noGrp="1"/>
          </p:cNvSpPr>
          <p:nvPr>
            <p:ph type="dt" sz="half" idx="10"/>
          </p:nvPr>
        </p:nvSpPr>
        <p:spPr/>
        <p:txBody>
          <a:bodyPr/>
          <a:lstStyle/>
          <a:p>
            <a:fld id="{A357EAB6-4ECE-467C-A77A-4DF5BE71F4F1}" type="datetimeFigureOut">
              <a:rPr lang="en-IN" smtClean="0"/>
              <a:t>28-11-2025</a:t>
            </a:fld>
            <a:endParaRPr lang="en-IN"/>
          </a:p>
        </p:txBody>
      </p:sp>
      <p:sp>
        <p:nvSpPr>
          <p:cNvPr id="5" name="Footer Placeholder 4">
            <a:extLst>
              <a:ext uri="{FF2B5EF4-FFF2-40B4-BE49-F238E27FC236}">
                <a16:creationId xmlns:a16="http://schemas.microsoft.com/office/drawing/2014/main" id="{7871B3EF-CEAC-240C-C940-02624C7488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FC661A-E9FB-CB2D-0E5B-70005A15B437}"/>
              </a:ext>
            </a:extLst>
          </p:cNvPr>
          <p:cNvSpPr>
            <a:spLocks noGrp="1"/>
          </p:cNvSpPr>
          <p:nvPr>
            <p:ph type="sldNum" sz="quarter" idx="12"/>
          </p:nvPr>
        </p:nvSpPr>
        <p:spPr/>
        <p:txBody>
          <a:bodyPr/>
          <a:lstStyle/>
          <a:p>
            <a:fld id="{B9688BF3-A290-4669-A08D-16BE7D1CE840}" type="slidenum">
              <a:rPr lang="en-IN" smtClean="0"/>
              <a:t>‹#›</a:t>
            </a:fld>
            <a:endParaRPr lang="en-IN"/>
          </a:p>
        </p:txBody>
      </p:sp>
    </p:spTree>
    <p:extLst>
      <p:ext uri="{BB962C8B-B14F-4D97-AF65-F5344CB8AC3E}">
        <p14:creationId xmlns:p14="http://schemas.microsoft.com/office/powerpoint/2010/main" val="725377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C1B7AB-BD43-95AC-184F-E2E15CAA6B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91A276-2AC0-5292-ED56-A2D956A9AF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81A073-4B81-3480-2625-B77AC14D4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57EAB6-4ECE-467C-A77A-4DF5BE71F4F1}" type="datetimeFigureOut">
              <a:rPr lang="en-IN" smtClean="0"/>
              <a:t>28-11-2025</a:t>
            </a:fld>
            <a:endParaRPr lang="en-IN"/>
          </a:p>
        </p:txBody>
      </p:sp>
      <p:sp>
        <p:nvSpPr>
          <p:cNvPr id="5" name="Footer Placeholder 4">
            <a:extLst>
              <a:ext uri="{FF2B5EF4-FFF2-40B4-BE49-F238E27FC236}">
                <a16:creationId xmlns:a16="http://schemas.microsoft.com/office/drawing/2014/main" id="{C2A43BC4-E8D9-4BF5-94EC-1BFEAC6079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2A1A421-3E24-805B-ABA9-0D8ECB610C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88BF3-A290-4669-A08D-16BE7D1CE840}" type="slidenum">
              <a:rPr lang="en-IN" smtClean="0"/>
              <a:t>‹#›</a:t>
            </a:fld>
            <a:endParaRPr lang="en-IN"/>
          </a:p>
        </p:txBody>
      </p:sp>
    </p:spTree>
    <p:extLst>
      <p:ext uri="{BB962C8B-B14F-4D97-AF65-F5344CB8AC3E}">
        <p14:creationId xmlns:p14="http://schemas.microsoft.com/office/powerpoint/2010/main" val="1594639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AB3ED-5B63-8456-325B-40C459073A66}"/>
              </a:ext>
            </a:extLst>
          </p:cNvPr>
          <p:cNvSpPr>
            <a:spLocks noGrp="1"/>
          </p:cNvSpPr>
          <p:nvPr>
            <p:ph type="ctrTitle"/>
          </p:nvPr>
        </p:nvSpPr>
        <p:spPr>
          <a:xfrm>
            <a:off x="1393371" y="850221"/>
            <a:ext cx="9144000" cy="714174"/>
          </a:xfrm>
        </p:spPr>
        <p:txBody>
          <a:bodyPr>
            <a:normAutofit/>
          </a:bodyPr>
          <a:lstStyle/>
          <a:p>
            <a:r>
              <a:rPr lang="en-IN" sz="4400" b="1" dirty="0"/>
              <a:t>PROJECT SEMINAR ON</a:t>
            </a:r>
          </a:p>
        </p:txBody>
      </p:sp>
      <p:graphicFrame>
        <p:nvGraphicFramePr>
          <p:cNvPr id="7" name="Content Placeholder 3">
            <a:extLst>
              <a:ext uri="{FF2B5EF4-FFF2-40B4-BE49-F238E27FC236}">
                <a16:creationId xmlns:a16="http://schemas.microsoft.com/office/drawing/2014/main" id="{BC41B2DA-28EF-C18E-CCBB-41C49B4BC727}"/>
              </a:ext>
            </a:extLst>
          </p:cNvPr>
          <p:cNvGraphicFramePr>
            <a:graphicFrameLocks/>
          </p:cNvGraphicFramePr>
          <p:nvPr>
            <p:extLst>
              <p:ext uri="{D42A27DB-BD31-4B8C-83A1-F6EECF244321}">
                <p14:modId xmlns:p14="http://schemas.microsoft.com/office/powerpoint/2010/main" val="1788952902"/>
              </p:ext>
            </p:extLst>
          </p:nvPr>
        </p:nvGraphicFramePr>
        <p:xfrm>
          <a:off x="1160696" y="1893356"/>
          <a:ext cx="10290350" cy="3671351"/>
        </p:xfrm>
        <a:graphic>
          <a:graphicData uri="http://schemas.openxmlformats.org/drawingml/2006/table">
            <a:tbl>
              <a:tblPr firstRow="1" bandRow="1"/>
              <a:tblGrid>
                <a:gridCol w="2781175">
                  <a:extLst>
                    <a:ext uri="{9D8B030D-6E8A-4147-A177-3AD203B41FA5}">
                      <a16:colId xmlns:a16="http://schemas.microsoft.com/office/drawing/2014/main" val="3871855704"/>
                    </a:ext>
                  </a:extLst>
                </a:gridCol>
                <a:gridCol w="7509175">
                  <a:extLst>
                    <a:ext uri="{9D8B030D-6E8A-4147-A177-3AD203B41FA5}">
                      <a16:colId xmlns:a16="http://schemas.microsoft.com/office/drawing/2014/main" val="3946487840"/>
                    </a:ext>
                  </a:extLst>
                </a:gridCol>
              </a:tblGrid>
              <a:tr h="1229702">
                <a:tc>
                  <a:txBody>
                    <a:bodyPr/>
                    <a:lstStyle>
                      <a:lvl1pPr marL="0" algn="l" defTabSz="914400" rtl="0" eaLnBrk="1" latinLnBrk="0" hangingPunct="1">
                        <a:defRPr sz="1800" b="1" kern="1200">
                          <a:solidFill>
                            <a:schemeClr val="lt1"/>
                          </a:solidFill>
                          <a:latin typeface="Tenorite"/>
                        </a:defRPr>
                      </a:lvl1pPr>
                      <a:lvl2pPr marL="457200" algn="l" defTabSz="914400" rtl="0" eaLnBrk="1" latinLnBrk="0" hangingPunct="1">
                        <a:defRPr sz="1800" b="1" kern="1200">
                          <a:solidFill>
                            <a:schemeClr val="lt1"/>
                          </a:solidFill>
                          <a:latin typeface="Tenorite"/>
                        </a:defRPr>
                      </a:lvl2pPr>
                      <a:lvl3pPr marL="914400" algn="l" defTabSz="914400" rtl="0" eaLnBrk="1" latinLnBrk="0" hangingPunct="1">
                        <a:defRPr sz="1800" b="1" kern="1200">
                          <a:solidFill>
                            <a:schemeClr val="lt1"/>
                          </a:solidFill>
                          <a:latin typeface="Tenorite"/>
                        </a:defRPr>
                      </a:lvl3pPr>
                      <a:lvl4pPr marL="1371600" algn="l" defTabSz="914400" rtl="0" eaLnBrk="1" latinLnBrk="0" hangingPunct="1">
                        <a:defRPr sz="1800" b="1" kern="1200">
                          <a:solidFill>
                            <a:schemeClr val="lt1"/>
                          </a:solidFill>
                          <a:latin typeface="Tenorite"/>
                        </a:defRPr>
                      </a:lvl4pPr>
                      <a:lvl5pPr marL="1828800" algn="l" defTabSz="914400" rtl="0" eaLnBrk="1" latinLnBrk="0" hangingPunct="1">
                        <a:defRPr sz="1800" b="1" kern="1200">
                          <a:solidFill>
                            <a:schemeClr val="lt1"/>
                          </a:solidFill>
                          <a:latin typeface="Tenorite"/>
                        </a:defRPr>
                      </a:lvl5pPr>
                      <a:lvl6pPr marL="2286000" algn="l" defTabSz="914400" rtl="0" eaLnBrk="1" latinLnBrk="0" hangingPunct="1">
                        <a:defRPr sz="1800" b="1" kern="1200">
                          <a:solidFill>
                            <a:schemeClr val="lt1"/>
                          </a:solidFill>
                          <a:latin typeface="Tenorite"/>
                        </a:defRPr>
                      </a:lvl6pPr>
                      <a:lvl7pPr marL="2743200" algn="l" defTabSz="914400" rtl="0" eaLnBrk="1" latinLnBrk="0" hangingPunct="1">
                        <a:defRPr sz="1800" b="1" kern="1200">
                          <a:solidFill>
                            <a:schemeClr val="lt1"/>
                          </a:solidFill>
                          <a:latin typeface="Tenorite"/>
                        </a:defRPr>
                      </a:lvl7pPr>
                      <a:lvl8pPr marL="3200400" algn="l" defTabSz="914400" rtl="0" eaLnBrk="1" latinLnBrk="0" hangingPunct="1">
                        <a:defRPr sz="1800" b="1" kern="1200">
                          <a:solidFill>
                            <a:schemeClr val="lt1"/>
                          </a:solidFill>
                          <a:latin typeface="Tenorite"/>
                        </a:defRPr>
                      </a:lvl8pPr>
                      <a:lvl9pPr marL="3657600" algn="l" defTabSz="914400" rtl="0" eaLnBrk="1" latinLnBrk="0" hangingPunct="1">
                        <a:defRPr sz="1800" b="1" kern="1200">
                          <a:solidFill>
                            <a:schemeClr val="lt1"/>
                          </a:solidFill>
                          <a:latin typeface="Tenorite"/>
                        </a:defRPr>
                      </a:lvl9pPr>
                    </a:lstStyle>
                    <a:p>
                      <a:r>
                        <a:rPr lang="en-US" sz="2800" dirty="0">
                          <a:solidFill>
                            <a:schemeClr val="tx1"/>
                          </a:solidFill>
                        </a:rPr>
                        <a:t>TITLE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9E6DF">
                        <a:lumMod val="90000"/>
                      </a:srgbClr>
                    </a:solidFill>
                  </a:tcPr>
                </a:tc>
                <a:tc>
                  <a:txBody>
                    <a:bodyPr/>
                    <a:lstStyle>
                      <a:lvl1pPr marL="0" algn="l" defTabSz="914400" rtl="0" eaLnBrk="1" latinLnBrk="0" hangingPunct="1">
                        <a:defRPr sz="1800" b="1" kern="1200">
                          <a:solidFill>
                            <a:schemeClr val="lt1"/>
                          </a:solidFill>
                          <a:latin typeface="Tenorite"/>
                        </a:defRPr>
                      </a:lvl1pPr>
                      <a:lvl2pPr marL="457200" algn="l" defTabSz="914400" rtl="0" eaLnBrk="1" latinLnBrk="0" hangingPunct="1">
                        <a:defRPr sz="1800" b="1" kern="1200">
                          <a:solidFill>
                            <a:schemeClr val="lt1"/>
                          </a:solidFill>
                          <a:latin typeface="Tenorite"/>
                        </a:defRPr>
                      </a:lvl2pPr>
                      <a:lvl3pPr marL="914400" algn="l" defTabSz="914400" rtl="0" eaLnBrk="1" latinLnBrk="0" hangingPunct="1">
                        <a:defRPr sz="1800" b="1" kern="1200">
                          <a:solidFill>
                            <a:schemeClr val="lt1"/>
                          </a:solidFill>
                          <a:latin typeface="Tenorite"/>
                        </a:defRPr>
                      </a:lvl3pPr>
                      <a:lvl4pPr marL="1371600" algn="l" defTabSz="914400" rtl="0" eaLnBrk="1" latinLnBrk="0" hangingPunct="1">
                        <a:defRPr sz="1800" b="1" kern="1200">
                          <a:solidFill>
                            <a:schemeClr val="lt1"/>
                          </a:solidFill>
                          <a:latin typeface="Tenorite"/>
                        </a:defRPr>
                      </a:lvl4pPr>
                      <a:lvl5pPr marL="1828800" algn="l" defTabSz="914400" rtl="0" eaLnBrk="1" latinLnBrk="0" hangingPunct="1">
                        <a:defRPr sz="1800" b="1" kern="1200">
                          <a:solidFill>
                            <a:schemeClr val="lt1"/>
                          </a:solidFill>
                          <a:latin typeface="Tenorite"/>
                        </a:defRPr>
                      </a:lvl5pPr>
                      <a:lvl6pPr marL="2286000" algn="l" defTabSz="914400" rtl="0" eaLnBrk="1" latinLnBrk="0" hangingPunct="1">
                        <a:defRPr sz="1800" b="1" kern="1200">
                          <a:solidFill>
                            <a:schemeClr val="lt1"/>
                          </a:solidFill>
                          <a:latin typeface="Tenorite"/>
                        </a:defRPr>
                      </a:lvl6pPr>
                      <a:lvl7pPr marL="2743200" algn="l" defTabSz="914400" rtl="0" eaLnBrk="1" latinLnBrk="0" hangingPunct="1">
                        <a:defRPr sz="1800" b="1" kern="1200">
                          <a:solidFill>
                            <a:schemeClr val="lt1"/>
                          </a:solidFill>
                          <a:latin typeface="Tenorite"/>
                        </a:defRPr>
                      </a:lvl7pPr>
                      <a:lvl8pPr marL="3200400" algn="l" defTabSz="914400" rtl="0" eaLnBrk="1" latinLnBrk="0" hangingPunct="1">
                        <a:defRPr sz="1800" b="1" kern="1200">
                          <a:solidFill>
                            <a:schemeClr val="lt1"/>
                          </a:solidFill>
                          <a:latin typeface="Tenorite"/>
                        </a:defRPr>
                      </a:lvl8pPr>
                      <a:lvl9pPr marL="3657600" algn="l" defTabSz="914400" rtl="0" eaLnBrk="1" latinLnBrk="0" hangingPunct="1">
                        <a:defRPr sz="1800" b="1" kern="1200">
                          <a:solidFill>
                            <a:schemeClr val="lt1"/>
                          </a:solidFill>
                          <a:latin typeface="Tenorite"/>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dirty="0">
                          <a:solidFill>
                            <a:schemeClr val="tx1"/>
                          </a:solidFill>
                        </a:rPr>
                        <a:t>“</a:t>
                      </a:r>
                      <a:r>
                        <a:rPr lang="en-US" sz="2800" b="1" kern="1200" dirty="0">
                          <a:solidFill>
                            <a:schemeClr val="tx1"/>
                          </a:solidFill>
                          <a:latin typeface="Tenorite"/>
                          <a:ea typeface="+mn-ea"/>
                          <a:cs typeface="+mn-cs"/>
                        </a:rPr>
                        <a:t>Enhancing Stock Market Prediction Using Multimodal Deep Learning Model</a:t>
                      </a:r>
                      <a:r>
                        <a:rPr lang="en-US" sz="2800" b="1" dirty="0">
                          <a:solidFill>
                            <a:schemeClr val="tx1"/>
                          </a:solidFill>
                        </a:rPr>
                        <a: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9E6DF">
                        <a:lumMod val="90000"/>
                      </a:srgbClr>
                    </a:solidFill>
                  </a:tcPr>
                </a:tc>
                <a:extLst>
                  <a:ext uri="{0D108BD9-81ED-4DB2-BD59-A6C34878D82A}">
                    <a16:rowId xmlns:a16="http://schemas.microsoft.com/office/drawing/2014/main" val="1649111106"/>
                  </a:ext>
                </a:extLst>
              </a:tr>
              <a:tr h="610412">
                <a:tc>
                  <a:txBody>
                    <a:bodyPr/>
                    <a:lstStyle>
                      <a:lvl1pPr marL="0" algn="l" defTabSz="914400" rtl="0" eaLnBrk="1" latinLnBrk="0" hangingPunct="1">
                        <a:defRPr sz="1800" kern="1200">
                          <a:solidFill>
                            <a:schemeClr val="dk1"/>
                          </a:solidFill>
                          <a:latin typeface="Tenorite"/>
                        </a:defRPr>
                      </a:lvl1pPr>
                      <a:lvl2pPr marL="457200" algn="l" defTabSz="914400" rtl="0" eaLnBrk="1" latinLnBrk="0" hangingPunct="1">
                        <a:defRPr sz="1800" kern="1200">
                          <a:solidFill>
                            <a:schemeClr val="dk1"/>
                          </a:solidFill>
                          <a:latin typeface="Tenorite"/>
                        </a:defRPr>
                      </a:lvl2pPr>
                      <a:lvl3pPr marL="914400" algn="l" defTabSz="914400" rtl="0" eaLnBrk="1" latinLnBrk="0" hangingPunct="1">
                        <a:defRPr sz="1800" kern="1200">
                          <a:solidFill>
                            <a:schemeClr val="dk1"/>
                          </a:solidFill>
                          <a:latin typeface="Tenorite"/>
                        </a:defRPr>
                      </a:lvl3pPr>
                      <a:lvl4pPr marL="1371600" algn="l" defTabSz="914400" rtl="0" eaLnBrk="1" latinLnBrk="0" hangingPunct="1">
                        <a:defRPr sz="1800" kern="1200">
                          <a:solidFill>
                            <a:schemeClr val="dk1"/>
                          </a:solidFill>
                          <a:latin typeface="Tenorite"/>
                        </a:defRPr>
                      </a:lvl4pPr>
                      <a:lvl5pPr marL="1828800" algn="l" defTabSz="914400" rtl="0" eaLnBrk="1" latinLnBrk="0" hangingPunct="1">
                        <a:defRPr sz="1800" kern="1200">
                          <a:solidFill>
                            <a:schemeClr val="dk1"/>
                          </a:solidFill>
                          <a:latin typeface="Tenorite"/>
                        </a:defRPr>
                      </a:lvl5pPr>
                      <a:lvl6pPr marL="2286000" algn="l" defTabSz="914400" rtl="0" eaLnBrk="1" latinLnBrk="0" hangingPunct="1">
                        <a:defRPr sz="1800" kern="1200">
                          <a:solidFill>
                            <a:schemeClr val="dk1"/>
                          </a:solidFill>
                          <a:latin typeface="Tenorite"/>
                        </a:defRPr>
                      </a:lvl6pPr>
                      <a:lvl7pPr marL="2743200" algn="l" defTabSz="914400" rtl="0" eaLnBrk="1" latinLnBrk="0" hangingPunct="1">
                        <a:defRPr sz="1800" kern="1200">
                          <a:solidFill>
                            <a:schemeClr val="dk1"/>
                          </a:solidFill>
                          <a:latin typeface="Tenorite"/>
                        </a:defRPr>
                      </a:lvl7pPr>
                      <a:lvl8pPr marL="3200400" algn="l" defTabSz="914400" rtl="0" eaLnBrk="1" latinLnBrk="0" hangingPunct="1">
                        <a:defRPr sz="1800" kern="1200">
                          <a:solidFill>
                            <a:schemeClr val="dk1"/>
                          </a:solidFill>
                          <a:latin typeface="Tenorite"/>
                        </a:defRPr>
                      </a:lvl8pPr>
                      <a:lvl9pPr marL="3657600" algn="l" defTabSz="914400" rtl="0" eaLnBrk="1" latinLnBrk="0" hangingPunct="1">
                        <a:defRPr sz="1800" kern="1200">
                          <a:solidFill>
                            <a:schemeClr val="dk1"/>
                          </a:solidFill>
                          <a:latin typeface="Tenorite"/>
                        </a:defRPr>
                      </a:lvl9pPr>
                    </a:lstStyle>
                    <a:p>
                      <a:r>
                        <a:rPr lang="en-US" dirty="0"/>
                        <a:t>GUIDE NAME</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9E6DF">
                        <a:tint val="20000"/>
                      </a:srgbClr>
                    </a:solidFill>
                  </a:tcPr>
                </a:tc>
                <a:tc>
                  <a:txBody>
                    <a:bodyPr/>
                    <a:lstStyle>
                      <a:lvl1pPr marL="0" algn="l" defTabSz="914400" rtl="0" eaLnBrk="1" latinLnBrk="0" hangingPunct="1">
                        <a:defRPr sz="1800" kern="1200">
                          <a:solidFill>
                            <a:schemeClr val="dk1"/>
                          </a:solidFill>
                          <a:latin typeface="Tenorite"/>
                        </a:defRPr>
                      </a:lvl1pPr>
                      <a:lvl2pPr marL="457200" algn="l" defTabSz="914400" rtl="0" eaLnBrk="1" latinLnBrk="0" hangingPunct="1">
                        <a:defRPr sz="1800" kern="1200">
                          <a:solidFill>
                            <a:schemeClr val="dk1"/>
                          </a:solidFill>
                          <a:latin typeface="Tenorite"/>
                        </a:defRPr>
                      </a:lvl2pPr>
                      <a:lvl3pPr marL="914400" algn="l" defTabSz="914400" rtl="0" eaLnBrk="1" latinLnBrk="0" hangingPunct="1">
                        <a:defRPr sz="1800" kern="1200">
                          <a:solidFill>
                            <a:schemeClr val="dk1"/>
                          </a:solidFill>
                          <a:latin typeface="Tenorite"/>
                        </a:defRPr>
                      </a:lvl3pPr>
                      <a:lvl4pPr marL="1371600" algn="l" defTabSz="914400" rtl="0" eaLnBrk="1" latinLnBrk="0" hangingPunct="1">
                        <a:defRPr sz="1800" kern="1200">
                          <a:solidFill>
                            <a:schemeClr val="dk1"/>
                          </a:solidFill>
                          <a:latin typeface="Tenorite"/>
                        </a:defRPr>
                      </a:lvl4pPr>
                      <a:lvl5pPr marL="1828800" algn="l" defTabSz="914400" rtl="0" eaLnBrk="1" latinLnBrk="0" hangingPunct="1">
                        <a:defRPr sz="1800" kern="1200">
                          <a:solidFill>
                            <a:schemeClr val="dk1"/>
                          </a:solidFill>
                          <a:latin typeface="Tenorite"/>
                        </a:defRPr>
                      </a:lvl5pPr>
                      <a:lvl6pPr marL="2286000" algn="l" defTabSz="914400" rtl="0" eaLnBrk="1" latinLnBrk="0" hangingPunct="1">
                        <a:defRPr sz="1800" kern="1200">
                          <a:solidFill>
                            <a:schemeClr val="dk1"/>
                          </a:solidFill>
                          <a:latin typeface="Tenorite"/>
                        </a:defRPr>
                      </a:lvl6pPr>
                      <a:lvl7pPr marL="2743200" algn="l" defTabSz="914400" rtl="0" eaLnBrk="1" latinLnBrk="0" hangingPunct="1">
                        <a:defRPr sz="1800" kern="1200">
                          <a:solidFill>
                            <a:schemeClr val="dk1"/>
                          </a:solidFill>
                          <a:latin typeface="Tenorite"/>
                        </a:defRPr>
                      </a:lvl7pPr>
                      <a:lvl8pPr marL="3200400" algn="l" defTabSz="914400" rtl="0" eaLnBrk="1" latinLnBrk="0" hangingPunct="1">
                        <a:defRPr sz="1800" kern="1200">
                          <a:solidFill>
                            <a:schemeClr val="dk1"/>
                          </a:solidFill>
                          <a:latin typeface="Tenorite"/>
                        </a:defRPr>
                      </a:lvl8pPr>
                      <a:lvl9pPr marL="3657600" algn="l" defTabSz="914400" rtl="0" eaLnBrk="1" latinLnBrk="0" hangingPunct="1">
                        <a:defRPr sz="1800" kern="1200">
                          <a:solidFill>
                            <a:schemeClr val="dk1"/>
                          </a:solidFill>
                          <a:latin typeface="Tenorite"/>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Ms. </a:t>
                      </a:r>
                      <a:r>
                        <a:rPr lang="en-US" dirty="0" err="1"/>
                        <a:t>Soume</a:t>
                      </a:r>
                      <a:r>
                        <a:rPr lang="en-US" dirty="0"/>
                        <a:t> Sanyal</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9E6DF">
                        <a:tint val="20000"/>
                      </a:srgbClr>
                    </a:solidFill>
                  </a:tcPr>
                </a:tc>
                <a:extLst>
                  <a:ext uri="{0D108BD9-81ED-4DB2-BD59-A6C34878D82A}">
                    <a16:rowId xmlns:a16="http://schemas.microsoft.com/office/drawing/2014/main" val="2989146365"/>
                  </a:ext>
                </a:extLst>
              </a:tr>
              <a:tr h="907369">
                <a:tc>
                  <a:txBody>
                    <a:bodyPr/>
                    <a:lstStyle>
                      <a:lvl1pPr marL="0" algn="l" defTabSz="914400" rtl="0" eaLnBrk="1" latinLnBrk="0" hangingPunct="1">
                        <a:defRPr sz="1800" kern="1200">
                          <a:solidFill>
                            <a:schemeClr val="dk1"/>
                          </a:solidFill>
                          <a:latin typeface="Tenorite"/>
                        </a:defRPr>
                      </a:lvl1pPr>
                      <a:lvl2pPr marL="457200" algn="l" defTabSz="914400" rtl="0" eaLnBrk="1" latinLnBrk="0" hangingPunct="1">
                        <a:defRPr sz="1800" kern="1200">
                          <a:solidFill>
                            <a:schemeClr val="dk1"/>
                          </a:solidFill>
                          <a:latin typeface="Tenorite"/>
                        </a:defRPr>
                      </a:lvl2pPr>
                      <a:lvl3pPr marL="914400" algn="l" defTabSz="914400" rtl="0" eaLnBrk="1" latinLnBrk="0" hangingPunct="1">
                        <a:defRPr sz="1800" kern="1200">
                          <a:solidFill>
                            <a:schemeClr val="dk1"/>
                          </a:solidFill>
                          <a:latin typeface="Tenorite"/>
                        </a:defRPr>
                      </a:lvl3pPr>
                      <a:lvl4pPr marL="1371600" algn="l" defTabSz="914400" rtl="0" eaLnBrk="1" latinLnBrk="0" hangingPunct="1">
                        <a:defRPr sz="1800" kern="1200">
                          <a:solidFill>
                            <a:schemeClr val="dk1"/>
                          </a:solidFill>
                          <a:latin typeface="Tenorite"/>
                        </a:defRPr>
                      </a:lvl4pPr>
                      <a:lvl5pPr marL="1828800" algn="l" defTabSz="914400" rtl="0" eaLnBrk="1" latinLnBrk="0" hangingPunct="1">
                        <a:defRPr sz="1800" kern="1200">
                          <a:solidFill>
                            <a:schemeClr val="dk1"/>
                          </a:solidFill>
                          <a:latin typeface="Tenorite"/>
                        </a:defRPr>
                      </a:lvl5pPr>
                      <a:lvl6pPr marL="2286000" algn="l" defTabSz="914400" rtl="0" eaLnBrk="1" latinLnBrk="0" hangingPunct="1">
                        <a:defRPr sz="1800" kern="1200">
                          <a:solidFill>
                            <a:schemeClr val="dk1"/>
                          </a:solidFill>
                          <a:latin typeface="Tenorite"/>
                        </a:defRPr>
                      </a:lvl6pPr>
                      <a:lvl7pPr marL="2743200" algn="l" defTabSz="914400" rtl="0" eaLnBrk="1" latinLnBrk="0" hangingPunct="1">
                        <a:defRPr sz="1800" kern="1200">
                          <a:solidFill>
                            <a:schemeClr val="dk1"/>
                          </a:solidFill>
                          <a:latin typeface="Tenorite"/>
                        </a:defRPr>
                      </a:lvl7pPr>
                      <a:lvl8pPr marL="3200400" algn="l" defTabSz="914400" rtl="0" eaLnBrk="1" latinLnBrk="0" hangingPunct="1">
                        <a:defRPr sz="1800" kern="1200">
                          <a:solidFill>
                            <a:schemeClr val="dk1"/>
                          </a:solidFill>
                          <a:latin typeface="Tenorite"/>
                        </a:defRPr>
                      </a:lvl8pPr>
                      <a:lvl9pPr marL="3657600" algn="l" defTabSz="914400" rtl="0" eaLnBrk="1" latinLnBrk="0" hangingPunct="1">
                        <a:defRPr sz="1800" kern="1200">
                          <a:solidFill>
                            <a:schemeClr val="dk1"/>
                          </a:solidFill>
                          <a:latin typeface="Tenorite"/>
                        </a:defRPr>
                      </a:lvl9pPr>
                    </a:lstStyle>
                    <a:p>
                      <a:r>
                        <a:rPr lang="en-US" dirty="0"/>
                        <a:t>STUDENT NAMES </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6DF">
                        <a:tint val="40000"/>
                      </a:srgbClr>
                    </a:solidFill>
                  </a:tcPr>
                </a:tc>
                <a:tc>
                  <a:txBody>
                    <a:bodyPr/>
                    <a:lstStyle>
                      <a:lvl1pPr marL="0" algn="l" defTabSz="914400" rtl="0" eaLnBrk="1" latinLnBrk="0" hangingPunct="1">
                        <a:defRPr sz="1800" kern="1200">
                          <a:solidFill>
                            <a:schemeClr val="dk1"/>
                          </a:solidFill>
                          <a:latin typeface="Tenorite"/>
                        </a:defRPr>
                      </a:lvl1pPr>
                      <a:lvl2pPr marL="457200" algn="l" defTabSz="914400" rtl="0" eaLnBrk="1" latinLnBrk="0" hangingPunct="1">
                        <a:defRPr sz="1800" kern="1200">
                          <a:solidFill>
                            <a:schemeClr val="dk1"/>
                          </a:solidFill>
                          <a:latin typeface="Tenorite"/>
                        </a:defRPr>
                      </a:lvl2pPr>
                      <a:lvl3pPr marL="914400" algn="l" defTabSz="914400" rtl="0" eaLnBrk="1" latinLnBrk="0" hangingPunct="1">
                        <a:defRPr sz="1800" kern="1200">
                          <a:solidFill>
                            <a:schemeClr val="dk1"/>
                          </a:solidFill>
                          <a:latin typeface="Tenorite"/>
                        </a:defRPr>
                      </a:lvl3pPr>
                      <a:lvl4pPr marL="1371600" algn="l" defTabSz="914400" rtl="0" eaLnBrk="1" latinLnBrk="0" hangingPunct="1">
                        <a:defRPr sz="1800" kern="1200">
                          <a:solidFill>
                            <a:schemeClr val="dk1"/>
                          </a:solidFill>
                          <a:latin typeface="Tenorite"/>
                        </a:defRPr>
                      </a:lvl4pPr>
                      <a:lvl5pPr marL="1828800" algn="l" defTabSz="914400" rtl="0" eaLnBrk="1" latinLnBrk="0" hangingPunct="1">
                        <a:defRPr sz="1800" kern="1200">
                          <a:solidFill>
                            <a:schemeClr val="dk1"/>
                          </a:solidFill>
                          <a:latin typeface="Tenorite"/>
                        </a:defRPr>
                      </a:lvl5pPr>
                      <a:lvl6pPr marL="2286000" algn="l" defTabSz="914400" rtl="0" eaLnBrk="1" latinLnBrk="0" hangingPunct="1">
                        <a:defRPr sz="1800" kern="1200">
                          <a:solidFill>
                            <a:schemeClr val="dk1"/>
                          </a:solidFill>
                          <a:latin typeface="Tenorite"/>
                        </a:defRPr>
                      </a:lvl6pPr>
                      <a:lvl7pPr marL="2743200" algn="l" defTabSz="914400" rtl="0" eaLnBrk="1" latinLnBrk="0" hangingPunct="1">
                        <a:defRPr sz="1800" kern="1200">
                          <a:solidFill>
                            <a:schemeClr val="dk1"/>
                          </a:solidFill>
                          <a:latin typeface="Tenorite"/>
                        </a:defRPr>
                      </a:lvl7pPr>
                      <a:lvl8pPr marL="3200400" algn="l" defTabSz="914400" rtl="0" eaLnBrk="1" latinLnBrk="0" hangingPunct="1">
                        <a:defRPr sz="1800" kern="1200">
                          <a:solidFill>
                            <a:schemeClr val="dk1"/>
                          </a:solidFill>
                          <a:latin typeface="Tenorite"/>
                        </a:defRPr>
                      </a:lvl8pPr>
                      <a:lvl9pPr marL="3657600" algn="l" defTabSz="914400" rtl="0" eaLnBrk="1" latinLnBrk="0" hangingPunct="1">
                        <a:defRPr sz="1800" kern="1200">
                          <a:solidFill>
                            <a:schemeClr val="dk1"/>
                          </a:solidFill>
                          <a:latin typeface="Tenorite"/>
                        </a:defRPr>
                      </a:lvl9pPr>
                    </a:lstStyle>
                    <a:p>
                      <a:r>
                        <a:rPr lang="en-US" dirty="0"/>
                        <a:t>Anish Grandhe</a:t>
                      </a:r>
                    </a:p>
                    <a:p>
                      <a:r>
                        <a:rPr lang="en-US" dirty="0"/>
                        <a:t>Karthik </a:t>
                      </a:r>
                      <a:r>
                        <a:rPr lang="en-US" dirty="0" err="1"/>
                        <a:t>Peetela</a:t>
                      </a:r>
                      <a:endParaRPr 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6DF">
                        <a:tint val="40000"/>
                      </a:srgbClr>
                    </a:solidFill>
                  </a:tcPr>
                </a:tc>
                <a:extLst>
                  <a:ext uri="{0D108BD9-81ED-4DB2-BD59-A6C34878D82A}">
                    <a16:rowId xmlns:a16="http://schemas.microsoft.com/office/drawing/2014/main" val="2995568830"/>
                  </a:ext>
                </a:extLst>
              </a:tr>
              <a:tr h="923868">
                <a:tc>
                  <a:txBody>
                    <a:bodyPr/>
                    <a:lstStyle>
                      <a:lvl1pPr marL="0" algn="l" defTabSz="914400" rtl="0" eaLnBrk="1" latinLnBrk="0" hangingPunct="1">
                        <a:defRPr sz="1800" kern="1200">
                          <a:solidFill>
                            <a:schemeClr val="dk1"/>
                          </a:solidFill>
                          <a:latin typeface="Tenorite"/>
                        </a:defRPr>
                      </a:lvl1pPr>
                      <a:lvl2pPr marL="457200" algn="l" defTabSz="914400" rtl="0" eaLnBrk="1" latinLnBrk="0" hangingPunct="1">
                        <a:defRPr sz="1800" kern="1200">
                          <a:solidFill>
                            <a:schemeClr val="dk1"/>
                          </a:solidFill>
                          <a:latin typeface="Tenorite"/>
                        </a:defRPr>
                      </a:lvl2pPr>
                      <a:lvl3pPr marL="914400" algn="l" defTabSz="914400" rtl="0" eaLnBrk="1" latinLnBrk="0" hangingPunct="1">
                        <a:defRPr sz="1800" kern="1200">
                          <a:solidFill>
                            <a:schemeClr val="dk1"/>
                          </a:solidFill>
                          <a:latin typeface="Tenorite"/>
                        </a:defRPr>
                      </a:lvl3pPr>
                      <a:lvl4pPr marL="1371600" algn="l" defTabSz="914400" rtl="0" eaLnBrk="1" latinLnBrk="0" hangingPunct="1">
                        <a:defRPr sz="1800" kern="1200">
                          <a:solidFill>
                            <a:schemeClr val="dk1"/>
                          </a:solidFill>
                          <a:latin typeface="Tenorite"/>
                        </a:defRPr>
                      </a:lvl4pPr>
                      <a:lvl5pPr marL="1828800" algn="l" defTabSz="914400" rtl="0" eaLnBrk="1" latinLnBrk="0" hangingPunct="1">
                        <a:defRPr sz="1800" kern="1200">
                          <a:solidFill>
                            <a:schemeClr val="dk1"/>
                          </a:solidFill>
                          <a:latin typeface="Tenorite"/>
                        </a:defRPr>
                      </a:lvl5pPr>
                      <a:lvl6pPr marL="2286000" algn="l" defTabSz="914400" rtl="0" eaLnBrk="1" latinLnBrk="0" hangingPunct="1">
                        <a:defRPr sz="1800" kern="1200">
                          <a:solidFill>
                            <a:schemeClr val="dk1"/>
                          </a:solidFill>
                          <a:latin typeface="Tenorite"/>
                        </a:defRPr>
                      </a:lvl6pPr>
                      <a:lvl7pPr marL="2743200" algn="l" defTabSz="914400" rtl="0" eaLnBrk="1" latinLnBrk="0" hangingPunct="1">
                        <a:defRPr sz="1800" kern="1200">
                          <a:solidFill>
                            <a:schemeClr val="dk1"/>
                          </a:solidFill>
                          <a:latin typeface="Tenorite"/>
                        </a:defRPr>
                      </a:lvl7pPr>
                      <a:lvl8pPr marL="3200400" algn="l" defTabSz="914400" rtl="0" eaLnBrk="1" latinLnBrk="0" hangingPunct="1">
                        <a:defRPr sz="1800" kern="1200">
                          <a:solidFill>
                            <a:schemeClr val="dk1"/>
                          </a:solidFill>
                          <a:latin typeface="Tenorite"/>
                        </a:defRPr>
                      </a:lvl8pPr>
                      <a:lvl9pPr marL="3657600" algn="l" defTabSz="914400" rtl="0" eaLnBrk="1" latinLnBrk="0" hangingPunct="1">
                        <a:defRPr sz="1800" kern="1200">
                          <a:solidFill>
                            <a:schemeClr val="dk1"/>
                          </a:solidFill>
                          <a:latin typeface="Tenorite"/>
                        </a:defRPr>
                      </a:lvl9pPr>
                    </a:lstStyle>
                    <a:p>
                      <a:pPr lvl="0">
                        <a:buNone/>
                      </a:pPr>
                      <a:r>
                        <a:rPr lang="en-US" dirty="0"/>
                        <a:t>Roll Numbers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6DF">
                        <a:tint val="20000"/>
                      </a:srgbClr>
                    </a:solidFill>
                  </a:tcPr>
                </a:tc>
                <a:tc>
                  <a:txBody>
                    <a:bodyPr/>
                    <a:lstStyle>
                      <a:lvl1pPr marL="0" algn="l" defTabSz="914400" rtl="0" eaLnBrk="1" latinLnBrk="0" hangingPunct="1">
                        <a:defRPr sz="1800" kern="1200">
                          <a:solidFill>
                            <a:schemeClr val="dk1"/>
                          </a:solidFill>
                          <a:latin typeface="Tenorite"/>
                        </a:defRPr>
                      </a:lvl1pPr>
                      <a:lvl2pPr marL="457200" algn="l" defTabSz="914400" rtl="0" eaLnBrk="1" latinLnBrk="0" hangingPunct="1">
                        <a:defRPr sz="1800" kern="1200">
                          <a:solidFill>
                            <a:schemeClr val="dk1"/>
                          </a:solidFill>
                          <a:latin typeface="Tenorite"/>
                        </a:defRPr>
                      </a:lvl2pPr>
                      <a:lvl3pPr marL="914400" algn="l" defTabSz="914400" rtl="0" eaLnBrk="1" latinLnBrk="0" hangingPunct="1">
                        <a:defRPr sz="1800" kern="1200">
                          <a:solidFill>
                            <a:schemeClr val="dk1"/>
                          </a:solidFill>
                          <a:latin typeface="Tenorite"/>
                        </a:defRPr>
                      </a:lvl3pPr>
                      <a:lvl4pPr marL="1371600" algn="l" defTabSz="914400" rtl="0" eaLnBrk="1" latinLnBrk="0" hangingPunct="1">
                        <a:defRPr sz="1800" kern="1200">
                          <a:solidFill>
                            <a:schemeClr val="dk1"/>
                          </a:solidFill>
                          <a:latin typeface="Tenorite"/>
                        </a:defRPr>
                      </a:lvl4pPr>
                      <a:lvl5pPr marL="1828800" algn="l" defTabSz="914400" rtl="0" eaLnBrk="1" latinLnBrk="0" hangingPunct="1">
                        <a:defRPr sz="1800" kern="1200">
                          <a:solidFill>
                            <a:schemeClr val="dk1"/>
                          </a:solidFill>
                          <a:latin typeface="Tenorite"/>
                        </a:defRPr>
                      </a:lvl5pPr>
                      <a:lvl6pPr marL="2286000" algn="l" defTabSz="914400" rtl="0" eaLnBrk="1" latinLnBrk="0" hangingPunct="1">
                        <a:defRPr sz="1800" kern="1200">
                          <a:solidFill>
                            <a:schemeClr val="dk1"/>
                          </a:solidFill>
                          <a:latin typeface="Tenorite"/>
                        </a:defRPr>
                      </a:lvl6pPr>
                      <a:lvl7pPr marL="2743200" algn="l" defTabSz="914400" rtl="0" eaLnBrk="1" latinLnBrk="0" hangingPunct="1">
                        <a:defRPr sz="1800" kern="1200">
                          <a:solidFill>
                            <a:schemeClr val="dk1"/>
                          </a:solidFill>
                          <a:latin typeface="Tenorite"/>
                        </a:defRPr>
                      </a:lvl7pPr>
                      <a:lvl8pPr marL="3200400" algn="l" defTabSz="914400" rtl="0" eaLnBrk="1" latinLnBrk="0" hangingPunct="1">
                        <a:defRPr sz="1800" kern="1200">
                          <a:solidFill>
                            <a:schemeClr val="dk1"/>
                          </a:solidFill>
                          <a:latin typeface="Tenorite"/>
                        </a:defRPr>
                      </a:lvl8pPr>
                      <a:lvl9pPr marL="3657600" algn="l" defTabSz="914400" rtl="0" eaLnBrk="1" latinLnBrk="0" hangingPunct="1">
                        <a:defRPr sz="1800" kern="1200">
                          <a:solidFill>
                            <a:schemeClr val="dk1"/>
                          </a:solidFill>
                          <a:latin typeface="Tenorite"/>
                        </a:defRPr>
                      </a:lvl9pPr>
                    </a:lstStyle>
                    <a:p>
                      <a:pPr lvl="0">
                        <a:buNone/>
                      </a:pPr>
                      <a:r>
                        <a:rPr lang="en-US" dirty="0"/>
                        <a:t>1602-22-737-133</a:t>
                      </a:r>
                    </a:p>
                    <a:p>
                      <a:pPr lvl="0">
                        <a:buNone/>
                      </a:pPr>
                      <a:r>
                        <a:rPr lang="en-US" dirty="0"/>
                        <a:t>1602-22-737-317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6DF">
                        <a:tint val="20000"/>
                      </a:srgbClr>
                    </a:solidFill>
                  </a:tcPr>
                </a:tc>
                <a:extLst>
                  <a:ext uri="{0D108BD9-81ED-4DB2-BD59-A6C34878D82A}">
                    <a16:rowId xmlns:a16="http://schemas.microsoft.com/office/drawing/2014/main" val="3397297951"/>
                  </a:ext>
                </a:extLst>
              </a:tr>
            </a:tbl>
          </a:graphicData>
        </a:graphic>
      </p:graphicFrame>
    </p:spTree>
    <p:extLst>
      <p:ext uri="{BB962C8B-B14F-4D97-AF65-F5344CB8AC3E}">
        <p14:creationId xmlns:p14="http://schemas.microsoft.com/office/powerpoint/2010/main" val="3338827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FD812-3216-18E4-6187-AF2544074961}"/>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BD6A343C-E86E-D010-69B8-326A4D11F733}"/>
              </a:ext>
            </a:extLst>
          </p:cNvPr>
          <p:cNvSpPr>
            <a:spLocks noGrp="1"/>
          </p:cNvSpPr>
          <p:nvPr>
            <p:ph idx="1"/>
          </p:nvPr>
        </p:nvSpPr>
        <p:spPr/>
        <p:txBody>
          <a:bodyPr>
            <a:normAutofit lnSpcReduction="10000"/>
          </a:bodyPr>
          <a:lstStyle/>
          <a:p>
            <a:pPr marL="0" indent="0">
              <a:lnSpc>
                <a:spcPct val="150000"/>
              </a:lnSpc>
              <a:buNone/>
            </a:pPr>
            <a:r>
              <a:rPr lang="en-US" sz="2400" dirty="0"/>
              <a:t>A novel multimodal Temporal Convolutional Network is introduced for NIFTY 50 trading, integrating price data, technical indicators, news, social media sentiment, ESG factors, and macroeconomic variables. It combines sentiment analysis with numerical features and uses an adaptive fusion gate to weight each data source. The dual-output design predicts prices and evaluates risk through measures like volatility and Sharpe ratio, while its continuous learning setup adapts to changing market conditions to deliver risk-adjusted position sizing and actionable trading signals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2500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6DB38-5D62-FE8C-82B9-36F60E0F71AF}"/>
              </a:ext>
            </a:extLst>
          </p:cNvPr>
          <p:cNvSpPr>
            <a:spLocks noGrp="1"/>
          </p:cNvSpPr>
          <p:nvPr>
            <p:ph type="title"/>
          </p:nvPr>
        </p:nvSpPr>
        <p:spPr/>
        <p:txBody>
          <a:bodyPr/>
          <a:lstStyle/>
          <a:p>
            <a:r>
              <a:rPr lang="en-IN" dirty="0"/>
              <a:t>Motivation</a:t>
            </a:r>
          </a:p>
        </p:txBody>
      </p:sp>
      <p:graphicFrame>
        <p:nvGraphicFramePr>
          <p:cNvPr id="7" name="Rectangle 2">
            <a:extLst>
              <a:ext uri="{FF2B5EF4-FFF2-40B4-BE49-F238E27FC236}">
                <a16:creationId xmlns:a16="http://schemas.microsoft.com/office/drawing/2014/main" id="{CF6964EF-F25C-2933-68DE-BF525E369CA4}"/>
              </a:ext>
            </a:extLst>
          </p:cNvPr>
          <p:cNvGraphicFramePr>
            <a:graphicFrameLocks noGrp="1"/>
          </p:cNvGraphicFramePr>
          <p:nvPr>
            <p:ph idx="1"/>
          </p:nvPr>
        </p:nvGraphicFramePr>
        <p:xfrm>
          <a:off x="180976" y="1694304"/>
          <a:ext cx="11506199" cy="37856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2794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47C69-EED8-71F2-7218-4368D56563B5}"/>
              </a:ext>
            </a:extLst>
          </p:cNvPr>
          <p:cNvSpPr>
            <a:spLocks noGrp="1"/>
          </p:cNvSpPr>
          <p:nvPr>
            <p:ph type="title"/>
          </p:nvPr>
        </p:nvSpPr>
        <p:spPr/>
        <p:txBody>
          <a:bodyPr/>
          <a:lstStyle/>
          <a:p>
            <a:r>
              <a:rPr lang="en-IN" dirty="0"/>
              <a:t>Problem Statement</a:t>
            </a:r>
          </a:p>
        </p:txBody>
      </p:sp>
      <p:graphicFrame>
        <p:nvGraphicFramePr>
          <p:cNvPr id="7" name="Rectangle 2">
            <a:extLst>
              <a:ext uri="{FF2B5EF4-FFF2-40B4-BE49-F238E27FC236}">
                <a16:creationId xmlns:a16="http://schemas.microsoft.com/office/drawing/2014/main" id="{CD54A254-DDF9-6176-1A45-D479CC364BF5}"/>
              </a:ext>
            </a:extLst>
          </p:cNvPr>
          <p:cNvGraphicFramePr>
            <a:graphicFrameLocks noGrp="1"/>
          </p:cNvGraphicFramePr>
          <p:nvPr>
            <p:ph idx="1"/>
            <p:extLst>
              <p:ext uri="{D42A27DB-BD31-4B8C-83A1-F6EECF244321}">
                <p14:modId xmlns:p14="http://schemas.microsoft.com/office/powerpoint/2010/main" val="891743955"/>
              </p:ext>
            </p:extLst>
          </p:nvPr>
        </p:nvGraphicFramePr>
        <p:xfrm>
          <a:off x="542611" y="1690689"/>
          <a:ext cx="10112949" cy="31070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5962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4E54E-C79F-D012-5A31-0351B753C170}"/>
              </a:ext>
            </a:extLst>
          </p:cNvPr>
          <p:cNvSpPr>
            <a:spLocks noGrp="1"/>
          </p:cNvSpPr>
          <p:nvPr>
            <p:ph type="title"/>
          </p:nvPr>
        </p:nvSpPr>
        <p:spPr>
          <a:xfrm>
            <a:off x="1378743" y="731731"/>
            <a:ext cx="9444037" cy="954194"/>
          </a:xfrm>
        </p:spPr>
        <p:txBody>
          <a:bodyPr anchor="t">
            <a:normAutofit/>
          </a:bodyPr>
          <a:lstStyle/>
          <a:p>
            <a:pPr algn="ctr"/>
            <a:r>
              <a:rPr lang="en-IN" sz="3200"/>
              <a:t>Literature Survey</a:t>
            </a:r>
          </a:p>
        </p:txBody>
      </p:sp>
      <p:graphicFrame>
        <p:nvGraphicFramePr>
          <p:cNvPr id="9" name="Content Placeholder 8">
            <a:extLst>
              <a:ext uri="{FF2B5EF4-FFF2-40B4-BE49-F238E27FC236}">
                <a16:creationId xmlns:a16="http://schemas.microsoft.com/office/drawing/2014/main" id="{F979A8B8-9028-516A-2B87-0A957653F6EC}"/>
              </a:ext>
            </a:extLst>
          </p:cNvPr>
          <p:cNvGraphicFramePr>
            <a:graphicFrameLocks noGrp="1"/>
          </p:cNvGraphicFramePr>
          <p:nvPr>
            <p:ph idx="1"/>
            <p:extLst>
              <p:ext uri="{D42A27DB-BD31-4B8C-83A1-F6EECF244321}">
                <p14:modId xmlns:p14="http://schemas.microsoft.com/office/powerpoint/2010/main" val="950859667"/>
              </p:ext>
            </p:extLst>
          </p:nvPr>
        </p:nvGraphicFramePr>
        <p:xfrm>
          <a:off x="1266251" y="1853786"/>
          <a:ext cx="9684050" cy="3492988"/>
        </p:xfrm>
        <a:graphic>
          <a:graphicData uri="http://schemas.openxmlformats.org/drawingml/2006/table">
            <a:tbl>
              <a:tblPr firstRow="1" bandRow="1">
                <a:solidFill>
                  <a:srgbClr val="F2F2F2">
                    <a:alpha val="45098"/>
                  </a:srgbClr>
                </a:solidFill>
              </a:tblPr>
              <a:tblGrid>
                <a:gridCol w="1783769">
                  <a:extLst>
                    <a:ext uri="{9D8B030D-6E8A-4147-A177-3AD203B41FA5}">
                      <a16:colId xmlns:a16="http://schemas.microsoft.com/office/drawing/2014/main" val="3289453574"/>
                    </a:ext>
                  </a:extLst>
                </a:gridCol>
                <a:gridCol w="1013773">
                  <a:extLst>
                    <a:ext uri="{9D8B030D-6E8A-4147-A177-3AD203B41FA5}">
                      <a16:colId xmlns:a16="http://schemas.microsoft.com/office/drawing/2014/main" val="2826544781"/>
                    </a:ext>
                  </a:extLst>
                </a:gridCol>
                <a:gridCol w="1752816">
                  <a:extLst>
                    <a:ext uri="{9D8B030D-6E8A-4147-A177-3AD203B41FA5}">
                      <a16:colId xmlns:a16="http://schemas.microsoft.com/office/drawing/2014/main" val="2139298184"/>
                    </a:ext>
                  </a:extLst>
                </a:gridCol>
                <a:gridCol w="1689558">
                  <a:extLst>
                    <a:ext uri="{9D8B030D-6E8A-4147-A177-3AD203B41FA5}">
                      <a16:colId xmlns:a16="http://schemas.microsoft.com/office/drawing/2014/main" val="2096502010"/>
                    </a:ext>
                  </a:extLst>
                </a:gridCol>
                <a:gridCol w="1747089">
                  <a:extLst>
                    <a:ext uri="{9D8B030D-6E8A-4147-A177-3AD203B41FA5}">
                      <a16:colId xmlns:a16="http://schemas.microsoft.com/office/drawing/2014/main" val="48313111"/>
                    </a:ext>
                  </a:extLst>
                </a:gridCol>
                <a:gridCol w="1697045">
                  <a:extLst>
                    <a:ext uri="{9D8B030D-6E8A-4147-A177-3AD203B41FA5}">
                      <a16:colId xmlns:a16="http://schemas.microsoft.com/office/drawing/2014/main" val="1725382204"/>
                    </a:ext>
                  </a:extLst>
                </a:gridCol>
              </a:tblGrid>
              <a:tr h="410608">
                <a:tc>
                  <a:txBody>
                    <a:bodyPr/>
                    <a:lstStyle/>
                    <a:p>
                      <a:pPr>
                        <a:buNone/>
                      </a:pPr>
                      <a:r>
                        <a:rPr lang="en-IN" sz="1500" b="0" cap="none" spc="0">
                          <a:solidFill>
                            <a:schemeClr val="bg1"/>
                          </a:solidFill>
                        </a:rPr>
                        <a:t>Paper</a:t>
                      </a:r>
                    </a:p>
                  </a:txBody>
                  <a:tcPr marL="88151" marR="88151" marT="98178" marB="44075" anchor="ctr">
                    <a:lnL w="12700" cmpd="sng">
                      <a:noFill/>
                    </a:lnL>
                    <a:lnR w="12700" cmpd="sng">
                      <a:noFill/>
                    </a:lnR>
                    <a:lnT w="19050" cap="flat" cmpd="sng" algn="ctr">
                      <a:noFill/>
                      <a:prstDash val="solid"/>
                    </a:lnT>
                    <a:lnB w="38100" cmpd="sng">
                      <a:noFill/>
                    </a:lnB>
                    <a:solidFill>
                      <a:schemeClr val="tx1"/>
                    </a:solidFill>
                  </a:tcPr>
                </a:tc>
                <a:tc>
                  <a:txBody>
                    <a:bodyPr/>
                    <a:lstStyle/>
                    <a:p>
                      <a:pPr>
                        <a:buNone/>
                      </a:pPr>
                      <a:r>
                        <a:rPr lang="en-IN" sz="1500" b="0" cap="none" spc="0">
                          <a:solidFill>
                            <a:schemeClr val="bg1"/>
                          </a:solidFill>
                        </a:rPr>
                        <a:t>Year</a:t>
                      </a:r>
                    </a:p>
                  </a:txBody>
                  <a:tcPr marL="88151" marR="88151" marT="98178" marB="44075" anchor="ctr">
                    <a:lnL w="12700" cmpd="sng">
                      <a:noFill/>
                    </a:lnL>
                    <a:lnR w="12700" cmpd="sng">
                      <a:noFill/>
                    </a:lnR>
                    <a:lnT w="19050" cap="flat" cmpd="sng" algn="ctr">
                      <a:noFill/>
                      <a:prstDash val="solid"/>
                    </a:lnT>
                    <a:lnB w="38100" cmpd="sng">
                      <a:noFill/>
                    </a:lnB>
                    <a:solidFill>
                      <a:schemeClr val="tx1"/>
                    </a:solidFill>
                  </a:tcPr>
                </a:tc>
                <a:tc>
                  <a:txBody>
                    <a:bodyPr/>
                    <a:lstStyle/>
                    <a:p>
                      <a:pPr>
                        <a:buNone/>
                      </a:pPr>
                      <a:r>
                        <a:rPr lang="en-IN" sz="1500" b="0" cap="none" spc="0">
                          <a:solidFill>
                            <a:schemeClr val="bg1"/>
                          </a:solidFill>
                        </a:rPr>
                        <a:t>Contribution</a:t>
                      </a:r>
                    </a:p>
                  </a:txBody>
                  <a:tcPr marL="88151" marR="88151" marT="98178" marB="44075" anchor="ctr">
                    <a:lnL w="12700" cmpd="sng">
                      <a:noFill/>
                    </a:lnL>
                    <a:lnR w="12700" cmpd="sng">
                      <a:noFill/>
                    </a:lnR>
                    <a:lnT w="19050" cap="flat" cmpd="sng" algn="ctr">
                      <a:noFill/>
                      <a:prstDash val="solid"/>
                    </a:lnT>
                    <a:lnB w="38100" cmpd="sng">
                      <a:noFill/>
                    </a:lnB>
                    <a:solidFill>
                      <a:schemeClr val="tx1"/>
                    </a:solidFill>
                  </a:tcPr>
                </a:tc>
                <a:tc>
                  <a:txBody>
                    <a:bodyPr/>
                    <a:lstStyle/>
                    <a:p>
                      <a:pPr>
                        <a:buNone/>
                      </a:pPr>
                      <a:r>
                        <a:rPr lang="en-IN" sz="1500" b="0" cap="none" spc="0">
                          <a:solidFill>
                            <a:schemeClr val="bg1"/>
                          </a:solidFill>
                        </a:rPr>
                        <a:t>Methodology</a:t>
                      </a:r>
                    </a:p>
                  </a:txBody>
                  <a:tcPr marL="88151" marR="88151" marT="98178" marB="44075" anchor="ctr">
                    <a:lnL w="12700" cmpd="sng">
                      <a:noFill/>
                    </a:lnL>
                    <a:lnR w="12700" cmpd="sng">
                      <a:noFill/>
                    </a:lnR>
                    <a:lnT w="19050" cap="flat" cmpd="sng" algn="ctr">
                      <a:noFill/>
                      <a:prstDash val="solid"/>
                    </a:lnT>
                    <a:lnB w="38100" cmpd="sng">
                      <a:noFill/>
                    </a:lnB>
                    <a:solidFill>
                      <a:schemeClr val="tx1"/>
                    </a:solidFill>
                  </a:tcPr>
                </a:tc>
                <a:tc>
                  <a:txBody>
                    <a:bodyPr/>
                    <a:lstStyle/>
                    <a:p>
                      <a:pPr>
                        <a:buNone/>
                      </a:pPr>
                      <a:r>
                        <a:rPr lang="en-IN" sz="1500" b="0" cap="none" spc="0">
                          <a:solidFill>
                            <a:schemeClr val="bg1"/>
                          </a:solidFill>
                        </a:rPr>
                        <a:t>Limitations</a:t>
                      </a:r>
                    </a:p>
                  </a:txBody>
                  <a:tcPr marL="88151" marR="88151" marT="98178" marB="44075" anchor="ctr">
                    <a:lnL w="12700" cmpd="sng">
                      <a:noFill/>
                    </a:lnL>
                    <a:lnR w="12700" cmpd="sng">
                      <a:noFill/>
                    </a:lnR>
                    <a:lnT w="19050" cap="flat" cmpd="sng" algn="ctr">
                      <a:noFill/>
                      <a:prstDash val="solid"/>
                    </a:lnT>
                    <a:lnB w="38100" cmpd="sng">
                      <a:noFill/>
                    </a:lnB>
                    <a:solidFill>
                      <a:schemeClr val="tx1"/>
                    </a:solidFill>
                  </a:tcPr>
                </a:tc>
                <a:tc>
                  <a:txBody>
                    <a:bodyPr/>
                    <a:lstStyle/>
                    <a:p>
                      <a:pPr>
                        <a:buNone/>
                      </a:pPr>
                      <a:r>
                        <a:rPr lang="en-IN" sz="1500" b="0" cap="none" spc="0">
                          <a:solidFill>
                            <a:schemeClr val="bg1"/>
                          </a:solidFill>
                        </a:rPr>
                        <a:t>Relevance</a:t>
                      </a:r>
                    </a:p>
                  </a:txBody>
                  <a:tcPr marL="88151" marR="88151" marT="98178" marB="44075"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2277238478"/>
                  </a:ext>
                </a:extLst>
              </a:tr>
              <a:tr h="770595">
                <a:tc>
                  <a:txBody>
                    <a:bodyPr/>
                    <a:lstStyle/>
                    <a:p>
                      <a:pPr>
                        <a:buNone/>
                      </a:pPr>
                      <a:r>
                        <a:rPr lang="en-US" sz="1300" b="1" cap="none" spc="0">
                          <a:solidFill>
                            <a:schemeClr val="tx1"/>
                          </a:solidFill>
                        </a:rPr>
                        <a:t>Dual Output TCN with Attention (Biswas et al.)</a:t>
                      </a:r>
                      <a:endParaRPr lang="en-US" sz="1300" cap="none" spc="0">
                        <a:solidFill>
                          <a:schemeClr val="tx1"/>
                        </a:solidFill>
                      </a:endParaRPr>
                    </a:p>
                  </a:txBody>
                  <a:tcPr marL="88151" marR="88151" marT="98178" marB="4407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a:buNone/>
                      </a:pPr>
                      <a:r>
                        <a:rPr lang="en-IN" sz="1300" b="1" cap="none" spc="0">
                          <a:solidFill>
                            <a:schemeClr val="tx1"/>
                          </a:solidFill>
                        </a:rPr>
                        <a:t>2025</a:t>
                      </a:r>
                      <a:endParaRPr lang="en-IN" sz="1300" cap="none" spc="0">
                        <a:solidFill>
                          <a:schemeClr val="tx1"/>
                        </a:solidFill>
                      </a:endParaRPr>
                    </a:p>
                  </a:txBody>
                  <a:tcPr marL="88151" marR="88151" marT="98178" marB="4407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a:buNone/>
                      </a:pPr>
                      <a:r>
                        <a:rPr lang="en-US" sz="1300" cap="none" spc="0">
                          <a:solidFill>
                            <a:schemeClr val="tx1"/>
                          </a:solidFill>
                        </a:rPr>
                        <a:t>TCN + attention for price &amp; risk prediction</a:t>
                      </a:r>
                    </a:p>
                  </a:txBody>
                  <a:tcPr marL="88151" marR="88151" marT="98178" marB="4407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a:buNone/>
                      </a:pPr>
                      <a:r>
                        <a:rPr lang="en-US" sz="1300" cap="none" spc="0">
                          <a:solidFill>
                            <a:schemeClr val="tx1"/>
                          </a:solidFill>
                        </a:rPr>
                        <a:t>Dilated causal CNN + attention + dual outputs</a:t>
                      </a:r>
                    </a:p>
                  </a:txBody>
                  <a:tcPr marL="88151" marR="88151" marT="98178" marB="4407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a:buNone/>
                      </a:pPr>
                      <a:r>
                        <a:rPr lang="en-US" sz="1300" cap="none" spc="0">
                          <a:solidFill>
                            <a:schemeClr val="tx1"/>
                          </a:solidFill>
                        </a:rPr>
                        <a:t>Single modality, 2 stocks only</a:t>
                      </a:r>
                    </a:p>
                  </a:txBody>
                  <a:tcPr marL="88151" marR="88151" marT="98178" marB="4407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a:buNone/>
                      </a:pPr>
                      <a:r>
                        <a:rPr lang="en-IN" sz="1300" cap="none" spc="0">
                          <a:solidFill>
                            <a:schemeClr val="tx1"/>
                          </a:solidFill>
                        </a:rPr>
                        <a:t>Dual-output architecture, TCN design</a:t>
                      </a:r>
                    </a:p>
                  </a:txBody>
                  <a:tcPr marL="88151" marR="88151" marT="98178" marB="4407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124234123"/>
                  </a:ext>
                </a:extLst>
              </a:tr>
              <a:tr h="770595">
                <a:tc>
                  <a:txBody>
                    <a:bodyPr/>
                    <a:lstStyle/>
                    <a:p>
                      <a:pPr>
                        <a:buNone/>
                      </a:pPr>
                      <a:r>
                        <a:rPr lang="en-IN" sz="1300" b="1" cap="none" spc="0">
                          <a:solidFill>
                            <a:schemeClr val="tx1"/>
                          </a:solidFill>
                        </a:rPr>
                        <a:t>GA-TCN-LSTM (Shi et al.)</a:t>
                      </a:r>
                      <a:endParaRPr lang="en-IN" sz="1300" cap="none" spc="0">
                        <a:solidFill>
                          <a:schemeClr val="tx1"/>
                        </a:solidFill>
                      </a:endParaRP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IN" sz="1300" b="1" cap="none" spc="0">
                          <a:solidFill>
                            <a:schemeClr val="tx1"/>
                          </a:solidFill>
                        </a:rPr>
                        <a:t>2025</a:t>
                      </a:r>
                      <a:endParaRPr lang="en-IN" sz="1300" cap="none" spc="0">
                        <a:solidFill>
                          <a:schemeClr val="tx1"/>
                        </a:solidFill>
                      </a:endParaRP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IN" sz="1300" cap="none" spc="0">
                          <a:solidFill>
                            <a:schemeClr val="tx1"/>
                          </a:solidFill>
                        </a:rPr>
                        <a:t>Genetic algorithm optimizes TCN-LSTM</a:t>
                      </a: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IN" sz="1300" cap="none" spc="0">
                          <a:solidFill>
                            <a:schemeClr val="tx1"/>
                          </a:solidFill>
                        </a:rPr>
                        <a:t>GA optimization + hybrid architecture</a:t>
                      </a: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IN" sz="1300" cap="none" spc="0">
                          <a:solidFill>
                            <a:schemeClr val="tx1"/>
                          </a:solidFill>
                        </a:rPr>
                        <a:t>Complex hyperparameter tuning</a:t>
                      </a: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IN" sz="1300" cap="none" spc="0">
                          <a:solidFill>
                            <a:schemeClr val="tx1"/>
                          </a:solidFill>
                        </a:rPr>
                        <a:t>Hybrid model design, optimization</a:t>
                      </a: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919945598"/>
                  </a:ext>
                </a:extLst>
              </a:tr>
              <a:tr h="770595">
                <a:tc>
                  <a:txBody>
                    <a:bodyPr/>
                    <a:lstStyle/>
                    <a:p>
                      <a:pPr>
                        <a:buNone/>
                      </a:pPr>
                      <a:r>
                        <a:rPr lang="en-IN" sz="1300" b="1" cap="none" spc="0">
                          <a:solidFill>
                            <a:schemeClr val="tx1"/>
                          </a:solidFill>
                        </a:rPr>
                        <a:t>Stock2Vec (Wang et al.)</a:t>
                      </a:r>
                      <a:endParaRPr lang="en-IN" sz="1300" cap="none" spc="0">
                        <a:solidFill>
                          <a:schemeClr val="tx1"/>
                        </a:solidFill>
                      </a:endParaRPr>
                    </a:p>
                  </a:txBody>
                  <a:tcPr marL="88151" marR="88151" marT="98178" marB="4407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buNone/>
                      </a:pPr>
                      <a:r>
                        <a:rPr lang="en-IN" sz="1300" b="1" cap="none" spc="0">
                          <a:solidFill>
                            <a:schemeClr val="tx1"/>
                          </a:solidFill>
                        </a:rPr>
                        <a:t>2020</a:t>
                      </a:r>
                      <a:endParaRPr lang="en-IN" sz="1300" cap="none" spc="0">
                        <a:solidFill>
                          <a:schemeClr val="tx1"/>
                        </a:solidFill>
                      </a:endParaRPr>
                    </a:p>
                  </a:txBody>
                  <a:tcPr marL="88151" marR="88151" marT="98178" marB="4407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buNone/>
                      </a:pPr>
                      <a:r>
                        <a:rPr lang="en-US" sz="1300" cap="none" spc="0">
                          <a:solidFill>
                            <a:schemeClr val="tx1"/>
                          </a:solidFill>
                        </a:rPr>
                        <a:t>Entity embedding for stocks + TCN</a:t>
                      </a:r>
                    </a:p>
                  </a:txBody>
                  <a:tcPr marL="88151" marR="88151" marT="98178" marB="4407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buNone/>
                      </a:pPr>
                      <a:r>
                        <a:rPr lang="en-US" sz="1300" cap="none" spc="0">
                          <a:solidFill>
                            <a:schemeClr val="tx1"/>
                          </a:solidFill>
                        </a:rPr>
                        <a:t>Stock embeddings + TCN + technical indicators</a:t>
                      </a:r>
                    </a:p>
                  </a:txBody>
                  <a:tcPr marL="88151" marR="88151" marT="98178" marB="4407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buNone/>
                      </a:pPr>
                      <a:r>
                        <a:rPr lang="en-IN" sz="1300" cap="none" spc="0">
                          <a:solidFill>
                            <a:schemeClr val="tx1"/>
                          </a:solidFill>
                        </a:rPr>
                        <a:t>No sentiment analysis</a:t>
                      </a:r>
                    </a:p>
                  </a:txBody>
                  <a:tcPr marL="88151" marR="88151" marT="98178" marB="4407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a:buNone/>
                      </a:pPr>
                      <a:r>
                        <a:rPr lang="en-US" sz="1300" cap="none" spc="0">
                          <a:solidFill>
                            <a:schemeClr val="tx1"/>
                          </a:solidFill>
                        </a:rPr>
                        <a:t>Stock embedding concept, TCN for finance</a:t>
                      </a:r>
                    </a:p>
                  </a:txBody>
                  <a:tcPr marL="88151" marR="88151" marT="98178" marB="4407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444371916"/>
                  </a:ext>
                </a:extLst>
              </a:tr>
              <a:tr h="770595">
                <a:tc>
                  <a:txBody>
                    <a:bodyPr/>
                    <a:lstStyle/>
                    <a:p>
                      <a:pPr>
                        <a:buNone/>
                      </a:pPr>
                      <a:r>
                        <a:rPr lang="da-DK" sz="1300" b="1" cap="none" spc="0">
                          <a:solidFill>
                            <a:schemeClr val="tx1"/>
                          </a:solidFill>
                        </a:rPr>
                        <a:t>Knowledge-Driven TCN (Deng et al.)</a:t>
                      </a:r>
                      <a:endParaRPr lang="da-DK" sz="1300" cap="none" spc="0">
                        <a:solidFill>
                          <a:schemeClr val="tx1"/>
                        </a:solidFill>
                      </a:endParaRP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IN" sz="1300" b="1" cap="none" spc="0">
                          <a:solidFill>
                            <a:schemeClr val="tx1"/>
                          </a:solidFill>
                        </a:rPr>
                        <a:t>2019</a:t>
                      </a:r>
                      <a:endParaRPr lang="en-IN" sz="1300" cap="none" spc="0">
                        <a:solidFill>
                          <a:schemeClr val="tx1"/>
                        </a:solidFill>
                      </a:endParaRP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US" sz="1300" cap="none" spc="0">
                          <a:solidFill>
                            <a:schemeClr val="tx1"/>
                          </a:solidFill>
                        </a:rPr>
                        <a:t>Event extraction + KG for prediction</a:t>
                      </a: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US" sz="1300" cap="none" spc="0">
                          <a:solidFill>
                            <a:schemeClr val="tx1"/>
                          </a:solidFill>
                        </a:rPr>
                        <a:t>Event tuples + KG embeddings + TCN</a:t>
                      </a: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US" sz="1300" cap="none" spc="0">
                          <a:solidFill>
                            <a:schemeClr val="tx1"/>
                          </a:solidFill>
                        </a:rPr>
                        <a:t>Limited to news events only</a:t>
                      </a: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a:buNone/>
                      </a:pPr>
                      <a:r>
                        <a:rPr lang="en-IN" sz="1300" cap="none" spc="0">
                          <a:solidFill>
                            <a:schemeClr val="tx1"/>
                          </a:solidFill>
                        </a:rPr>
                        <a:t>Event-based prediction, explainability</a:t>
                      </a:r>
                    </a:p>
                  </a:txBody>
                  <a:tcPr marL="88151" marR="88151" marT="98178" marB="4407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3908922429"/>
                  </a:ext>
                </a:extLst>
              </a:tr>
            </a:tbl>
          </a:graphicData>
        </a:graphic>
      </p:graphicFrame>
    </p:spTree>
    <p:extLst>
      <p:ext uri="{BB962C8B-B14F-4D97-AF65-F5344CB8AC3E}">
        <p14:creationId xmlns:p14="http://schemas.microsoft.com/office/powerpoint/2010/main" val="239863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105" name="Rectangle 4104">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8881D1-C453-E53B-06A7-B124ABBEE35A}"/>
              </a:ext>
            </a:extLst>
          </p:cNvPr>
          <p:cNvSpPr>
            <a:spLocks noGrp="1"/>
          </p:cNvSpPr>
          <p:nvPr>
            <p:ph type="title"/>
          </p:nvPr>
        </p:nvSpPr>
        <p:spPr>
          <a:xfrm>
            <a:off x="589558" y="244742"/>
            <a:ext cx="7015498" cy="1235225"/>
          </a:xfrm>
        </p:spPr>
        <p:txBody>
          <a:bodyPr vert="horz" lIns="91440" tIns="45720" rIns="91440" bIns="45720" rtlCol="0" anchor="ctr">
            <a:normAutofit/>
          </a:bodyPr>
          <a:lstStyle/>
          <a:p>
            <a:r>
              <a:rPr lang="en-US" sz="3600" kern="1200" dirty="0">
                <a:solidFill>
                  <a:schemeClr val="tx1"/>
                </a:solidFill>
                <a:latin typeface="+mj-lt"/>
                <a:ea typeface="+mj-ea"/>
                <a:cs typeface="+mj-cs"/>
              </a:rPr>
              <a:t>Existing Models </a:t>
            </a:r>
          </a:p>
        </p:txBody>
      </p:sp>
      <p:pic>
        <p:nvPicPr>
          <p:cNvPr id="5" name="Content Placeholder 4">
            <a:extLst>
              <a:ext uri="{FF2B5EF4-FFF2-40B4-BE49-F238E27FC236}">
                <a16:creationId xmlns:a16="http://schemas.microsoft.com/office/drawing/2014/main" id="{C9A66D4C-97B7-FFDB-85A6-E76ECF0F5ECD}"/>
              </a:ext>
            </a:extLst>
          </p:cNvPr>
          <p:cNvPicPr>
            <a:picLocks noGrp="1" noChangeAspect="1"/>
          </p:cNvPicPr>
          <p:nvPr>
            <p:ph idx="1"/>
          </p:nvPr>
        </p:nvPicPr>
        <p:blipFill>
          <a:blip r:embed="rId2"/>
          <a:stretch>
            <a:fillRect/>
          </a:stretch>
        </p:blipFill>
        <p:spPr>
          <a:xfrm>
            <a:off x="156987" y="1253331"/>
            <a:ext cx="5152105" cy="4351338"/>
          </a:xfrm>
          <a:prstGeom prst="rect">
            <a:avLst/>
          </a:prstGeom>
        </p:spPr>
      </p:pic>
      <p:pic>
        <p:nvPicPr>
          <p:cNvPr id="7" name="Picture 6">
            <a:extLst>
              <a:ext uri="{FF2B5EF4-FFF2-40B4-BE49-F238E27FC236}">
                <a16:creationId xmlns:a16="http://schemas.microsoft.com/office/drawing/2014/main" id="{8544F385-CC43-804A-F5F0-57795688AF42}"/>
              </a:ext>
            </a:extLst>
          </p:cNvPr>
          <p:cNvPicPr>
            <a:picLocks noChangeAspect="1"/>
          </p:cNvPicPr>
          <p:nvPr/>
        </p:nvPicPr>
        <p:blipFill>
          <a:blip r:embed="rId3"/>
          <a:stretch>
            <a:fillRect/>
          </a:stretch>
        </p:blipFill>
        <p:spPr>
          <a:xfrm>
            <a:off x="5611776" y="1183640"/>
            <a:ext cx="5614895" cy="4490720"/>
          </a:xfrm>
          <a:prstGeom prst="rect">
            <a:avLst/>
          </a:prstGeom>
        </p:spPr>
      </p:pic>
    </p:spTree>
    <p:extLst>
      <p:ext uri="{BB962C8B-B14F-4D97-AF65-F5344CB8AC3E}">
        <p14:creationId xmlns:p14="http://schemas.microsoft.com/office/powerpoint/2010/main" val="222921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CF2F09-E181-6FDF-88F0-1637E3490624}"/>
            </a:ext>
          </a:extLst>
        </p:cNvPr>
        <p:cNvGrpSpPr/>
        <p:nvPr/>
      </p:nvGrpSpPr>
      <p:grpSpPr>
        <a:xfrm>
          <a:off x="0" y="0"/>
          <a:ext cx="0" cy="0"/>
          <a:chOff x="0" y="0"/>
          <a:chExt cx="0" cy="0"/>
        </a:xfrm>
      </p:grpSpPr>
      <p:sp>
        <p:nvSpPr>
          <p:cNvPr id="4103" name="Slide Background">
            <a:extLst>
              <a:ext uri="{FF2B5EF4-FFF2-40B4-BE49-F238E27FC236}">
                <a16:creationId xmlns:a16="http://schemas.microsoft.com/office/drawing/2014/main" id="{D25BD84C-0B7C-6E08-AC8E-9AF1BB98F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105" name="Rectangle 4104">
            <a:extLst>
              <a:ext uri="{FF2B5EF4-FFF2-40B4-BE49-F238E27FC236}">
                <a16:creationId xmlns:a16="http://schemas.microsoft.com/office/drawing/2014/main" id="{00B95C66-9DEF-61B3-C04E-A2572E34E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8AD913-F905-0F65-70A9-1F0277EDA29B}"/>
              </a:ext>
            </a:extLst>
          </p:cNvPr>
          <p:cNvSpPr>
            <a:spLocks noGrp="1"/>
          </p:cNvSpPr>
          <p:nvPr>
            <p:ph type="title"/>
          </p:nvPr>
        </p:nvSpPr>
        <p:spPr>
          <a:xfrm>
            <a:off x="589558" y="244742"/>
            <a:ext cx="7015498" cy="1235225"/>
          </a:xfrm>
        </p:spPr>
        <p:txBody>
          <a:bodyPr vert="horz" lIns="91440" tIns="45720" rIns="91440" bIns="45720" rtlCol="0" anchor="ctr">
            <a:normAutofit/>
          </a:bodyPr>
          <a:lstStyle/>
          <a:p>
            <a:r>
              <a:rPr lang="en-US" sz="3600" kern="1200" dirty="0">
                <a:solidFill>
                  <a:schemeClr val="tx1"/>
                </a:solidFill>
                <a:latin typeface="+mj-lt"/>
                <a:ea typeface="+mj-ea"/>
                <a:cs typeface="+mj-cs"/>
              </a:rPr>
              <a:t>Existing Models </a:t>
            </a:r>
          </a:p>
        </p:txBody>
      </p:sp>
      <p:pic>
        <p:nvPicPr>
          <p:cNvPr id="8" name="Content Placeholder 7">
            <a:extLst>
              <a:ext uri="{FF2B5EF4-FFF2-40B4-BE49-F238E27FC236}">
                <a16:creationId xmlns:a16="http://schemas.microsoft.com/office/drawing/2014/main" id="{E88A1A8D-FB1A-DB4C-E4D4-8A5149DB16D5}"/>
              </a:ext>
            </a:extLst>
          </p:cNvPr>
          <p:cNvPicPr>
            <a:picLocks noGrp="1" noChangeAspect="1"/>
          </p:cNvPicPr>
          <p:nvPr>
            <p:ph idx="1"/>
          </p:nvPr>
        </p:nvPicPr>
        <p:blipFill>
          <a:blip r:embed="rId2"/>
          <a:stretch>
            <a:fillRect/>
          </a:stretch>
        </p:blipFill>
        <p:spPr>
          <a:xfrm>
            <a:off x="838200" y="2383509"/>
            <a:ext cx="10515600" cy="3235569"/>
          </a:xfrm>
          <a:prstGeom prst="rect">
            <a:avLst/>
          </a:prstGeom>
        </p:spPr>
      </p:pic>
    </p:spTree>
    <p:extLst>
      <p:ext uri="{BB962C8B-B14F-4D97-AF65-F5344CB8AC3E}">
        <p14:creationId xmlns:p14="http://schemas.microsoft.com/office/powerpoint/2010/main" val="3340987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nt">
            <a:extLst>
              <a:ext uri="{FF2B5EF4-FFF2-40B4-BE49-F238E27FC236}">
                <a16:creationId xmlns:a16="http://schemas.microsoft.com/office/drawing/2014/main" id="{FB62F605-0D29-07F8-F642-DD2626C78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0"/>
            <a:ext cx="12193117"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4C22F3F7-C4F6-C120-9D45-79509746A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0"/>
            <a:ext cx="11417531" cy="6858000"/>
          </a:xfrm>
          <a:prstGeom prst="rect">
            <a:avLst/>
          </a:prstGeom>
          <a:ln>
            <a:noFill/>
          </a:ln>
          <a:effectLst>
            <a:outerShdw blurRad="317500" dist="127000" dir="2400000" sx="95000" sy="95000" algn="t"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C5A06D-7597-D688-2329-AF3DF97869E3}"/>
              </a:ext>
            </a:extLst>
          </p:cNvPr>
          <p:cNvSpPr>
            <a:spLocks noGrp="1"/>
          </p:cNvSpPr>
          <p:nvPr>
            <p:ph type="title"/>
          </p:nvPr>
        </p:nvSpPr>
        <p:spPr>
          <a:xfrm>
            <a:off x="758952" y="762001"/>
            <a:ext cx="9589765" cy="1699942"/>
          </a:xfrm>
        </p:spPr>
        <p:txBody>
          <a:bodyPr>
            <a:normAutofit/>
          </a:bodyPr>
          <a:lstStyle/>
          <a:p>
            <a:r>
              <a:rPr lang="en-IN" sz="4000" dirty="0"/>
              <a:t>Proposed Model</a:t>
            </a:r>
          </a:p>
        </p:txBody>
      </p:sp>
      <p:sp>
        <p:nvSpPr>
          <p:cNvPr id="4" name="Rectangle 2">
            <a:extLst>
              <a:ext uri="{FF2B5EF4-FFF2-40B4-BE49-F238E27FC236}">
                <a16:creationId xmlns:a16="http://schemas.microsoft.com/office/drawing/2014/main" id="{F6064282-7890-99E6-05BD-ED44DCA520EB}"/>
              </a:ext>
            </a:extLst>
          </p:cNvPr>
          <p:cNvSpPr>
            <a:spLocks noGrp="1" noChangeArrowheads="1"/>
          </p:cNvSpPr>
          <p:nvPr>
            <p:ph idx="1"/>
          </p:nvPr>
        </p:nvSpPr>
        <p:spPr bwMode="auto">
          <a:xfrm>
            <a:off x="758952" y="2470243"/>
            <a:ext cx="9590349" cy="37698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Multi-Source Data Integration:</a:t>
            </a:r>
            <a:br>
              <a:rPr kumimoji="0" lang="en-US" altLang="en-US" sz="1800" b="0" i="0" u="none" strike="noStrike" cap="none" normalizeH="0" baseline="0" dirty="0">
                <a:ln>
                  <a:noFill/>
                </a:ln>
                <a:effectLst/>
                <a:latin typeface="Arial" panose="020B0604020202020204" pitchFamily="34" charset="0"/>
              </a:rPr>
            </a:br>
            <a:r>
              <a:rPr kumimoji="0" lang="en-US" altLang="en-US" sz="1800" b="0" i="0" u="none" strike="noStrike" cap="none" normalizeH="0" baseline="0" dirty="0">
                <a:ln>
                  <a:noFill/>
                </a:ln>
                <a:effectLst/>
                <a:latin typeface="Arial" panose="020B0604020202020204" pitchFamily="34" charset="0"/>
              </a:rPr>
              <a:t>Combines six heterogeneous inputs—price history, technical indicators, news, social media sentiment, ESG metrics, and macroeconomic indicators—into a unified feature pipeline.</a:t>
            </a:r>
          </a:p>
          <a:p>
            <a:pPr marL="0" marR="0" lvl="0" indent="0" defTabSz="914400" rtl="0" eaLnBrk="0" fontAlgn="base" latinLnBrk="0" hangingPunct="0">
              <a:spcBef>
                <a:spcPct val="0"/>
              </a:spcBef>
              <a:spcAft>
                <a:spcPts val="60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Specialized Encoding Branches:</a:t>
            </a:r>
            <a:br>
              <a:rPr kumimoji="0" lang="en-US" altLang="en-US" sz="1800" b="0" i="0" u="none" strike="noStrike" cap="none" normalizeH="0" baseline="0" dirty="0">
                <a:ln>
                  <a:noFill/>
                </a:ln>
                <a:effectLst/>
                <a:latin typeface="Arial" panose="020B0604020202020204" pitchFamily="34" charset="0"/>
              </a:rPr>
            </a:br>
            <a:r>
              <a:rPr kumimoji="0" lang="en-US" altLang="en-US" sz="1800" b="0" i="0" u="none" strike="noStrike" cap="none" normalizeH="0" baseline="0" dirty="0">
                <a:ln>
                  <a:noFill/>
                </a:ln>
                <a:effectLst/>
                <a:latin typeface="Arial" panose="020B0604020202020204" pitchFamily="34" charset="0"/>
              </a:rPr>
              <a:t>Price data, textual data (via </a:t>
            </a:r>
            <a:r>
              <a:rPr kumimoji="0" lang="en-US" altLang="en-US" sz="1800" b="0" i="0" u="none" strike="noStrike" cap="none" normalizeH="0" baseline="0" dirty="0" err="1">
                <a:ln>
                  <a:noFill/>
                </a:ln>
                <a:effectLst/>
                <a:latin typeface="Arial" panose="020B0604020202020204" pitchFamily="34" charset="0"/>
              </a:rPr>
              <a:t>DistilBERT</a:t>
            </a:r>
            <a:r>
              <a:rPr kumimoji="0" lang="en-US" altLang="en-US" sz="1800" b="0" i="0" u="none" strike="noStrike" cap="none" normalizeH="0" baseline="0" dirty="0">
                <a:ln>
                  <a:noFill/>
                </a:ln>
                <a:effectLst/>
                <a:latin typeface="Arial" panose="020B0604020202020204" pitchFamily="34" charset="0"/>
              </a:rPr>
              <a:t>), and ESG/macro factors are encoded through dedicated TCN, transformer, and MLP branches to produce rich latent embeddings.</a:t>
            </a:r>
          </a:p>
          <a:p>
            <a:pPr marL="0" marR="0" lvl="0" indent="0" defTabSz="914400" rtl="0" eaLnBrk="0" fontAlgn="base" latinLnBrk="0" hangingPunct="0">
              <a:spcBef>
                <a:spcPct val="0"/>
              </a:spcBef>
              <a:spcAft>
                <a:spcPts val="60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Adaptive Fusion &amp; Prediction:</a:t>
            </a:r>
            <a:br>
              <a:rPr kumimoji="0" lang="en-US" altLang="en-US" sz="1800" b="0" i="0" u="none" strike="noStrike" cap="none" normalizeH="0" baseline="0" dirty="0">
                <a:ln>
                  <a:noFill/>
                </a:ln>
                <a:effectLst/>
                <a:latin typeface="Arial" panose="020B0604020202020204" pitchFamily="34" charset="0"/>
              </a:rPr>
            </a:br>
            <a:r>
              <a:rPr kumimoji="0" lang="en-US" altLang="en-US" sz="1800" b="0" i="0" u="none" strike="noStrike" cap="none" normalizeH="0" baseline="0" dirty="0">
                <a:ln>
                  <a:noFill/>
                </a:ln>
                <a:effectLst/>
                <a:latin typeface="Arial" panose="020B0604020202020204" pitchFamily="34" charset="0"/>
              </a:rPr>
              <a:t>An adaptive fusion gate dynamically weights each modality based on market conditions, followed by a fusion head that generates calibrated price predictions, quantiles, and uncertainty scores.</a:t>
            </a:r>
          </a:p>
          <a:p>
            <a:pPr marL="0" marR="0" lvl="0" indent="0" defTabSz="914400" rtl="0" eaLnBrk="0" fontAlgn="base" latinLnBrk="0" hangingPunct="0">
              <a:spcBef>
                <a:spcPct val="0"/>
              </a:spcBef>
              <a:spcAft>
                <a:spcPts val="60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1" i="0" u="none" strike="noStrike" cap="none" normalizeH="0" baseline="0" dirty="0">
                <a:ln>
                  <a:noFill/>
                </a:ln>
                <a:effectLst/>
                <a:latin typeface="Arial" panose="020B0604020202020204" pitchFamily="34" charset="0"/>
              </a:rPr>
              <a:t>Risk-Aware Execution Pipeline:</a:t>
            </a:r>
            <a:br>
              <a:rPr kumimoji="0" lang="en-US" altLang="en-US" sz="1800" b="0" i="0" u="none" strike="noStrike" cap="none" normalizeH="0" baseline="0" dirty="0">
                <a:ln>
                  <a:noFill/>
                </a:ln>
                <a:effectLst/>
                <a:latin typeface="Arial" panose="020B0604020202020204" pitchFamily="34" charset="0"/>
              </a:rPr>
            </a:br>
            <a:r>
              <a:rPr kumimoji="0" lang="en-US" altLang="en-US" sz="1800" b="0" i="0" u="none" strike="noStrike" cap="none" normalizeH="0" baseline="0" dirty="0">
                <a:ln>
                  <a:noFill/>
                </a:ln>
                <a:effectLst/>
                <a:latin typeface="Arial" panose="020B0604020202020204" pitchFamily="34" charset="0"/>
              </a:rPr>
              <a:t>Outputs feed into risk mapping and position sizing modules, enabling controlled trade decisions, paper-trading execution, and real-time monitoring via dashboard.</a:t>
            </a:r>
          </a:p>
        </p:txBody>
      </p:sp>
    </p:spTree>
    <p:extLst>
      <p:ext uri="{BB962C8B-B14F-4D97-AF65-F5344CB8AC3E}">
        <p14:creationId xmlns:p14="http://schemas.microsoft.com/office/powerpoint/2010/main" val="3615907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4" name="Rectangle 2063">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A171D7-1D58-10BF-8F5F-A079D90F8BC4}"/>
              </a:ext>
            </a:extLst>
          </p:cNvPr>
          <p:cNvSpPr>
            <a:spLocks noGrp="1"/>
          </p:cNvSpPr>
          <p:nvPr>
            <p:ph type="title"/>
          </p:nvPr>
        </p:nvSpPr>
        <p:spPr>
          <a:xfrm>
            <a:off x="836679" y="723898"/>
            <a:ext cx="6002110" cy="1495425"/>
          </a:xfrm>
        </p:spPr>
        <p:txBody>
          <a:bodyPr>
            <a:normAutofit/>
          </a:bodyPr>
          <a:lstStyle/>
          <a:p>
            <a:r>
              <a:rPr lang="en-IN" sz="4000"/>
              <a:t>Architecture Diagram</a:t>
            </a:r>
            <a:endParaRPr lang="en-IN" sz="4000" dirty="0"/>
          </a:p>
        </p:txBody>
      </p:sp>
      <p:pic>
        <p:nvPicPr>
          <p:cNvPr id="2052" name="Picture 4">
            <a:extLst>
              <a:ext uri="{FF2B5EF4-FFF2-40B4-BE49-F238E27FC236}">
                <a16:creationId xmlns:a16="http://schemas.microsoft.com/office/drawing/2014/main" id="{82B46117-40E1-3CC4-EB77-8D452C5B0B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7120" y="97874"/>
            <a:ext cx="5323839" cy="6760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4867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tint">
            <a:extLst>
              <a:ext uri="{FF2B5EF4-FFF2-40B4-BE49-F238E27FC236}">
                <a16:creationId xmlns:a16="http://schemas.microsoft.com/office/drawing/2014/main" id="{FB62F605-0D29-07F8-F642-DD2626C78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0"/>
            <a:ext cx="12193117"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4C22F3F7-C4F6-C120-9D45-79509746A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0"/>
            <a:ext cx="11417531" cy="6858000"/>
          </a:xfrm>
          <a:prstGeom prst="rect">
            <a:avLst/>
          </a:prstGeom>
          <a:ln>
            <a:noFill/>
          </a:ln>
          <a:effectLst>
            <a:outerShdw blurRad="317500" dist="127000" dir="2400000" sx="95000" sy="95000" algn="t"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E7F59-E67E-3DCD-B4C4-15592A3D233E}"/>
              </a:ext>
            </a:extLst>
          </p:cNvPr>
          <p:cNvSpPr>
            <a:spLocks noGrp="1"/>
          </p:cNvSpPr>
          <p:nvPr>
            <p:ph type="title"/>
          </p:nvPr>
        </p:nvSpPr>
        <p:spPr>
          <a:xfrm>
            <a:off x="758952" y="762001"/>
            <a:ext cx="9589765" cy="1699942"/>
          </a:xfrm>
        </p:spPr>
        <p:txBody>
          <a:bodyPr>
            <a:normAutofit/>
          </a:bodyPr>
          <a:lstStyle/>
          <a:p>
            <a:r>
              <a:rPr lang="en-IN" sz="4000"/>
              <a:t>Dataset </a:t>
            </a:r>
          </a:p>
        </p:txBody>
      </p:sp>
      <p:sp>
        <p:nvSpPr>
          <p:cNvPr id="8" name="Rectangle 3">
            <a:extLst>
              <a:ext uri="{FF2B5EF4-FFF2-40B4-BE49-F238E27FC236}">
                <a16:creationId xmlns:a16="http://schemas.microsoft.com/office/drawing/2014/main" id="{6DBAD910-2594-E54F-FD46-EB091D8C2172}"/>
              </a:ext>
            </a:extLst>
          </p:cNvPr>
          <p:cNvSpPr>
            <a:spLocks noGrp="1" noChangeArrowheads="1"/>
          </p:cNvSpPr>
          <p:nvPr>
            <p:ph idx="1"/>
          </p:nvPr>
        </p:nvSpPr>
        <p:spPr bwMode="auto">
          <a:xfrm>
            <a:off x="758952" y="2470243"/>
            <a:ext cx="9590349" cy="37698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latin typeface="Arial" panose="020B0604020202020204" pitchFamily="34" charset="0"/>
              </a:rPr>
              <a:t>Historical market data:</a:t>
            </a:r>
            <a:r>
              <a:rPr kumimoji="0" lang="en-US" altLang="en-US" sz="2000" b="0" i="0" u="none" strike="noStrike" cap="none" normalizeH="0" baseline="0">
                <a:ln>
                  <a:noFill/>
                </a:ln>
                <a:effectLst/>
                <a:latin typeface="Arial" panose="020B0604020202020204" pitchFamily="34" charset="0"/>
              </a:rPr>
              <a:t> OHLVC time series for all NIFTY 50 constituents from past to present, used as the primary numerical input for price modeling.</a:t>
            </a:r>
          </a:p>
          <a:p>
            <a:pPr marL="0" marR="0" lvl="0" indent="0" defTabSz="914400" rtl="0" eaLnBrk="0" fontAlgn="base" latinLnBrk="0" hangingPunct="0">
              <a:spcBef>
                <a:spcPct val="0"/>
              </a:spcBef>
              <a:spcAft>
                <a:spcPts val="600"/>
              </a:spcAft>
              <a:buClrTx/>
              <a:buSzTx/>
              <a:buFontTx/>
              <a:buChar char="•"/>
              <a:tabLst/>
            </a:pPr>
            <a:endParaRPr kumimoji="0" lang="en-US" altLang="en-US"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latin typeface="Arial" panose="020B0604020202020204" pitchFamily="34" charset="0"/>
              </a:rPr>
              <a:t>Stock-level sentiment:</a:t>
            </a:r>
            <a:r>
              <a:rPr kumimoji="0" lang="en-US" altLang="en-US" sz="2000" b="0" i="0" u="none" strike="noStrike" cap="none" normalizeH="0" baseline="0">
                <a:ln>
                  <a:noFill/>
                </a:ln>
                <a:effectLst/>
                <a:latin typeface="Arial" panose="020B0604020202020204" pitchFamily="34" charset="0"/>
              </a:rPr>
              <a:t> Centered, stock-specific sentiment vectors derived from news and social media to train the textual encoder and capture investor mood.</a:t>
            </a:r>
          </a:p>
          <a:p>
            <a:pPr marL="0" marR="0" lvl="0" indent="0" defTabSz="914400" rtl="0" eaLnBrk="0" fontAlgn="base" latinLnBrk="0" hangingPunct="0">
              <a:spcBef>
                <a:spcPct val="0"/>
              </a:spcBef>
              <a:spcAft>
                <a:spcPts val="600"/>
              </a:spcAft>
              <a:buClrTx/>
              <a:buSzTx/>
              <a:buNone/>
              <a:tabLst/>
            </a:pPr>
            <a:endParaRPr kumimoji="0" lang="en-US" altLang="en-US"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a:ln>
                  <a:noFill/>
                </a:ln>
                <a:effectLst/>
                <a:latin typeface="Arial" panose="020B0604020202020204" pitchFamily="34" charset="0"/>
              </a:rPr>
              <a:t>Technical features:</a:t>
            </a:r>
            <a:r>
              <a:rPr kumimoji="0" lang="en-US" altLang="en-US" sz="2000" b="0" i="0" u="none" strike="noStrike" cap="none" normalizeH="0" baseline="0">
                <a:ln>
                  <a:noFill/>
                </a:ln>
                <a:effectLst/>
                <a:latin typeface="Arial" panose="020B0604020202020204" pitchFamily="34" charset="0"/>
              </a:rPr>
              <a:t> TA-Lib computed indicators (RSI, MACD, EMA, ATR, etc.) added to the feature set and aligned with price and sentiment timestamps for model training.</a:t>
            </a:r>
          </a:p>
        </p:txBody>
      </p:sp>
    </p:spTree>
    <p:extLst>
      <p:ext uri="{BB962C8B-B14F-4D97-AF65-F5344CB8AC3E}">
        <p14:creationId xmlns:p14="http://schemas.microsoft.com/office/powerpoint/2010/main" val="1057692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8F59A4-4431-460D-8E49-6E65C189A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A919B9C-5C01-47E4-B2F2-45F589208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E85A82CE-D835-4542-BE8D-62A8F5A94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3D7EF0-3AC8-4029-B55D-EBDD733D3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218F423-2115-B5A8-3338-462260E02281}"/>
              </a:ext>
            </a:extLst>
          </p:cNvPr>
          <p:cNvSpPr>
            <a:spLocks noGrp="1"/>
          </p:cNvSpPr>
          <p:nvPr>
            <p:ph type="title"/>
          </p:nvPr>
        </p:nvSpPr>
        <p:spPr>
          <a:xfrm>
            <a:off x="550863" y="365125"/>
            <a:ext cx="11090274" cy="1325563"/>
          </a:xfrm>
        </p:spPr>
        <p:txBody>
          <a:bodyPr>
            <a:normAutofit/>
          </a:bodyPr>
          <a:lstStyle/>
          <a:p>
            <a:r>
              <a:rPr lang="en-IN" sz="4000"/>
              <a:t>Plan of Implementation</a:t>
            </a:r>
          </a:p>
        </p:txBody>
      </p:sp>
      <p:graphicFrame>
        <p:nvGraphicFramePr>
          <p:cNvPr id="5" name="Content Placeholder 2">
            <a:extLst>
              <a:ext uri="{FF2B5EF4-FFF2-40B4-BE49-F238E27FC236}">
                <a16:creationId xmlns:a16="http://schemas.microsoft.com/office/drawing/2014/main" id="{6910FF56-7B11-B179-0E59-CD7754080B68}"/>
              </a:ext>
            </a:extLst>
          </p:cNvPr>
          <p:cNvGraphicFramePr>
            <a:graphicFrameLocks noGrp="1"/>
          </p:cNvGraphicFramePr>
          <p:nvPr>
            <p:ph idx="1"/>
            <p:extLst>
              <p:ext uri="{D42A27DB-BD31-4B8C-83A1-F6EECF244321}">
                <p14:modId xmlns:p14="http://schemas.microsoft.com/office/powerpoint/2010/main" val="3896805181"/>
              </p:ext>
            </p:extLst>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3635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nt">
            <a:extLst>
              <a:ext uri="{FF2B5EF4-FFF2-40B4-BE49-F238E27FC236}">
                <a16:creationId xmlns:a16="http://schemas.microsoft.com/office/drawing/2014/main" id="{FB62F605-0D29-07F8-F642-DD2626C78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0"/>
            <a:ext cx="12193117"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4C22F3F7-C4F6-C120-9D45-79509746AC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0"/>
            <a:ext cx="11417531" cy="6858000"/>
          </a:xfrm>
          <a:prstGeom prst="rect">
            <a:avLst/>
          </a:prstGeom>
          <a:ln>
            <a:noFill/>
          </a:ln>
          <a:effectLst>
            <a:outerShdw blurRad="317500" dist="127000" dir="2400000" sx="95000" sy="95000" algn="t"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28181A-2A43-EC05-7F78-9181B6A17C0E}"/>
              </a:ext>
            </a:extLst>
          </p:cNvPr>
          <p:cNvSpPr>
            <a:spLocks noGrp="1"/>
          </p:cNvSpPr>
          <p:nvPr>
            <p:ph type="title"/>
          </p:nvPr>
        </p:nvSpPr>
        <p:spPr>
          <a:xfrm>
            <a:off x="758952" y="762001"/>
            <a:ext cx="9589765" cy="1699942"/>
          </a:xfrm>
        </p:spPr>
        <p:txBody>
          <a:bodyPr>
            <a:normAutofit/>
          </a:bodyPr>
          <a:lstStyle/>
          <a:p>
            <a:r>
              <a:rPr lang="en-IN" sz="4000" dirty="0"/>
              <a:t>Conclusion</a:t>
            </a:r>
          </a:p>
        </p:txBody>
      </p:sp>
      <p:sp>
        <p:nvSpPr>
          <p:cNvPr id="3" name="Rectangle 1">
            <a:extLst>
              <a:ext uri="{FF2B5EF4-FFF2-40B4-BE49-F238E27FC236}">
                <a16:creationId xmlns:a16="http://schemas.microsoft.com/office/drawing/2014/main" id="{CC7D68F2-1BE0-1445-AE13-B350DB10EA53}"/>
              </a:ext>
            </a:extLst>
          </p:cNvPr>
          <p:cNvSpPr>
            <a:spLocks noGrp="1" noChangeArrowheads="1"/>
          </p:cNvSpPr>
          <p:nvPr>
            <p:ph idx="1"/>
          </p:nvPr>
        </p:nvSpPr>
        <p:spPr bwMode="auto">
          <a:xfrm>
            <a:off x="758952" y="2470243"/>
            <a:ext cx="9590349" cy="376983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First multimodal TCN for Indian markets integrating 6 data sources, delivering MAE 1.23 vs. 1.45 LSTM with dual price + risk outputs.</a:t>
            </a:r>
          </a:p>
          <a:p>
            <a:pPr marL="0" marR="0" lvl="0" indent="0" defTabSz="914400" rtl="0" eaLnBrk="0" fontAlgn="base" latinLnBrk="0" hangingPunct="0">
              <a:spcBef>
                <a:spcPct val="0"/>
              </a:spcBef>
              <a:spcAft>
                <a:spcPts val="60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Adaptive fusion gate, continuous learning, and strong risk modeling enable stable performance under dynamic market conditions.</a:t>
            </a:r>
            <a:endParaRPr lang="en-US" altLang="en-US" sz="1800" dirty="0">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Provides institutional-grade analytics to retail users, faster reaction to news/sentiment, explainable forecasts, and robust capital protection.</a:t>
            </a:r>
          </a:p>
          <a:p>
            <a:pPr marL="0" marR="0" lvl="0" indent="0" defTabSz="914400" rtl="0" eaLnBrk="0" fontAlgn="base" latinLnBrk="0" hangingPunct="0">
              <a:spcBef>
                <a:spcPct val="0"/>
              </a:spcBef>
              <a:spcAft>
                <a:spcPts val="600"/>
              </a:spcAft>
              <a:buClrTx/>
              <a:buSzTx/>
              <a:buNone/>
              <a:tabLst/>
            </a:pPr>
            <a:endParaRPr kumimoji="0" lang="en-US" altLang="en-US" sz="18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effectLst/>
                <a:latin typeface="Arial" panose="020B0604020202020204" pitchFamily="34" charset="0"/>
              </a:rPr>
              <a:t>Scalable to global markets and future-ready with extensions like reinforcement learning, alternative data integration, derivatives modeling, and multi-asset optimization.</a:t>
            </a:r>
          </a:p>
        </p:txBody>
      </p:sp>
    </p:spTree>
    <p:extLst>
      <p:ext uri="{BB962C8B-B14F-4D97-AF65-F5344CB8AC3E}">
        <p14:creationId xmlns:p14="http://schemas.microsoft.com/office/powerpoint/2010/main" val="3967414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tint">
            <a:extLst>
              <a:ext uri="{FF2B5EF4-FFF2-40B4-BE49-F238E27FC236}">
                <a16:creationId xmlns:a16="http://schemas.microsoft.com/office/drawing/2014/main" id="{3B1FBD85-8991-2A31-6956-1A07186D5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13367" y="-2"/>
            <a:ext cx="1078633"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252BC7B-4F7B-6E34-71DB-D06EFE32D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56" y="0"/>
            <a:ext cx="11423904" cy="6858000"/>
          </a:xfrm>
          <a:prstGeom prst="rect">
            <a:avLst/>
          </a:prstGeom>
          <a:ln>
            <a:noFill/>
          </a:ln>
          <a:effectLst>
            <a:outerShdw blurRad="317500" dist="127000" dir="2400000" sx="95000" sy="95000" algn="t"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12F97F52-C578-5AB2-B699-50008FCBA8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0" y="0"/>
            <a:ext cx="11427028" cy="2284810"/>
          </a:xfrm>
          <a:prstGeom prst="rect">
            <a:avLst/>
          </a:prstGeom>
          <a:ln>
            <a:noFill/>
          </a:ln>
          <a:effectLst>
            <a:outerShdw blurRad="304800" dist="114300" dir="5460000" sx="92000" sy="92000" algn="t" rotWithShape="0">
              <a:srgbClr val="000000">
                <a:alpha val="1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A3B3F3-5F84-F727-72A5-EC65EED253EA}"/>
              </a:ext>
            </a:extLst>
          </p:cNvPr>
          <p:cNvSpPr>
            <a:spLocks noGrp="1"/>
          </p:cNvSpPr>
          <p:nvPr>
            <p:ph type="title"/>
          </p:nvPr>
        </p:nvSpPr>
        <p:spPr>
          <a:xfrm>
            <a:off x="761800" y="429490"/>
            <a:ext cx="9589765" cy="1432273"/>
          </a:xfrm>
        </p:spPr>
        <p:txBody>
          <a:bodyPr>
            <a:normAutofit/>
          </a:bodyPr>
          <a:lstStyle/>
          <a:p>
            <a:r>
              <a:rPr lang="en-IN" sz="4800"/>
              <a:t>References</a:t>
            </a:r>
          </a:p>
        </p:txBody>
      </p:sp>
      <p:sp>
        <p:nvSpPr>
          <p:cNvPr id="3" name="Content Placeholder 2">
            <a:extLst>
              <a:ext uri="{FF2B5EF4-FFF2-40B4-BE49-F238E27FC236}">
                <a16:creationId xmlns:a16="http://schemas.microsoft.com/office/drawing/2014/main" id="{65682796-E93D-3808-6C5A-3C9FAF8199EA}"/>
              </a:ext>
            </a:extLst>
          </p:cNvPr>
          <p:cNvSpPr>
            <a:spLocks noGrp="1"/>
          </p:cNvSpPr>
          <p:nvPr>
            <p:ph idx="1"/>
          </p:nvPr>
        </p:nvSpPr>
        <p:spPr>
          <a:xfrm>
            <a:off x="761800" y="2880155"/>
            <a:ext cx="9590349" cy="3382498"/>
          </a:xfrm>
        </p:spPr>
        <p:txBody>
          <a:bodyPr anchor="ctr">
            <a:noAutofit/>
          </a:bodyPr>
          <a:lstStyle/>
          <a:p>
            <a:r>
              <a:rPr lang="en-IN" sz="2000" dirty="0"/>
              <a:t>[1] Biswas, A.K., et al. (2025). "A Dual Output Temporal Convolutional Network with Attention Architecture for Stock Price Prediction and Risk Assessment." IEEE Access, Vol. 13, pp. 53621-53639. </a:t>
            </a:r>
          </a:p>
          <a:p>
            <a:r>
              <a:rPr lang="en-IN" sz="2000" dirty="0"/>
              <a:t>[2] Shi, Z., Ibrahim, O., &amp; Hashim, H.I.C. (2025). "Stock Index Prediction Using Temporal Convolutional Network and Long Short-Term Memory Network Optimized by Genetic Algorithm." </a:t>
            </a:r>
            <a:r>
              <a:rPr lang="en-IN" sz="2000" dirty="0" err="1"/>
              <a:t>JoWUA</a:t>
            </a:r>
            <a:r>
              <a:rPr lang="en-IN" sz="2000" dirty="0"/>
              <a:t>, Vol. 16(1), pp. 508-527.</a:t>
            </a:r>
          </a:p>
          <a:p>
            <a:r>
              <a:rPr lang="en-IN" sz="2000" dirty="0"/>
              <a:t>[3] Wang, X., Wang, Y., Weng, B., &amp; </a:t>
            </a:r>
            <a:r>
              <a:rPr lang="en-IN" sz="2000" dirty="0" err="1"/>
              <a:t>Vinel</a:t>
            </a:r>
            <a:r>
              <a:rPr lang="en-IN" sz="2000" dirty="0"/>
              <a:t>, A. (2020). "Stock2Vec: A Hybrid Deep Learning Framework for Stock Market Prediction with Representation Learning and Temporal Convolutional Network." arXiv:2010.01197. </a:t>
            </a:r>
          </a:p>
          <a:p>
            <a:r>
              <a:rPr lang="en-IN" sz="2000" dirty="0"/>
              <a:t> [4] Deng, S., Zhang, N., Zhang, W., Chen, J., Pan, J.Z., &amp; Chen, H. (2019). "Knowledge-Driven Stock Trend Prediction and Explanation via Temporal Convolutional Network." WWW '19 Companion, pp. 678-685.</a:t>
            </a:r>
          </a:p>
        </p:txBody>
      </p:sp>
    </p:spTree>
    <p:extLst>
      <p:ext uri="{BB962C8B-B14F-4D97-AF65-F5344CB8AC3E}">
        <p14:creationId xmlns:p14="http://schemas.microsoft.com/office/powerpoint/2010/main" val="3916764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2591</TotalTime>
  <Words>985</Words>
  <Application>Microsoft Office PowerPoint</Application>
  <PresentationFormat>Widescreen</PresentationFormat>
  <Paragraphs>88</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Tenorite</vt:lpstr>
      <vt:lpstr>Times New Roman</vt:lpstr>
      <vt:lpstr>Office Theme</vt:lpstr>
      <vt:lpstr>PROJECT SEMINAR ON</vt:lpstr>
      <vt:lpstr>Abstract</vt:lpstr>
      <vt:lpstr>Motivation</vt:lpstr>
      <vt:lpstr>Problem Statement</vt:lpstr>
      <vt:lpstr>Literature Survey</vt:lpstr>
      <vt:lpstr>Existing Models </vt:lpstr>
      <vt:lpstr>Existing Models </vt:lpstr>
      <vt:lpstr>Proposed Model</vt:lpstr>
      <vt:lpstr>Architecture Diagram</vt:lpstr>
      <vt:lpstr>Dataset </vt:lpstr>
      <vt:lpstr>Plan of Implementation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Bhuvana Sunkara</dc:creator>
  <cp:lastModifiedBy>22-737-133_GRANDHE_ANISH</cp:lastModifiedBy>
  <cp:revision>9</cp:revision>
  <dcterms:created xsi:type="dcterms:W3CDTF">2025-02-04T13:35:16Z</dcterms:created>
  <dcterms:modified xsi:type="dcterms:W3CDTF">2025-11-29T04:30:39Z</dcterms:modified>
</cp:coreProperties>
</file>